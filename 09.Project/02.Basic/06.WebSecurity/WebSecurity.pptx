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8" r:id="rId3"/>
    <p:sldId id="257" r:id="rId4"/>
    <p:sldId id="260" r:id="rId5"/>
    <p:sldId id="266" r:id="rId6"/>
    <p:sldId id="261" r:id="rId7"/>
    <p:sldId id="262" r:id="rId8"/>
    <p:sldId id="267" r:id="rId9"/>
    <p:sldId id="309" r:id="rId10"/>
    <p:sldId id="310" r:id="rId11"/>
    <p:sldId id="268" r:id="rId12"/>
    <p:sldId id="269" r:id="rId13"/>
    <p:sldId id="270" r:id="rId14"/>
    <p:sldId id="316" r:id="rId15"/>
    <p:sldId id="311" r:id="rId16"/>
    <p:sldId id="312" r:id="rId17"/>
    <p:sldId id="317" r:id="rId18"/>
    <p:sldId id="313" r:id="rId19"/>
    <p:sldId id="318" r:id="rId20"/>
    <p:sldId id="314"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543F9-5A17-449B-B098-2EEB45339CA1}" type="datetimeFigureOut">
              <a:rPr lang="en-US" smtClean="0"/>
              <a:t>08/08/2024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CCAC5-B27E-4E51-BFE8-F624B7BC6985}" type="slidenum">
              <a:rPr lang="en-US" smtClean="0"/>
              <a:t>‹#›</a:t>
            </a:fld>
            <a:endParaRPr lang="en-US"/>
          </a:p>
        </p:txBody>
      </p:sp>
    </p:spTree>
    <p:extLst>
      <p:ext uri="{BB962C8B-B14F-4D97-AF65-F5344CB8AC3E}">
        <p14:creationId xmlns:p14="http://schemas.microsoft.com/office/powerpoint/2010/main" val="2483095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baeldung-com.translate.goog/cs/sql-injection?_x_tr_sl=ja&amp;_x_tr_tl=en&amp;_x_tr_hl=vi&amp;_x_tr_pto=wapp"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translate.google.com/website?sl=ja&amp;tl=en&amp;hl=vi&amp;client=webapp&amp;u=https://owasp.org/www-project-top-te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a:solidFill>
                  <a:srgbClr val="267438"/>
                </a:solidFill>
                <a:effectLst/>
                <a:latin typeface="Raleway" panose="020B0403030101060003" pitchFamily="34" charset="0"/>
                <a:hlinkClick r:id="rId3"/>
              </a:rPr>
              <a:t>SQL Injection</a:t>
            </a:r>
            <a:r>
              <a:rPr lang="en-US" b="0" i="0">
                <a:solidFill>
                  <a:srgbClr val="000000"/>
                </a:solidFill>
                <a:effectLst/>
                <a:latin typeface="Raleway" panose="020B0403030101060003" pitchFamily="34" charset="0"/>
              </a:rPr>
              <a:t> xếp hạng ở vị trí hàng đầu trong </a:t>
            </a:r>
            <a:r>
              <a:rPr lang="en-US" b="0" i="0" u="none" strike="noStrike">
                <a:solidFill>
                  <a:srgbClr val="267438"/>
                </a:solidFill>
                <a:effectLst/>
                <a:latin typeface="Raleway" panose="020B0403030101060003" pitchFamily="34" charset="0"/>
                <a:hlinkClick r:id="rId4"/>
              </a:rPr>
              <a:t>danh sách Top 10 khét tiếng của OWASP</a:t>
            </a:r>
            <a:endParaRPr lang="en-US" b="0" i="0" u="none" strike="noStrike">
              <a:solidFill>
                <a:srgbClr val="267438"/>
              </a:solidFill>
              <a:effectLst/>
              <a:latin typeface="Raleway" panose="020B0403030101060003" pitchFamily="34" charset="0"/>
            </a:endParaRPr>
          </a:p>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3</a:t>
            </a:fld>
            <a:endParaRPr lang="en-US"/>
          </a:p>
        </p:txBody>
      </p:sp>
    </p:spTree>
    <p:extLst>
      <p:ext uri="{BB962C8B-B14F-4D97-AF65-F5344CB8AC3E}">
        <p14:creationId xmlns:p14="http://schemas.microsoft.com/office/powerpoint/2010/main" val="3532383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4</a:t>
            </a:fld>
            <a:endParaRPr lang="en-US"/>
          </a:p>
        </p:txBody>
      </p:sp>
    </p:spTree>
    <p:extLst>
      <p:ext uri="{BB962C8B-B14F-4D97-AF65-F5344CB8AC3E}">
        <p14:creationId xmlns:p14="http://schemas.microsoft.com/office/powerpoint/2010/main" val="2295330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a:solidFill>
                  <a:srgbClr val="267438"/>
                </a:solidFill>
                <a:effectLst/>
                <a:latin typeface="Raleway" panose="020B0403030101060003" pitchFamily="34" charset="0"/>
              </a:rPr>
              <a:t>=</a:t>
            </a:r>
          </a:p>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5</a:t>
            </a:fld>
            <a:endParaRPr lang="en-US"/>
          </a:p>
        </p:txBody>
      </p:sp>
    </p:spTree>
    <p:extLst>
      <p:ext uri="{BB962C8B-B14F-4D97-AF65-F5344CB8AC3E}">
        <p14:creationId xmlns:p14="http://schemas.microsoft.com/office/powerpoint/2010/main" val="2203743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6</a:t>
            </a:fld>
            <a:endParaRPr lang="en-US"/>
          </a:p>
        </p:txBody>
      </p:sp>
    </p:spTree>
    <p:extLst>
      <p:ext uri="{BB962C8B-B14F-4D97-AF65-F5344CB8AC3E}">
        <p14:creationId xmlns:p14="http://schemas.microsoft.com/office/powerpoint/2010/main" val="1007187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7</a:t>
            </a:fld>
            <a:endParaRPr lang="en-US"/>
          </a:p>
        </p:txBody>
      </p:sp>
    </p:spTree>
    <p:extLst>
      <p:ext uri="{BB962C8B-B14F-4D97-AF65-F5344CB8AC3E}">
        <p14:creationId xmlns:p14="http://schemas.microsoft.com/office/powerpoint/2010/main" val="3800532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8</a:t>
            </a:fld>
            <a:endParaRPr lang="en-US"/>
          </a:p>
        </p:txBody>
      </p:sp>
    </p:spTree>
    <p:extLst>
      <p:ext uri="{BB962C8B-B14F-4D97-AF65-F5344CB8AC3E}">
        <p14:creationId xmlns:p14="http://schemas.microsoft.com/office/powerpoint/2010/main" val="136543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11</a:t>
            </a:fld>
            <a:endParaRPr lang="en-US"/>
          </a:p>
        </p:txBody>
      </p:sp>
    </p:spTree>
    <p:extLst>
      <p:ext uri="{BB962C8B-B14F-4D97-AF65-F5344CB8AC3E}">
        <p14:creationId xmlns:p14="http://schemas.microsoft.com/office/powerpoint/2010/main" val="1189767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12</a:t>
            </a:fld>
            <a:endParaRPr lang="en-US"/>
          </a:p>
        </p:txBody>
      </p:sp>
    </p:spTree>
    <p:extLst>
      <p:ext uri="{BB962C8B-B14F-4D97-AF65-F5344CB8AC3E}">
        <p14:creationId xmlns:p14="http://schemas.microsoft.com/office/powerpoint/2010/main" val="3856548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13</a:t>
            </a:fld>
            <a:endParaRPr lang="en-US"/>
          </a:p>
        </p:txBody>
      </p:sp>
    </p:spTree>
    <p:extLst>
      <p:ext uri="{BB962C8B-B14F-4D97-AF65-F5344CB8AC3E}">
        <p14:creationId xmlns:p14="http://schemas.microsoft.com/office/powerpoint/2010/main" val="2775142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14</a:t>
            </a:fld>
            <a:endParaRPr lang="en-US"/>
          </a:p>
        </p:txBody>
      </p:sp>
    </p:spTree>
    <p:extLst>
      <p:ext uri="{BB962C8B-B14F-4D97-AF65-F5344CB8AC3E}">
        <p14:creationId xmlns:p14="http://schemas.microsoft.com/office/powerpoint/2010/main" val="3357438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15</a:t>
            </a:fld>
            <a:endParaRPr lang="en-US"/>
          </a:p>
        </p:txBody>
      </p:sp>
    </p:spTree>
    <p:extLst>
      <p:ext uri="{BB962C8B-B14F-4D97-AF65-F5344CB8AC3E}">
        <p14:creationId xmlns:p14="http://schemas.microsoft.com/office/powerpoint/2010/main" val="1402749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16</a:t>
            </a:fld>
            <a:endParaRPr lang="en-US"/>
          </a:p>
        </p:txBody>
      </p:sp>
    </p:spTree>
    <p:extLst>
      <p:ext uri="{BB962C8B-B14F-4D97-AF65-F5344CB8AC3E}">
        <p14:creationId xmlns:p14="http://schemas.microsoft.com/office/powerpoint/2010/main" val="961186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17</a:t>
            </a:fld>
            <a:endParaRPr lang="en-US"/>
          </a:p>
        </p:txBody>
      </p:sp>
    </p:spTree>
    <p:extLst>
      <p:ext uri="{BB962C8B-B14F-4D97-AF65-F5344CB8AC3E}">
        <p14:creationId xmlns:p14="http://schemas.microsoft.com/office/powerpoint/2010/main" val="2572360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18</a:t>
            </a:fld>
            <a:endParaRPr lang="en-US"/>
          </a:p>
        </p:txBody>
      </p:sp>
    </p:spTree>
    <p:extLst>
      <p:ext uri="{BB962C8B-B14F-4D97-AF65-F5344CB8AC3E}">
        <p14:creationId xmlns:p14="http://schemas.microsoft.com/office/powerpoint/2010/main" val="3755168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19</a:t>
            </a:fld>
            <a:endParaRPr lang="en-US"/>
          </a:p>
        </p:txBody>
      </p:sp>
    </p:spTree>
    <p:extLst>
      <p:ext uri="{BB962C8B-B14F-4D97-AF65-F5344CB8AC3E}">
        <p14:creationId xmlns:p14="http://schemas.microsoft.com/office/powerpoint/2010/main" val="2903691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BCCAC5-B27E-4E51-BFE8-F624B7BC6985}" type="slidenum">
              <a:rPr lang="en-US" smtClean="0"/>
              <a:t>20</a:t>
            </a:fld>
            <a:endParaRPr lang="en-US"/>
          </a:p>
        </p:txBody>
      </p:sp>
    </p:spTree>
    <p:extLst>
      <p:ext uri="{BB962C8B-B14F-4D97-AF65-F5344CB8AC3E}">
        <p14:creationId xmlns:p14="http://schemas.microsoft.com/office/powerpoint/2010/main" val="35905075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rot="5400000">
            <a:off x="3805436" y="-3805436"/>
            <a:ext cx="4581128" cy="1219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167"/>
          </a:p>
        </p:txBody>
      </p:sp>
      <p:sp>
        <p:nvSpPr>
          <p:cNvPr id="5" name="Isosceles Triangle 4"/>
          <p:cNvSpPr/>
          <p:nvPr/>
        </p:nvSpPr>
        <p:spPr>
          <a:xfrm>
            <a:off x="815414" y="4349121"/>
            <a:ext cx="384043" cy="24002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50"/>
          </a:p>
        </p:txBody>
      </p:sp>
      <p:sp>
        <p:nvSpPr>
          <p:cNvPr id="2" name="Title 1"/>
          <p:cNvSpPr>
            <a:spLocks noGrp="1"/>
          </p:cNvSpPr>
          <p:nvPr>
            <p:ph type="ctrTitle"/>
          </p:nvPr>
        </p:nvSpPr>
        <p:spPr>
          <a:xfrm>
            <a:off x="815412" y="1196752"/>
            <a:ext cx="10531205" cy="2016224"/>
          </a:xfrm>
        </p:spPr>
        <p:txBody>
          <a:bodyPr vert="horz" lIns="91440" tIns="45720" rIns="91440" bIns="45720" rtlCol="0" anchor="ctr">
            <a:noAutofit/>
          </a:bodyPr>
          <a:lstStyle>
            <a:lvl1pPr>
              <a:defRPr lang="en-US" sz="2400" b="0" baseline="0">
                <a:solidFill>
                  <a:schemeClr val="bg1"/>
                </a:solidFill>
                <a:latin typeface="Segoe UI" panose="020B0502040204020203" pitchFamily="34" charset="0"/>
                <a:cs typeface="Segoe UI" panose="020B0502040204020203" pitchFamily="34" charset="0"/>
              </a:defRPr>
            </a:lvl1pPr>
          </a:lstStyle>
          <a:p>
            <a:pPr lvl="0" algn="l"/>
            <a:r>
              <a:rPr lang="en-US"/>
              <a:t>Click to edit Master title style</a:t>
            </a:r>
          </a:p>
        </p:txBody>
      </p:sp>
      <p:sp>
        <p:nvSpPr>
          <p:cNvPr id="3" name="Subtitle 2"/>
          <p:cNvSpPr>
            <a:spLocks noGrp="1"/>
          </p:cNvSpPr>
          <p:nvPr>
            <p:ph type="subTitle" idx="1" hasCustomPrompt="1"/>
          </p:nvPr>
        </p:nvSpPr>
        <p:spPr>
          <a:xfrm>
            <a:off x="817842" y="4911219"/>
            <a:ext cx="7966457" cy="1752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lvl1pPr marL="0" indent="0" algn="l">
              <a:buNone/>
              <a:defRPr kumimoji="1" lang="en-US" sz="2167">
                <a:solidFill>
                  <a:schemeClr val="tx1"/>
                </a:solidFill>
                <a:latin typeface="+mn-lt"/>
                <a:ea typeface="+mn-ea"/>
              </a:defRPr>
            </a:lvl1pPr>
          </a:lstStyle>
          <a:p>
            <a:pPr marL="0" lvl="0" algn="ctr" defTabSz="914400"/>
            <a:r>
              <a:rPr lang="en-US" dirty="0"/>
              <a:t>Click to edit Master subtitle style</a:t>
            </a:r>
          </a:p>
        </p:txBody>
      </p:sp>
      <p:grpSp>
        <p:nvGrpSpPr>
          <p:cNvPr id="16" name="図形グループ 15"/>
          <p:cNvGrpSpPr/>
          <p:nvPr/>
        </p:nvGrpSpPr>
        <p:grpSpPr>
          <a:xfrm>
            <a:off x="9264352" y="4045673"/>
            <a:ext cx="2592288" cy="391438"/>
            <a:chOff x="6516216" y="3933056"/>
            <a:chExt cx="2503572" cy="504056"/>
          </a:xfrm>
        </p:grpSpPr>
        <p:pic>
          <p:nvPicPr>
            <p:cNvPr id="11" name="図 10" descr="Logo_9001.jp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516216" y="3933056"/>
              <a:ext cx="760016" cy="494068"/>
            </a:xfrm>
            <a:prstGeom prst="rect">
              <a:avLst/>
            </a:prstGeom>
          </p:spPr>
        </p:pic>
        <p:pic>
          <p:nvPicPr>
            <p:cNvPr id="13" name="図 12" descr="Logo_27001.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80312" y="3933056"/>
              <a:ext cx="775381" cy="504056"/>
            </a:xfrm>
            <a:prstGeom prst="rect">
              <a:avLst/>
            </a:prstGeom>
          </p:spPr>
        </p:pic>
        <p:pic>
          <p:nvPicPr>
            <p:cNvPr id="14" name="図 13" descr="CMMI3.jp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244408" y="3933056"/>
              <a:ext cx="775380" cy="504056"/>
            </a:xfrm>
            <a:prstGeom prst="rect">
              <a:avLst/>
            </a:prstGeom>
          </p:spPr>
        </p:pic>
      </p:grpSp>
      <p:pic>
        <p:nvPicPr>
          <p:cNvPr id="15" name="図 1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327987" y="4725145"/>
            <a:ext cx="2556594" cy="720080"/>
          </a:xfrm>
          <a:prstGeom prst="rect">
            <a:avLst/>
          </a:prstGeom>
        </p:spPr>
      </p:pic>
    </p:spTree>
    <p:extLst>
      <p:ext uri="{BB962C8B-B14F-4D97-AF65-F5344CB8AC3E}">
        <p14:creationId xmlns:p14="http://schemas.microsoft.com/office/powerpoint/2010/main" val="1645016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E72EFC-7702-F2B9-0E32-37672C80A513}"/>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4901674" y="2900288"/>
            <a:ext cx="2867425" cy="1057423"/>
          </a:xfrm>
          <a:prstGeom prst="rect">
            <a:avLst/>
          </a:prstGeom>
        </p:spPr>
      </p:pic>
      <p:sp>
        <p:nvSpPr>
          <p:cNvPr id="2" name="Title 1"/>
          <p:cNvSpPr>
            <a:spLocks noGrp="1"/>
          </p:cNvSpPr>
          <p:nvPr>
            <p:ph type="title"/>
          </p:nvPr>
        </p:nvSpPr>
        <p:spPr>
          <a:xfrm>
            <a:off x="575388" y="215682"/>
            <a:ext cx="10633846" cy="432000"/>
          </a:xfrm>
        </p:spPr>
        <p:txBody>
          <a:bodyPr>
            <a:noAutofit/>
          </a:bodyPr>
          <a:lstStyle>
            <a:lvl1pPr algn="l">
              <a:defRPr sz="2800" b="0" baseline="0">
                <a:latin typeface="Arial Unicode MS" panose="020B0604020202020204" pitchFamily="50" charset="-128"/>
                <a:ea typeface="Arial Unicode MS" panose="020B0604020202020204" pitchFamily="50" charset="-128"/>
                <a:cs typeface="Arial Unicode MS" panose="020B0604020202020204" pitchFamily="50" charset="-128"/>
              </a:defRPr>
            </a:lvl1pPr>
          </a:lstStyle>
          <a:p>
            <a:r>
              <a:rPr lang="en-US"/>
              <a:t>Click to edit Master title style</a:t>
            </a:r>
            <a:endParaRPr lang="en-US" dirty="0"/>
          </a:p>
        </p:txBody>
      </p:sp>
      <p:sp>
        <p:nvSpPr>
          <p:cNvPr id="3" name="Content Placeholder 2"/>
          <p:cNvSpPr>
            <a:spLocks noGrp="1"/>
          </p:cNvSpPr>
          <p:nvPr>
            <p:ph idx="1"/>
          </p:nvPr>
        </p:nvSpPr>
        <p:spPr>
          <a:xfrm>
            <a:off x="575387" y="883720"/>
            <a:ext cx="11520000" cy="5857656"/>
          </a:xfrm>
        </p:spPr>
        <p:txBody>
          <a:bodyPr>
            <a:normAutofit/>
          </a:bodyPr>
          <a:lstStyle>
            <a:lvl1pPr>
              <a:defRPr sz="2400" baseline="0">
                <a:latin typeface="Arial Unicode MS" panose="020B0604020202020204" pitchFamily="50" charset="-128"/>
                <a:ea typeface="Arial Unicode MS" panose="020B0604020202020204" pitchFamily="50" charset="-128"/>
                <a:cs typeface="Arial Unicode MS" panose="020B0604020202020204" pitchFamily="50" charset="-128"/>
              </a:defRPr>
            </a:lvl1pPr>
            <a:lvl2pPr marL="804838" indent="-309553">
              <a:buFont typeface="Wingdings" panose="05000000000000000000" pitchFamily="2" charset="2"/>
              <a:buChar char="Ø"/>
              <a:defRPr sz="2000" baseline="0">
                <a:latin typeface="Arial Unicode MS" panose="020B0604020202020204" pitchFamily="50" charset="-128"/>
                <a:ea typeface="Arial Unicode MS" panose="020B0604020202020204" pitchFamily="50" charset="-128"/>
                <a:cs typeface="Arial Unicode MS" panose="020B0604020202020204" pitchFamily="50" charset="-128"/>
              </a:defRPr>
            </a:lvl2pPr>
            <a:lvl3pPr marL="1238212" indent="-247642">
              <a:buFont typeface="Wingdings" panose="05000000000000000000" pitchFamily="2" charset="2"/>
              <a:buChar char="u"/>
              <a:defRPr sz="1600" baseline="0">
                <a:latin typeface="Arial Unicode MS" panose="020B0604020202020204" pitchFamily="50" charset="-128"/>
                <a:ea typeface="Arial Unicode MS" panose="020B0604020202020204" pitchFamily="50" charset="-128"/>
                <a:cs typeface="Arial Unicode MS" panose="020B0604020202020204" pitchFamily="50" charset="-128"/>
              </a:defRPr>
            </a:lvl3pPr>
            <a:lvl4pPr>
              <a:defRPr sz="1950"/>
            </a:lvl4pPr>
            <a:lvl5pPr>
              <a:defRPr sz="1950"/>
            </a:lvl5pPr>
          </a:lstStyle>
          <a:p>
            <a:pPr lvl="0"/>
            <a:r>
              <a:rPr lang="en-US"/>
              <a:t>Click to edit Master text styles</a:t>
            </a:r>
          </a:p>
          <a:p>
            <a:pPr lvl="1"/>
            <a:r>
              <a:rPr lang="en-US"/>
              <a:t>Second level</a:t>
            </a:r>
          </a:p>
          <a:p>
            <a:pPr lvl="2"/>
            <a:r>
              <a:rPr lang="en-US"/>
              <a:t>Third level</a:t>
            </a:r>
          </a:p>
        </p:txBody>
      </p:sp>
      <p:sp>
        <p:nvSpPr>
          <p:cNvPr id="9" name="Flowchart: Off-page Connector 9"/>
          <p:cNvSpPr/>
          <p:nvPr/>
        </p:nvSpPr>
        <p:spPr>
          <a:xfrm>
            <a:off x="11358066" y="188642"/>
            <a:ext cx="505685" cy="297731"/>
          </a:xfrm>
          <a:prstGeom prst="flowChartOffpageConnector">
            <a:avLst/>
          </a:prstGeom>
          <a:solidFill>
            <a:srgbClr val="D1493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29558FA8-0178-4D27-850C-8B57201BA605}" type="slidenum">
              <a:rPr lang="es-HN" sz="1300" b="1" smtClean="0">
                <a:solidFill>
                  <a:schemeClr val="bg1"/>
                </a:solidFill>
              </a:rPr>
              <a:pPr algn="ctr"/>
              <a:t>‹#›</a:t>
            </a:fld>
            <a:endParaRPr lang="en-US" sz="1300" b="1">
              <a:solidFill>
                <a:schemeClr val="bg1"/>
              </a:solidFill>
            </a:endParaRPr>
          </a:p>
        </p:txBody>
      </p:sp>
      <p:sp>
        <p:nvSpPr>
          <p:cNvPr id="7" name="Rectangle 6"/>
          <p:cNvSpPr/>
          <p:nvPr/>
        </p:nvSpPr>
        <p:spPr>
          <a:xfrm>
            <a:off x="0" y="0"/>
            <a:ext cx="335360"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50"/>
          </a:p>
        </p:txBody>
      </p:sp>
      <p:sp>
        <p:nvSpPr>
          <p:cNvPr id="10" name="Isosceles Triangle 9"/>
          <p:cNvSpPr/>
          <p:nvPr/>
        </p:nvSpPr>
        <p:spPr>
          <a:xfrm rot="5400000">
            <a:off x="347362" y="608687"/>
            <a:ext cx="216024" cy="240027"/>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50"/>
          </a:p>
        </p:txBody>
      </p:sp>
      <p:sp>
        <p:nvSpPr>
          <p:cNvPr id="8" name="Rectangle 6">
            <a:extLst>
              <a:ext uri="{FF2B5EF4-FFF2-40B4-BE49-F238E27FC236}">
                <a16:creationId xmlns:a16="http://schemas.microsoft.com/office/drawing/2014/main" id="{CC860D6C-1FCF-4756-9525-431B814ECDC5}"/>
              </a:ext>
            </a:extLst>
          </p:cNvPr>
          <p:cNvSpPr/>
          <p:nvPr/>
        </p:nvSpPr>
        <p:spPr>
          <a:xfrm>
            <a:off x="575387" y="706197"/>
            <a:ext cx="11520000" cy="36000"/>
          </a:xfrm>
          <a:prstGeom prst="rect">
            <a:avLst/>
          </a:prstGeom>
          <a:gradFill flip="none" rotWithShape="1">
            <a:gsLst>
              <a:gs pos="0">
                <a:srgbClr val="C00000"/>
              </a:gs>
              <a:gs pos="74000">
                <a:srgbClr val="C00000"/>
              </a:gs>
              <a:gs pos="100000">
                <a:schemeClr val="accent2">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50"/>
          </a:p>
        </p:txBody>
      </p:sp>
    </p:spTree>
    <p:extLst>
      <p:ext uri="{BB962C8B-B14F-4D97-AF65-F5344CB8AC3E}">
        <p14:creationId xmlns:p14="http://schemas.microsoft.com/office/powerpoint/2010/main" val="289550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34307D-763A-D55D-7A0A-D1EE436A17B0}"/>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4662287" y="2900288"/>
            <a:ext cx="3090989" cy="1139867"/>
          </a:xfrm>
          <a:prstGeom prst="rect">
            <a:avLst/>
          </a:prstGeom>
        </p:spPr>
      </p:pic>
      <p:sp>
        <p:nvSpPr>
          <p:cNvPr id="2" name="Title 1"/>
          <p:cNvSpPr>
            <a:spLocks noGrp="1"/>
          </p:cNvSpPr>
          <p:nvPr>
            <p:ph type="title"/>
          </p:nvPr>
        </p:nvSpPr>
        <p:spPr>
          <a:xfrm>
            <a:off x="1007436" y="240397"/>
            <a:ext cx="10574965" cy="1066129"/>
          </a:xfrm>
        </p:spPr>
        <p:txBody>
          <a:bodyPr vert="horz" lIns="91440" tIns="45720" rIns="91440" bIns="45720" rtlCol="0" anchor="ctr">
            <a:noAutofit/>
          </a:bodyPr>
          <a:lstStyle>
            <a:lvl1pPr>
              <a:defRPr lang="en-US" sz="3600" b="0" baseline="0">
                <a:latin typeface="Segoe UI" panose="020B0502040204020203" pitchFamily="34" charset="0"/>
                <a:cs typeface="Segoe UI" panose="020B0502040204020203" pitchFamily="34" charset="0"/>
              </a:defRPr>
            </a:lvl1pPr>
          </a:lstStyle>
          <a:p>
            <a:pPr lvl="0" algn="l"/>
            <a:r>
              <a:rPr lang="en-US"/>
              <a:t>Click to edit Master title style</a:t>
            </a:r>
          </a:p>
        </p:txBody>
      </p:sp>
      <p:sp>
        <p:nvSpPr>
          <p:cNvPr id="3" name="Content Placeholder 2"/>
          <p:cNvSpPr>
            <a:spLocks noGrp="1"/>
          </p:cNvSpPr>
          <p:nvPr>
            <p:ph idx="1"/>
          </p:nvPr>
        </p:nvSpPr>
        <p:spPr>
          <a:xfrm>
            <a:off x="1007436" y="1484786"/>
            <a:ext cx="10574965" cy="4525963"/>
          </a:xfrm>
        </p:spPr>
        <p:txBody>
          <a:bodyPr vert="horz" lIns="91440" tIns="45720" rIns="91440" bIns="45720" rtlCol="0">
            <a:normAutofit/>
          </a:bodyPr>
          <a:lstStyle>
            <a:lvl1pPr>
              <a:defRPr lang="en-US" sz="1200" baseline="0" smtClean="0">
                <a:latin typeface="Segoe UI" panose="020B0502040204020203" pitchFamily="34" charset="0"/>
              </a:defRPr>
            </a:lvl1pPr>
            <a:lvl2pPr>
              <a:defRPr lang="en-US" sz="1200" baseline="0" smtClean="0">
                <a:latin typeface="Segoe UI" panose="020B0502040204020203" pitchFamily="34" charset="0"/>
              </a:defRPr>
            </a:lvl2pPr>
            <a:lvl3pPr>
              <a:defRPr lang="en-US" sz="1200" baseline="0">
                <a:latin typeface="Segoe UI" panose="020B0502040204020203" pitchFamily="34" charset="0"/>
              </a:defRPr>
            </a:lvl3pPr>
          </a:lstStyle>
          <a:p>
            <a:pPr lvl="0"/>
            <a:r>
              <a:rPr lang="en-US"/>
              <a:t>Click to edit Master text styles</a:t>
            </a:r>
          </a:p>
          <a:p>
            <a:pPr lvl="1"/>
            <a:r>
              <a:rPr lang="en-US"/>
              <a:t>Second level</a:t>
            </a:r>
          </a:p>
          <a:p>
            <a:pPr lvl="2"/>
            <a:r>
              <a:rPr lang="en-US"/>
              <a:t>Third level</a:t>
            </a:r>
          </a:p>
        </p:txBody>
      </p:sp>
      <p:sp>
        <p:nvSpPr>
          <p:cNvPr id="9" name="Flowchart: Off-page Connector 9"/>
          <p:cNvSpPr/>
          <p:nvPr/>
        </p:nvSpPr>
        <p:spPr>
          <a:xfrm>
            <a:off x="11358066" y="188642"/>
            <a:ext cx="505685" cy="297731"/>
          </a:xfrm>
          <a:prstGeom prst="flowChartOffpageConnector">
            <a:avLst/>
          </a:prstGeom>
          <a:solidFill>
            <a:srgbClr val="D1493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29558FA8-0178-4D27-850C-8B57201BA605}" type="slidenum">
              <a:rPr lang="es-HN" sz="1300" b="1" smtClean="0"/>
              <a:pPr algn="ctr"/>
              <a:t>‹#›</a:t>
            </a:fld>
            <a:endParaRPr lang="en-US" sz="1300" b="1"/>
          </a:p>
        </p:txBody>
      </p:sp>
      <p:sp>
        <p:nvSpPr>
          <p:cNvPr id="8" name="Rectangle 7"/>
          <p:cNvSpPr/>
          <p:nvPr/>
        </p:nvSpPr>
        <p:spPr>
          <a:xfrm>
            <a:off x="0" y="4581128"/>
            <a:ext cx="12192000" cy="22768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50"/>
          </a:p>
        </p:txBody>
      </p:sp>
    </p:spTree>
    <p:extLst>
      <p:ext uri="{BB962C8B-B14F-4D97-AF65-F5344CB8AC3E}">
        <p14:creationId xmlns:p14="http://schemas.microsoft.com/office/powerpoint/2010/main" val="5985399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l="-6000" r="-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4"/>
          </p:nvPr>
        </p:nvSpPr>
        <p:spPr>
          <a:xfrm>
            <a:off x="8737600" y="6356353"/>
            <a:ext cx="2844800" cy="365125"/>
          </a:xfrm>
          <a:prstGeom prst="rect">
            <a:avLst/>
          </a:prstGeom>
        </p:spPr>
        <p:txBody>
          <a:bodyPr anchor="b"/>
          <a:lstStyle>
            <a:lvl1pPr algn="r">
              <a:defRPr sz="1517" b="1">
                <a:solidFill>
                  <a:srgbClr val="C00000"/>
                </a:solidFill>
                <a:latin typeface="メイリオ" panose="020B0604030504040204" pitchFamily="50" charset="-128"/>
                <a:ea typeface="メイリオ" panose="020B0604030504040204" pitchFamily="50" charset="-128"/>
              </a:defRPr>
            </a:lvl1pPr>
          </a:lstStyle>
          <a:p>
            <a:fld id="{BBE751F8-1CBC-4EFD-BCEB-29CD0FDC9D10}" type="slidenum">
              <a:rPr lang="en-US" smtClean="0"/>
              <a:t>‹#›</a:t>
            </a:fld>
            <a:endParaRPr lang="en-US"/>
          </a:p>
        </p:txBody>
      </p:sp>
    </p:spTree>
    <p:extLst>
      <p:ext uri="{BB962C8B-B14F-4D97-AF65-F5344CB8AC3E}">
        <p14:creationId xmlns:p14="http://schemas.microsoft.com/office/powerpoint/2010/main" val="24565789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90570" rtl="0" eaLnBrk="1" latinLnBrk="0" hangingPunct="1">
        <a:spcBef>
          <a:spcPct val="0"/>
        </a:spcBef>
        <a:buNone/>
        <a:defRPr sz="3467" b="1" kern="1200">
          <a:solidFill>
            <a:srgbClr val="C00000"/>
          </a:solidFill>
          <a:latin typeface="メイリオ" panose="020B0604030504040204" pitchFamily="50" charset="-128"/>
          <a:ea typeface="メイリオ" panose="020B0604030504040204" pitchFamily="50" charset="-128"/>
          <a:cs typeface="+mj-cs"/>
        </a:defRPr>
      </a:lvl1pPr>
    </p:titleStyle>
    <p:bodyStyle>
      <a:lvl1pPr marL="371464" indent="-371464" algn="l" defTabSz="990570" rtl="0" eaLnBrk="1" latinLnBrk="0" hangingPunct="1">
        <a:spcBef>
          <a:spcPct val="20000"/>
        </a:spcBef>
        <a:buFont typeface="Arial" pitchFamily="34" charset="0"/>
        <a:buChar char="•"/>
        <a:defRPr sz="3467" kern="1200">
          <a:solidFill>
            <a:schemeClr val="tx1"/>
          </a:solidFill>
          <a:latin typeface="メイリオ" panose="020B0604030504040204" pitchFamily="50" charset="-128"/>
          <a:ea typeface="メイリオ" panose="020B0604030504040204" pitchFamily="50" charset="-128"/>
          <a:cs typeface="+mn-cs"/>
        </a:defRPr>
      </a:lvl1pPr>
      <a:lvl2pPr marL="804838" indent="-309553" algn="l" defTabSz="990570" rtl="0" eaLnBrk="1" latinLnBrk="0" hangingPunct="1">
        <a:spcBef>
          <a:spcPct val="20000"/>
        </a:spcBef>
        <a:buFont typeface="Arial" pitchFamily="34" charset="0"/>
        <a:buChar char="–"/>
        <a:defRPr sz="3033" kern="1200">
          <a:solidFill>
            <a:schemeClr val="tx1"/>
          </a:solidFill>
          <a:latin typeface="メイリオ" panose="020B0604030504040204" pitchFamily="50" charset="-128"/>
          <a:ea typeface="メイリオ" panose="020B0604030504040204" pitchFamily="50" charset="-128"/>
          <a:cs typeface="+mn-cs"/>
        </a:defRPr>
      </a:lvl2pPr>
      <a:lvl3pPr marL="1238212" indent="-247642" algn="l" defTabSz="990570" rtl="0" eaLnBrk="1" latinLnBrk="0" hangingPunct="1">
        <a:spcBef>
          <a:spcPct val="20000"/>
        </a:spcBef>
        <a:buFont typeface="Arial" pitchFamily="34" charset="0"/>
        <a:buChar char="•"/>
        <a:defRPr sz="2600" kern="1200">
          <a:solidFill>
            <a:schemeClr val="tx1"/>
          </a:solidFill>
          <a:latin typeface="メイリオ" panose="020B0604030504040204" pitchFamily="50" charset="-128"/>
          <a:ea typeface="メイリオ" panose="020B0604030504040204" pitchFamily="50" charset="-128"/>
          <a:cs typeface="+mn-cs"/>
        </a:defRPr>
      </a:lvl3pPr>
      <a:lvl4pPr marL="1733497" indent="-247642" algn="l" defTabSz="990570" rtl="0" eaLnBrk="1" latinLnBrk="0" hangingPunct="1">
        <a:spcBef>
          <a:spcPct val="20000"/>
        </a:spcBef>
        <a:buFont typeface="Arial" pitchFamily="34" charset="0"/>
        <a:buChar char="–"/>
        <a:defRPr sz="2167" kern="1200">
          <a:solidFill>
            <a:schemeClr val="tx1"/>
          </a:solidFill>
          <a:latin typeface="メイリオ" panose="020B0604030504040204" pitchFamily="50" charset="-128"/>
          <a:ea typeface="メイリオ" panose="020B0604030504040204" pitchFamily="50" charset="-128"/>
          <a:cs typeface="+mn-cs"/>
        </a:defRPr>
      </a:lvl4pPr>
      <a:lvl5pPr marL="2228781" indent="-247642" algn="l" defTabSz="990570" rtl="0" eaLnBrk="1" latinLnBrk="0" hangingPunct="1">
        <a:spcBef>
          <a:spcPct val="20000"/>
        </a:spcBef>
        <a:buFont typeface="Arial" pitchFamily="34" charset="0"/>
        <a:buChar char="»"/>
        <a:defRPr sz="2167" kern="1200">
          <a:solidFill>
            <a:schemeClr val="tx1"/>
          </a:solidFill>
          <a:latin typeface="メイリオ" panose="020B0604030504040204" pitchFamily="50" charset="-128"/>
          <a:ea typeface="メイリオ" panose="020B0604030504040204" pitchFamily="50"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p:bodyStyle>
    <p:otherStyle>
      <a:defPPr>
        <a:defRPr lang="en-US"/>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w3schools.com/sql/sql_injection.asp" TargetMode="External"/><Relationship Id="rId5" Type="http://schemas.openxmlformats.org/officeDocument/2006/relationships/hyperlink" Target="https://www.baeldung.com/sql-injection" TargetMode="Externa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developer.mozilla.org/en-US/docs/Web/HTTP/Headers/X-XSS-Protection" TargetMode="External"/><Relationship Id="rId4" Type="http://schemas.openxmlformats.org/officeDocument/2006/relationships/hyperlink" Target="https://www.baeldung.com/spring-prevent-xs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tutorialspoint.com/java_cryptography/java_cryptography_encrypting_data.ht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baeldung.com/java-aes-encryption-decryption"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36A5-CA95-02E6-9791-5F4FD0DDED86}"/>
              </a:ext>
            </a:extLst>
          </p:cNvPr>
          <p:cNvSpPr>
            <a:spLocks noGrp="1"/>
          </p:cNvSpPr>
          <p:nvPr>
            <p:ph type="ctrTitle"/>
          </p:nvPr>
        </p:nvSpPr>
        <p:spPr/>
        <p:txBody>
          <a:bodyPr/>
          <a:lstStyle/>
          <a:p>
            <a:r>
              <a:rPr lang="en-US" sz="13800"/>
              <a:t>Web Security</a:t>
            </a:r>
          </a:p>
        </p:txBody>
      </p:sp>
      <p:sp>
        <p:nvSpPr>
          <p:cNvPr id="3" name="Subtitle 2">
            <a:extLst>
              <a:ext uri="{FF2B5EF4-FFF2-40B4-BE49-F238E27FC236}">
                <a16:creationId xmlns:a16="http://schemas.microsoft.com/office/drawing/2014/main" id="{BE626D19-99F4-C918-BEEE-B303CF885EB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73794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27A7-C2BA-2F8F-FD27-60F6D0672AAA}"/>
              </a:ext>
            </a:extLst>
          </p:cNvPr>
          <p:cNvSpPr>
            <a:spLocks noGrp="1"/>
          </p:cNvSpPr>
          <p:nvPr>
            <p:ph type="title"/>
          </p:nvPr>
        </p:nvSpPr>
        <p:spPr/>
        <p:txBody>
          <a:bodyPr/>
          <a:lstStyle/>
          <a:p>
            <a:r>
              <a:rPr lang="vi-VN" altLang="ja-JP" sz="3600">
                <a:latin typeface="Times New Roman" panose="02020603050405020304" pitchFamily="18" charset="0"/>
              </a:rPr>
              <a:t>Nội dung</a:t>
            </a:r>
            <a:endParaRPr lang="en-US"/>
          </a:p>
        </p:txBody>
      </p:sp>
      <p:sp>
        <p:nvSpPr>
          <p:cNvPr id="3" name="Content Placeholder 2">
            <a:extLst>
              <a:ext uri="{FF2B5EF4-FFF2-40B4-BE49-F238E27FC236}">
                <a16:creationId xmlns:a16="http://schemas.microsoft.com/office/drawing/2014/main" id="{6B84F8EA-6886-448E-D56B-49D402C7178B}"/>
              </a:ext>
            </a:extLst>
          </p:cNvPr>
          <p:cNvSpPr>
            <a:spLocks noGrp="1"/>
          </p:cNvSpPr>
          <p:nvPr>
            <p:ph idx="1"/>
          </p:nvPr>
        </p:nvSpPr>
        <p:spPr/>
        <p:txBody>
          <a:bodyPr>
            <a:normAutofit/>
          </a:bodyPr>
          <a:lstStyle/>
          <a:p>
            <a:pPr eaLnBrk="1" hangingPunct="1">
              <a:lnSpc>
                <a:spcPct val="80000"/>
              </a:lnSpc>
            </a:pPr>
            <a:r>
              <a:rPr lang="en-US" altLang="ja-JP" sz="2800">
                <a:latin typeface="Times New Roman" panose="02020603050405020304" pitchFamily="18" charset="0"/>
                <a:cs typeface="Times New Roman" panose="02020603050405020304" pitchFamily="18" charset="0"/>
              </a:rPr>
              <a:t>Kiểm soát truy vấn cơ sở dữ liệu để tránh lỗ hổng SQL Injection</a:t>
            </a:r>
          </a:p>
          <a:p>
            <a:pPr eaLnBrk="1" hangingPunct="1">
              <a:lnSpc>
                <a:spcPct val="80000"/>
              </a:lnSpc>
            </a:pPr>
            <a:r>
              <a:rPr lang="en-US" altLang="ja-JP" sz="2800">
                <a:latin typeface="Times New Roman" panose="02020603050405020304" pitchFamily="18" charset="0"/>
                <a:cs typeface="Times New Roman" panose="02020603050405020304" pitchFamily="18" charset="0"/>
              </a:rPr>
              <a:t>Xử lý dữ liệu đầu vào để tránh lỗ hổng XSS</a:t>
            </a:r>
          </a:p>
          <a:p>
            <a:pPr eaLnBrk="1" hangingPunct="1">
              <a:lnSpc>
                <a:spcPct val="80000"/>
              </a:lnSpc>
            </a:pPr>
            <a:r>
              <a:rPr lang="en-US" altLang="ja-JP" sz="2800">
                <a:latin typeface="Times New Roman" panose="02020603050405020304" pitchFamily="18" charset="0"/>
                <a:cs typeface="Times New Roman" panose="02020603050405020304" pitchFamily="18" charset="0"/>
              </a:rPr>
              <a:t>Mã hóa dữ liệu nhạy cảm</a:t>
            </a:r>
          </a:p>
          <a:p>
            <a:pPr eaLnBrk="1" hangingPunct="1">
              <a:lnSpc>
                <a:spcPct val="80000"/>
              </a:lnSpc>
            </a:pPr>
            <a:r>
              <a:rPr lang="en-US" altLang="ja-JP" sz="2800">
                <a:latin typeface="Times New Roman" panose="02020603050405020304" pitchFamily="18" charset="0"/>
                <a:cs typeface="Times New Roman" panose="02020603050405020304" pitchFamily="18" charset="0"/>
              </a:rPr>
              <a:t>Kiểm tra quyền truy cập của người dùng</a:t>
            </a:r>
          </a:p>
          <a:p>
            <a:pPr eaLnBrk="1" hangingPunct="1">
              <a:lnSpc>
                <a:spcPct val="80000"/>
              </a:lnSpc>
            </a:pPr>
            <a:r>
              <a:rPr lang="en-US" altLang="ja-JP" sz="2800">
                <a:latin typeface="Times New Roman" panose="02020603050405020304" pitchFamily="18" charset="0"/>
                <a:cs typeface="Times New Roman" panose="02020603050405020304" pitchFamily="18" charset="0"/>
              </a:rPr>
              <a:t>User enumeration</a:t>
            </a:r>
          </a:p>
          <a:p>
            <a:pPr eaLnBrk="1" hangingPunct="1">
              <a:lnSpc>
                <a:spcPct val="80000"/>
              </a:lnSpc>
            </a:pPr>
            <a:r>
              <a:rPr lang="en-US" altLang="ja-JP" sz="2800">
                <a:latin typeface="Times New Roman" panose="02020603050405020304" pitchFamily="18" charset="0"/>
                <a:cs typeface="Times New Roman" panose="02020603050405020304" pitchFamily="18" charset="0"/>
              </a:rPr>
              <a:t>Thất thoát thông tin do kiểm soát lỗi và ngoại lệ không tốt </a:t>
            </a:r>
          </a:p>
        </p:txBody>
      </p:sp>
    </p:spTree>
    <p:extLst>
      <p:ext uri="{BB962C8B-B14F-4D97-AF65-F5344CB8AC3E}">
        <p14:creationId xmlns:p14="http://schemas.microsoft.com/office/powerpoint/2010/main" val="3095459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Kiểm soát truy vấn cơ sở dữ liệu để tránh lỗ hổng SQL Injection</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lstStyle/>
          <a:p>
            <a:pPr eaLnBrk="1" hangingPunct="1"/>
            <a:r>
              <a:rPr lang="en-US" altLang="ja-JP" sz="2400">
                <a:latin typeface="Times New Roman" panose="02020603050405020304" pitchFamily="18" charset="0"/>
                <a:cs typeface="Times New Roman" panose="02020603050405020304" pitchFamily="18" charset="0"/>
              </a:rPr>
              <a:t>Nguy cơ</a:t>
            </a:r>
          </a:p>
          <a:p>
            <a:pPr lvl="1" eaLnBrk="1" hangingPunct="1"/>
            <a:r>
              <a:rPr lang="en-US" altLang="ja-JP" sz="2000">
                <a:latin typeface="Times New Roman" panose="02020603050405020304" pitchFamily="18" charset="0"/>
                <a:cs typeface="Times New Roman" panose="02020603050405020304" pitchFamily="18" charset="0"/>
              </a:rPr>
              <a:t>Khi truy vấn cơ sở dữ liệu, lập trình viên thường sử dụng cách cộng xâu Input từ người dùng, các câu truy vấn này có thể bị mắc lỗi SQL Injection hoặc HSQL Injection (nếu sử dụng Hibernate).</a:t>
            </a:r>
          </a:p>
          <a:p>
            <a:pPr lvl="1" eaLnBrk="1" hangingPunct="1"/>
            <a:r>
              <a:rPr lang="en-US" altLang="ja-JP" sz="2000">
                <a:latin typeface="Times New Roman" panose="02020603050405020304" pitchFamily="18" charset="0"/>
                <a:cs typeface="Times New Roman" panose="02020603050405020304" pitchFamily="18" charset="0"/>
              </a:rPr>
              <a:t>Bằng việc lợi dụng các lỗi này, kẻ tấn công có thể xem, thêm sửa xóa dữ liệu trong database, từ đó chiếm được tài khoản admin, lấy cắp thông tin người dùng…</a:t>
            </a:r>
          </a:p>
          <a:p>
            <a:pPr eaLnBrk="1" hangingPunct="1"/>
            <a:r>
              <a:rPr lang="en-US" altLang="en-US" sz="2400">
                <a:latin typeface="Times New Roman" panose="02020603050405020304" pitchFamily="18" charset="0"/>
                <a:ea typeface="HGP明朝E" panose="02020800000000000000" pitchFamily="18" charset="-128"/>
                <a:cs typeface="Times New Roman" panose="02020603050405020304" pitchFamily="18" charset="0"/>
              </a:rPr>
              <a:t>Phòng chống:</a:t>
            </a:r>
          </a:p>
          <a:p>
            <a:pPr lvl="1" eaLnBrk="1" hangingPunct="1"/>
            <a:r>
              <a:rPr lang="en-US" altLang="en-US" sz="2000">
                <a:latin typeface="Times New Roman" panose="02020603050405020304" pitchFamily="18" charset="0"/>
                <a:ea typeface="HGP明朝E" panose="02020800000000000000" pitchFamily="18" charset="-128"/>
                <a:cs typeface="Times New Roman" panose="02020603050405020304" pitchFamily="18" charset="0"/>
              </a:rPr>
              <a:t>Truy vấn SQL phải dùng PrepareStatement, tất cả tham số phải được add bằng hàm (setParam..), không được sử dụng cách cộng xâu trong truy vấn.</a:t>
            </a:r>
          </a:p>
          <a:p>
            <a:pPr lvl="1" eaLnBrk="1" hangingPunct="1"/>
            <a:r>
              <a:rPr lang="en-US" altLang="en-US" sz="2000">
                <a:latin typeface="Times New Roman" panose="02020603050405020304" pitchFamily="18" charset="0"/>
                <a:ea typeface="HGP明朝E" panose="02020800000000000000" pitchFamily="18" charset="-128"/>
                <a:cs typeface="Times New Roman" panose="02020603050405020304" pitchFamily="18" charset="0"/>
              </a:rPr>
              <a:t>Truy vấn SQL tất cả các tham số phải được add bằng hàm(setParam), không được sử dụng cách cộng xâu trong truy vấn</a:t>
            </a:r>
          </a:p>
          <a:p>
            <a:pPr lvl="1" eaLnBrk="1" hangingPunct="1"/>
            <a:r>
              <a:rPr lang="en-US" altLang="en-US" sz="2000">
                <a:latin typeface="Times New Roman" panose="02020603050405020304" pitchFamily="18" charset="0"/>
                <a:ea typeface="HGP明朝E" panose="02020800000000000000" pitchFamily="18" charset="-128"/>
                <a:cs typeface="Times New Roman" panose="02020603050405020304" pitchFamily="18" charset="0"/>
              </a:rPr>
              <a:t>Với một số trường hợp sử dụng ORDER BY, không thể dùng hàm setParam thì có thể định nghĩa một mảng chứa toàn bộ các column(field) cần ORDER BY gọi là whitelist. Mỗi khi cần ORDER BY thì kiểm tra lại xem column (field) đó có thuộc mảng whitelist đã định nghĩa không.</a:t>
            </a:r>
            <a:endParaRPr lang="en-US" altLang="ja-JP"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8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Kiểm soát truy vấn cơ sở dữ liệu để tránh lỗ hổng SQL Injection</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394447" y="1004047"/>
            <a:ext cx="5925672" cy="1218883"/>
          </a:xfrm>
        </p:spPr>
        <p:txBody>
          <a:bodyPr/>
          <a:lstStyle/>
          <a:p>
            <a:pPr eaLnBrk="1" hangingPunct="1"/>
            <a:r>
              <a:rPr lang="en-US" altLang="ja-JP" sz="2000" b="1">
                <a:latin typeface="Times New Roman" panose="02020603050405020304" pitchFamily="18" charset="0"/>
                <a:cs typeface="Times New Roman" panose="02020603050405020304" pitchFamily="18" charset="0"/>
              </a:rPr>
              <a:t>Ví dụ:</a:t>
            </a:r>
          </a:p>
          <a:p>
            <a:pPr marL="0" indent="0" eaLnBrk="1" hangingPunct="1">
              <a:buNone/>
            </a:pPr>
            <a:r>
              <a:rPr lang="en-US" altLang="ja-JP" sz="2000" b="1">
                <a:latin typeface="Times New Roman" panose="02020603050405020304" pitchFamily="18" charset="0"/>
                <a:cs typeface="Times New Roman" panose="02020603050405020304" pitchFamily="18" charset="0"/>
              </a:rPr>
              <a:t>Bad method</a:t>
            </a:r>
          </a:p>
          <a:p>
            <a:pPr eaLnBrk="1" hangingPunct="1">
              <a:buFont typeface="Symbol" panose="05050102010706020507" pitchFamily="18" charset="2"/>
              <a:buChar char="Þ"/>
            </a:pPr>
            <a:r>
              <a:rPr lang="en-US" altLang="ja-JP" sz="2000">
                <a:latin typeface="Times New Roman" panose="02020603050405020304" pitchFamily="18" charset="0"/>
                <a:cs typeface="Times New Roman" panose="02020603050405020304" pitchFamily="18" charset="0"/>
              </a:rPr>
              <a:t>Risk: query luôn đúng; append thêm 1  câu truy vấn</a:t>
            </a:r>
          </a:p>
        </p:txBody>
      </p:sp>
      <p:pic>
        <p:nvPicPr>
          <p:cNvPr id="6" name="Picture 5">
            <a:extLst>
              <a:ext uri="{FF2B5EF4-FFF2-40B4-BE49-F238E27FC236}">
                <a16:creationId xmlns:a16="http://schemas.microsoft.com/office/drawing/2014/main" id="{0CDF3514-779C-404B-452B-2EE8A4CE8519}"/>
              </a:ext>
            </a:extLst>
          </p:cNvPr>
          <p:cNvPicPr>
            <a:picLocks noChangeAspect="1"/>
          </p:cNvPicPr>
          <p:nvPr/>
        </p:nvPicPr>
        <p:blipFill rotWithShape="1">
          <a:blip r:embed="rId3"/>
          <a:srcRect l="1355" r="1239"/>
          <a:stretch/>
        </p:blipFill>
        <p:spPr>
          <a:xfrm>
            <a:off x="6230471" y="2960278"/>
            <a:ext cx="5629835" cy="1546333"/>
          </a:xfrm>
          <a:prstGeom prst="rect">
            <a:avLst/>
          </a:prstGeom>
          <a:ln>
            <a:solidFill>
              <a:schemeClr val="accent2">
                <a:lumMod val="75000"/>
              </a:schemeClr>
            </a:solidFill>
          </a:ln>
        </p:spPr>
      </p:pic>
      <p:sp>
        <p:nvSpPr>
          <p:cNvPr id="7" name="Content Placeholder 10">
            <a:extLst>
              <a:ext uri="{FF2B5EF4-FFF2-40B4-BE49-F238E27FC236}">
                <a16:creationId xmlns:a16="http://schemas.microsoft.com/office/drawing/2014/main" id="{6E6955CB-6034-F940-B394-067069761F20}"/>
              </a:ext>
            </a:extLst>
          </p:cNvPr>
          <p:cNvSpPr txBox="1">
            <a:spLocks/>
          </p:cNvSpPr>
          <p:nvPr/>
        </p:nvSpPr>
        <p:spPr>
          <a:xfrm>
            <a:off x="331694" y="3160377"/>
            <a:ext cx="5925672" cy="1474694"/>
          </a:xfrm>
          <a:prstGeom prst="rect">
            <a:avLst/>
          </a:prstGeom>
        </p:spPr>
        <p:txBody>
          <a:bodyPr vert="horz" lIns="91440" tIns="45720" rIns="91440" bIns="45720" rtlCol="0">
            <a:normAutofit/>
          </a:bodyPr>
          <a:lstStyle>
            <a:lvl1pPr marL="371464" indent="-371464" algn="l" defTabSz="990570" rtl="0" eaLnBrk="1" latinLnBrk="0" hangingPunct="1">
              <a:spcBef>
                <a:spcPct val="20000"/>
              </a:spcBef>
              <a:buFont typeface="Arial" pitchFamily="34" charset="0"/>
              <a:buChar char="•"/>
              <a:defRPr sz="24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1pPr>
            <a:lvl2pPr marL="804838" indent="-309553" algn="l" defTabSz="990570" rtl="0" eaLnBrk="1" latinLnBrk="0" hangingPunct="1">
              <a:spcBef>
                <a:spcPct val="20000"/>
              </a:spcBef>
              <a:buFont typeface="Wingdings" panose="05000000000000000000" pitchFamily="2" charset="2"/>
              <a:buChar char="Ø"/>
              <a:defRPr sz="20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2pPr>
            <a:lvl3pPr marL="1238212" indent="-247642" algn="l" defTabSz="990570" rtl="0" eaLnBrk="1" latinLnBrk="0" hangingPunct="1">
              <a:spcBef>
                <a:spcPct val="20000"/>
              </a:spcBef>
              <a:buFont typeface="Wingdings" panose="05000000000000000000" pitchFamily="2" charset="2"/>
              <a:buChar char="u"/>
              <a:defRPr sz="16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3pPr>
            <a:lvl4pPr marL="1733497" indent="-247642" algn="l" defTabSz="990570" rtl="0" eaLnBrk="1" latinLnBrk="0" hangingPunct="1">
              <a:spcBef>
                <a:spcPct val="20000"/>
              </a:spcBef>
              <a:buFont typeface="Arial" pitchFamily="34" charset="0"/>
              <a:buChar char="–"/>
              <a:defRPr sz="1950" kern="1200">
                <a:solidFill>
                  <a:schemeClr val="tx1"/>
                </a:solidFill>
                <a:latin typeface="メイリオ" panose="020B0604030504040204" pitchFamily="50" charset="-128"/>
                <a:ea typeface="メイリオ" panose="020B0604030504040204" pitchFamily="50" charset="-128"/>
                <a:cs typeface="+mn-cs"/>
              </a:defRPr>
            </a:lvl4pPr>
            <a:lvl5pPr marL="2228781" indent="-247642" algn="l" defTabSz="990570" rtl="0" eaLnBrk="1" latinLnBrk="0" hangingPunct="1">
              <a:spcBef>
                <a:spcPct val="20000"/>
              </a:spcBef>
              <a:buFont typeface="Arial" pitchFamily="34" charset="0"/>
              <a:buChar char="»"/>
              <a:defRPr sz="1950" kern="1200">
                <a:solidFill>
                  <a:schemeClr val="tx1"/>
                </a:solidFill>
                <a:latin typeface="メイリオ" panose="020B0604030504040204" pitchFamily="50" charset="-128"/>
                <a:ea typeface="メイリオ" panose="020B0604030504040204" pitchFamily="50"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pPr marL="0" indent="0">
              <a:buFont typeface="Arial" pitchFamily="34" charset="0"/>
              <a:buNone/>
            </a:pPr>
            <a:r>
              <a:rPr lang="en-US" altLang="ja-JP" sz="2000" b="1">
                <a:latin typeface="Times New Roman" panose="02020603050405020304" pitchFamily="18" charset="0"/>
                <a:cs typeface="Times New Roman" panose="02020603050405020304" pitchFamily="18" charset="0"/>
              </a:rPr>
              <a:t>Nếu sử dụng JPA là đã an toàn phải không?</a:t>
            </a:r>
          </a:p>
          <a:p>
            <a:pPr marL="0" indent="0">
              <a:buFont typeface="Arial" pitchFamily="34" charset="0"/>
              <a:buNone/>
            </a:pPr>
            <a:r>
              <a:rPr lang="en-US" altLang="ja-JP" sz="2000">
                <a:latin typeface="Times New Roman" panose="02020603050405020304" pitchFamily="18" charset="0"/>
                <a:cs typeface="Times New Roman" panose="02020603050405020304" pitchFamily="18" charset="0"/>
              </a:rPr>
              <a:t>=&gt; Không! Vì JPA và các ORM khác giúp chúng ta không phải tạo câu SQL thủ công; nhưng không ngăn được việc chúng ta viết các câu SQL dễ bị tấn công.</a:t>
            </a:r>
          </a:p>
          <a:p>
            <a:pPr marL="0" indent="0">
              <a:buFont typeface="Arial" pitchFamily="34" charset="0"/>
              <a:buNone/>
            </a:pPr>
            <a:endParaRPr lang="en-US" altLang="ja-JP" sz="2000">
              <a:latin typeface="Times New Roman" panose="02020603050405020304" pitchFamily="18" charset="0"/>
              <a:cs typeface="Times New Roman" panose="02020603050405020304" pitchFamily="18" charset="0"/>
            </a:endParaRPr>
          </a:p>
        </p:txBody>
      </p:sp>
      <p:sp>
        <p:nvSpPr>
          <p:cNvPr id="8" name="Content Placeholder 10">
            <a:extLst>
              <a:ext uri="{FF2B5EF4-FFF2-40B4-BE49-F238E27FC236}">
                <a16:creationId xmlns:a16="http://schemas.microsoft.com/office/drawing/2014/main" id="{2F3695E3-9B60-8BD8-1F7F-BAEF27852BEB}"/>
              </a:ext>
            </a:extLst>
          </p:cNvPr>
          <p:cNvSpPr txBox="1">
            <a:spLocks/>
          </p:cNvSpPr>
          <p:nvPr/>
        </p:nvSpPr>
        <p:spPr>
          <a:xfrm>
            <a:off x="331694" y="4835170"/>
            <a:ext cx="5925672" cy="2022829"/>
          </a:xfrm>
          <a:prstGeom prst="rect">
            <a:avLst/>
          </a:prstGeom>
        </p:spPr>
        <p:txBody>
          <a:bodyPr vert="horz" lIns="91440" tIns="45720" rIns="91440" bIns="45720" rtlCol="0">
            <a:normAutofit/>
          </a:bodyPr>
          <a:lstStyle>
            <a:lvl1pPr marL="371464" indent="-371464" algn="l" defTabSz="990570" rtl="0" eaLnBrk="1" latinLnBrk="0" hangingPunct="1">
              <a:spcBef>
                <a:spcPct val="20000"/>
              </a:spcBef>
              <a:buFont typeface="Arial" pitchFamily="34" charset="0"/>
              <a:buChar char="•"/>
              <a:defRPr sz="24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1pPr>
            <a:lvl2pPr marL="804838" indent="-309553" algn="l" defTabSz="990570" rtl="0" eaLnBrk="1" latinLnBrk="0" hangingPunct="1">
              <a:spcBef>
                <a:spcPct val="20000"/>
              </a:spcBef>
              <a:buFont typeface="Wingdings" panose="05000000000000000000" pitchFamily="2" charset="2"/>
              <a:buChar char="Ø"/>
              <a:defRPr sz="20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2pPr>
            <a:lvl3pPr marL="1238212" indent="-247642" algn="l" defTabSz="990570" rtl="0" eaLnBrk="1" latinLnBrk="0" hangingPunct="1">
              <a:spcBef>
                <a:spcPct val="20000"/>
              </a:spcBef>
              <a:buFont typeface="Wingdings" panose="05000000000000000000" pitchFamily="2" charset="2"/>
              <a:buChar char="u"/>
              <a:defRPr sz="16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3pPr>
            <a:lvl4pPr marL="1733497" indent="-247642" algn="l" defTabSz="990570" rtl="0" eaLnBrk="1" latinLnBrk="0" hangingPunct="1">
              <a:spcBef>
                <a:spcPct val="20000"/>
              </a:spcBef>
              <a:buFont typeface="Arial" pitchFamily="34" charset="0"/>
              <a:buChar char="–"/>
              <a:defRPr sz="1950" kern="1200">
                <a:solidFill>
                  <a:schemeClr val="tx1"/>
                </a:solidFill>
                <a:latin typeface="メイリオ" panose="020B0604030504040204" pitchFamily="50" charset="-128"/>
                <a:ea typeface="メイリオ" panose="020B0604030504040204" pitchFamily="50" charset="-128"/>
                <a:cs typeface="+mn-cs"/>
              </a:defRPr>
            </a:lvl4pPr>
            <a:lvl5pPr marL="2228781" indent="-247642" algn="l" defTabSz="990570" rtl="0" eaLnBrk="1" latinLnBrk="0" hangingPunct="1">
              <a:spcBef>
                <a:spcPct val="20000"/>
              </a:spcBef>
              <a:buFont typeface="Arial" pitchFamily="34" charset="0"/>
              <a:buChar char="»"/>
              <a:defRPr sz="1950" kern="1200">
                <a:solidFill>
                  <a:schemeClr val="tx1"/>
                </a:solidFill>
                <a:latin typeface="メイリオ" panose="020B0604030504040204" pitchFamily="50" charset="-128"/>
                <a:ea typeface="メイリオ" panose="020B0604030504040204" pitchFamily="50"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pPr marL="0" indent="0">
              <a:buFont typeface="Arial" pitchFamily="34" charset="0"/>
              <a:buNone/>
            </a:pPr>
            <a:r>
              <a:rPr lang="en-US" altLang="ja-JP" sz="2000" b="1">
                <a:latin typeface="Times New Roman" panose="02020603050405020304" pitchFamily="18" charset="0"/>
                <a:cs typeface="Times New Roman" panose="02020603050405020304" pitchFamily="18" charset="0"/>
              </a:rPr>
              <a:t>Cách phòng chống</a:t>
            </a:r>
          </a:p>
          <a:p>
            <a:pPr marL="0" indent="0">
              <a:buFont typeface="Arial" pitchFamily="34" charset="0"/>
              <a:buNone/>
            </a:pPr>
            <a:r>
              <a:rPr lang="en-US" altLang="ja-JP" sz="2000">
                <a:latin typeface="Times New Roman" panose="02020603050405020304" pitchFamily="18" charset="0"/>
                <a:cs typeface="Times New Roman" panose="02020603050405020304" pitchFamily="18" charset="0"/>
              </a:rPr>
              <a:t>Sử dụng dấu ? Trong các câu truy vấn khi cần chèn 1 giá trị do người dung cung cấp. </a:t>
            </a:r>
          </a:p>
          <a:p>
            <a:pPr marL="0" indent="0">
              <a:buFont typeface="Arial" pitchFamily="34" charset="0"/>
              <a:buNone/>
            </a:pPr>
            <a:r>
              <a:rPr lang="en-US" altLang="ja-JP" sz="2000">
                <a:latin typeface="Times New Roman" panose="02020603050405020304" pitchFamily="18" charset="0"/>
                <a:cs typeface="Times New Roman" panose="02020603050405020304" pitchFamily="18" charset="0"/>
              </a:rPr>
              <a:t>Và có các phương thức </a:t>
            </a:r>
            <a:r>
              <a:rPr lang="en-US" altLang="ja-JP" sz="2000" b="1">
                <a:solidFill>
                  <a:srgbClr val="FF0000"/>
                </a:solidFill>
                <a:latin typeface="Times New Roman" panose="02020603050405020304" pitchFamily="18" charset="0"/>
                <a:cs typeface="Times New Roman" panose="02020603050405020304" pitchFamily="18" charset="0"/>
              </a:rPr>
              <a:t>prepareStatement() </a:t>
            </a:r>
            <a:r>
              <a:rPr lang="en-US" altLang="ja-JP" sz="2000">
                <a:latin typeface="Times New Roman" panose="02020603050405020304" pitchFamily="18" charset="0"/>
                <a:cs typeface="Times New Roman" panose="02020603050405020304" pitchFamily="18" charset="0"/>
              </a:rPr>
              <a:t>để chuẩn bị query</a:t>
            </a:r>
            <a:endParaRPr lang="en-US" altLang="ja-JP" sz="20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75F4233-D4CA-439D-8D8A-19B2BE2AD796}"/>
              </a:ext>
            </a:extLst>
          </p:cNvPr>
          <p:cNvPicPr>
            <a:picLocks noChangeAspect="1"/>
          </p:cNvPicPr>
          <p:nvPr/>
        </p:nvPicPr>
        <p:blipFill rotWithShape="1">
          <a:blip r:embed="rId4"/>
          <a:srcRect l="4490" t="6027" r="4914" b="3964"/>
          <a:stretch/>
        </p:blipFill>
        <p:spPr>
          <a:xfrm>
            <a:off x="6212545" y="4410464"/>
            <a:ext cx="5486400" cy="2440686"/>
          </a:xfrm>
          <a:prstGeom prst="rect">
            <a:avLst/>
          </a:prstGeom>
          <a:ln>
            <a:solidFill>
              <a:schemeClr val="accent6">
                <a:lumMod val="75000"/>
              </a:schemeClr>
            </a:solidFill>
          </a:ln>
        </p:spPr>
      </p:pic>
      <p:pic>
        <p:nvPicPr>
          <p:cNvPr id="10" name="Picture 9">
            <a:extLst>
              <a:ext uri="{FF2B5EF4-FFF2-40B4-BE49-F238E27FC236}">
                <a16:creationId xmlns:a16="http://schemas.microsoft.com/office/drawing/2014/main" id="{5148105A-6A9D-7799-5296-A3E4A30B8DB4}"/>
              </a:ext>
            </a:extLst>
          </p:cNvPr>
          <p:cNvPicPr>
            <a:picLocks noChangeAspect="1"/>
          </p:cNvPicPr>
          <p:nvPr/>
        </p:nvPicPr>
        <p:blipFill>
          <a:blip r:embed="rId5"/>
          <a:stretch>
            <a:fillRect/>
          </a:stretch>
        </p:blipFill>
        <p:spPr>
          <a:xfrm>
            <a:off x="6212427" y="642313"/>
            <a:ext cx="4581079" cy="2312606"/>
          </a:xfrm>
          <a:prstGeom prst="rect">
            <a:avLst/>
          </a:prstGeom>
          <a:ln>
            <a:solidFill>
              <a:schemeClr val="tx2"/>
            </a:solidFill>
          </a:ln>
        </p:spPr>
      </p:pic>
    </p:spTree>
    <p:extLst>
      <p:ext uri="{BB962C8B-B14F-4D97-AF65-F5344CB8AC3E}">
        <p14:creationId xmlns:p14="http://schemas.microsoft.com/office/powerpoint/2010/main" val="4091575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Kiểm soát truy vấn cơ sở dữ liệu để tránh lỗ hổng SQL Injection</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394446" y="825864"/>
            <a:ext cx="6176682" cy="1218883"/>
          </a:xfrm>
        </p:spPr>
        <p:txBody>
          <a:bodyPr>
            <a:normAutofit fontScale="92500"/>
          </a:bodyPr>
          <a:lstStyle/>
          <a:p>
            <a:pPr eaLnBrk="1" hangingPunct="1"/>
            <a:r>
              <a:rPr lang="en-US" altLang="ja-JP" sz="2000">
                <a:latin typeface="Times New Roman" panose="02020603050405020304" pitchFamily="18" charset="0"/>
                <a:cs typeface="Times New Roman" panose="02020603050405020304" pitchFamily="18" charset="0"/>
              </a:rPr>
              <a:t>Ví dụ:</a:t>
            </a:r>
          </a:p>
          <a:p>
            <a:pPr marL="0" indent="0" eaLnBrk="1" hangingPunct="1">
              <a:buNone/>
            </a:pPr>
            <a:r>
              <a:rPr lang="en-US" altLang="ja-JP" sz="2000" b="1">
                <a:latin typeface="Times New Roman" panose="02020603050405020304" pitchFamily="18" charset="0"/>
                <a:cs typeface="Times New Roman" panose="02020603050405020304" pitchFamily="18" charset="0"/>
              </a:rPr>
              <a:t>Sử dụng order by trong câu truy vấn</a:t>
            </a:r>
          </a:p>
          <a:p>
            <a:pPr marL="0" indent="0" eaLnBrk="1" hangingPunct="1">
              <a:buNone/>
            </a:pPr>
            <a:r>
              <a:rPr lang="en-US" altLang="ja-JP" sz="2000">
                <a:latin typeface="Times New Roman" panose="02020603050405020304" pitchFamily="18" charset="0"/>
                <a:cs typeface="Times New Roman" panose="02020603050405020304" pitchFamily="18" charset="0"/>
              </a:rPr>
              <a:t>Ta có thể sử dụng 1 static String để lưu các bảng có thể order</a:t>
            </a:r>
          </a:p>
        </p:txBody>
      </p:sp>
      <p:pic>
        <p:nvPicPr>
          <p:cNvPr id="4" name="Picture 3">
            <a:extLst>
              <a:ext uri="{FF2B5EF4-FFF2-40B4-BE49-F238E27FC236}">
                <a16:creationId xmlns:a16="http://schemas.microsoft.com/office/drawing/2014/main" id="{F6E734FE-41CF-C587-E9AF-364A89395712}"/>
              </a:ext>
            </a:extLst>
          </p:cNvPr>
          <p:cNvPicPr>
            <a:picLocks noChangeAspect="1"/>
          </p:cNvPicPr>
          <p:nvPr/>
        </p:nvPicPr>
        <p:blipFill>
          <a:blip r:embed="rId3"/>
          <a:stretch>
            <a:fillRect/>
          </a:stretch>
        </p:blipFill>
        <p:spPr>
          <a:xfrm>
            <a:off x="394447" y="1909169"/>
            <a:ext cx="4823012" cy="3732820"/>
          </a:xfrm>
          <a:prstGeom prst="rect">
            <a:avLst/>
          </a:prstGeom>
          <a:ln>
            <a:solidFill>
              <a:schemeClr val="accent2"/>
            </a:solidFill>
          </a:ln>
        </p:spPr>
      </p:pic>
      <p:pic>
        <p:nvPicPr>
          <p:cNvPr id="12" name="Picture 11">
            <a:extLst>
              <a:ext uri="{FF2B5EF4-FFF2-40B4-BE49-F238E27FC236}">
                <a16:creationId xmlns:a16="http://schemas.microsoft.com/office/drawing/2014/main" id="{6887B255-21B5-A526-B2BB-5120E4E961AA}"/>
              </a:ext>
            </a:extLst>
          </p:cNvPr>
          <p:cNvPicPr>
            <a:picLocks noChangeAspect="1"/>
          </p:cNvPicPr>
          <p:nvPr/>
        </p:nvPicPr>
        <p:blipFill>
          <a:blip r:embed="rId4"/>
          <a:stretch>
            <a:fillRect/>
          </a:stretch>
        </p:blipFill>
        <p:spPr>
          <a:xfrm>
            <a:off x="5447498" y="1909168"/>
            <a:ext cx="6744501" cy="3631023"/>
          </a:xfrm>
          <a:prstGeom prst="rect">
            <a:avLst/>
          </a:prstGeom>
          <a:ln>
            <a:solidFill>
              <a:schemeClr val="accent2"/>
            </a:solidFill>
          </a:ln>
        </p:spPr>
      </p:pic>
      <p:sp>
        <p:nvSpPr>
          <p:cNvPr id="13" name="Content Placeholder 10">
            <a:extLst>
              <a:ext uri="{FF2B5EF4-FFF2-40B4-BE49-F238E27FC236}">
                <a16:creationId xmlns:a16="http://schemas.microsoft.com/office/drawing/2014/main" id="{FB880C7A-4C25-2303-E8AC-28A992DA982D}"/>
              </a:ext>
            </a:extLst>
          </p:cNvPr>
          <p:cNvSpPr txBox="1">
            <a:spLocks/>
          </p:cNvSpPr>
          <p:nvPr/>
        </p:nvSpPr>
        <p:spPr>
          <a:xfrm>
            <a:off x="394446" y="5639119"/>
            <a:ext cx="11797553" cy="1218882"/>
          </a:xfrm>
          <a:prstGeom prst="rect">
            <a:avLst/>
          </a:prstGeom>
        </p:spPr>
        <p:txBody>
          <a:bodyPr vert="horz" lIns="91440" tIns="45720" rIns="91440" bIns="45720" rtlCol="0">
            <a:normAutofit/>
          </a:bodyPr>
          <a:lstStyle>
            <a:lvl1pPr marL="371464" indent="-371464" algn="l" defTabSz="990570" rtl="0" eaLnBrk="1" latinLnBrk="0" hangingPunct="1">
              <a:spcBef>
                <a:spcPct val="20000"/>
              </a:spcBef>
              <a:buFont typeface="Arial" pitchFamily="34" charset="0"/>
              <a:buChar char="•"/>
              <a:defRPr sz="24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1pPr>
            <a:lvl2pPr marL="804838" indent="-309553" algn="l" defTabSz="990570" rtl="0" eaLnBrk="1" latinLnBrk="0" hangingPunct="1">
              <a:spcBef>
                <a:spcPct val="20000"/>
              </a:spcBef>
              <a:buFont typeface="Wingdings" panose="05000000000000000000" pitchFamily="2" charset="2"/>
              <a:buChar char="Ø"/>
              <a:defRPr sz="20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2pPr>
            <a:lvl3pPr marL="1238212" indent="-247642" algn="l" defTabSz="990570" rtl="0" eaLnBrk="1" latinLnBrk="0" hangingPunct="1">
              <a:spcBef>
                <a:spcPct val="20000"/>
              </a:spcBef>
              <a:buFont typeface="Wingdings" panose="05000000000000000000" pitchFamily="2" charset="2"/>
              <a:buChar char="u"/>
              <a:defRPr sz="1600" kern="1200" baseline="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defRPr>
            </a:lvl3pPr>
            <a:lvl4pPr marL="1733497" indent="-247642" algn="l" defTabSz="990570" rtl="0" eaLnBrk="1" latinLnBrk="0" hangingPunct="1">
              <a:spcBef>
                <a:spcPct val="20000"/>
              </a:spcBef>
              <a:buFont typeface="Arial" pitchFamily="34" charset="0"/>
              <a:buChar char="–"/>
              <a:defRPr sz="1950" kern="1200">
                <a:solidFill>
                  <a:schemeClr val="tx1"/>
                </a:solidFill>
                <a:latin typeface="メイリオ" panose="020B0604030504040204" pitchFamily="50" charset="-128"/>
                <a:ea typeface="メイリオ" panose="020B0604030504040204" pitchFamily="50" charset="-128"/>
                <a:cs typeface="+mn-cs"/>
              </a:defRPr>
            </a:lvl4pPr>
            <a:lvl5pPr marL="2228781" indent="-247642" algn="l" defTabSz="990570" rtl="0" eaLnBrk="1" latinLnBrk="0" hangingPunct="1">
              <a:spcBef>
                <a:spcPct val="20000"/>
              </a:spcBef>
              <a:buFont typeface="Arial" pitchFamily="34" charset="0"/>
              <a:buChar char="»"/>
              <a:defRPr sz="1950" kern="1200">
                <a:solidFill>
                  <a:schemeClr val="tx1"/>
                </a:solidFill>
                <a:latin typeface="メイリオ" panose="020B0604030504040204" pitchFamily="50" charset="-128"/>
                <a:ea typeface="メイリオ" panose="020B0604030504040204" pitchFamily="50" charset="-128"/>
                <a:cs typeface="+mn-cs"/>
              </a:defRPr>
            </a:lvl5pPr>
            <a:lvl6pPr marL="272406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6pPr>
            <a:lvl7pPr marL="3219351"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7pPr>
            <a:lvl8pPr marL="3714636"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8pPr>
            <a:lvl9pPr marL="4209920" indent="-247642" algn="l" defTabSz="990570" rtl="0" eaLnBrk="1" latinLnBrk="0" hangingPunct="1">
              <a:spcBef>
                <a:spcPct val="20000"/>
              </a:spcBef>
              <a:buFont typeface="Arial" pitchFamily="34" charset="0"/>
              <a:buChar char="•"/>
              <a:defRPr sz="2167" kern="1200">
                <a:solidFill>
                  <a:schemeClr val="tx1"/>
                </a:solidFill>
                <a:latin typeface="+mn-lt"/>
                <a:ea typeface="+mn-ea"/>
                <a:cs typeface="+mn-cs"/>
              </a:defRPr>
            </a:lvl9pPr>
          </a:lstStyle>
          <a:p>
            <a:r>
              <a:rPr lang="en-US" altLang="ja-JP" sz="2000">
                <a:latin typeface="Times New Roman" panose="02020603050405020304" pitchFamily="18" charset="0"/>
                <a:cs typeface="Times New Roman" panose="02020603050405020304" pitchFamily="18" charset="0"/>
              </a:rPr>
              <a:t>Tham khảo:</a:t>
            </a:r>
          </a:p>
          <a:p>
            <a:pPr marL="0" indent="0">
              <a:buNone/>
            </a:pPr>
            <a:r>
              <a:rPr lang="en-US" altLang="ja-JP" sz="2000">
                <a:latin typeface="Times New Roman" panose="02020603050405020304" pitchFamily="18" charset="0"/>
                <a:cs typeface="Times New Roman" panose="02020603050405020304" pitchFamily="18" charset="0"/>
                <a:hlinkClick r:id="rId5"/>
              </a:rPr>
              <a:t>https://www.baeldung.com/sql-injection</a:t>
            </a:r>
            <a:r>
              <a:rPr lang="en-US" altLang="ja-JP" sz="2000">
                <a:latin typeface="Times New Roman" panose="02020603050405020304" pitchFamily="18" charset="0"/>
                <a:cs typeface="Times New Roman" panose="02020603050405020304" pitchFamily="18" charset="0"/>
              </a:rPr>
              <a:t> </a:t>
            </a:r>
          </a:p>
          <a:p>
            <a:pPr marL="0" indent="0">
              <a:buNone/>
            </a:pPr>
            <a:r>
              <a:rPr lang="en-US" altLang="ja-JP" sz="2000">
                <a:latin typeface="Times New Roman" panose="02020603050405020304" pitchFamily="18" charset="0"/>
                <a:cs typeface="Times New Roman" panose="02020603050405020304" pitchFamily="18" charset="0"/>
                <a:hlinkClick r:id="rId6"/>
              </a:rPr>
              <a:t>https://www.w3schools.com/sql/sql_injection.asp</a:t>
            </a:r>
            <a:r>
              <a:rPr lang="en-US" altLang="ja-JP" sz="20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78939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Xử lý dữ liệu đầu vào để tránh lỗ hổng XSS (Cross Site Scripting)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575387" y="883720"/>
            <a:ext cx="11520000" cy="5974280"/>
          </a:xfrm>
        </p:spPr>
        <p:txBody>
          <a:bodyPr>
            <a:normAutofit fontScale="92500" lnSpcReduction="10000"/>
          </a:bodyPr>
          <a:lstStyle/>
          <a:p>
            <a:pPr eaLnBrk="1" hangingPunct="1"/>
            <a:r>
              <a:rPr lang="en-US" altLang="ja-JP" sz="2800">
                <a:latin typeface="Times New Roman" panose="02020603050405020304" pitchFamily="18" charset="0"/>
                <a:cs typeface="Times New Roman" panose="02020603050405020304" pitchFamily="18" charset="0"/>
              </a:rPr>
              <a:t>Nguy cơ</a:t>
            </a:r>
          </a:p>
          <a:p>
            <a:pPr lvl="1" eaLnBrk="1" hangingPunct="1"/>
            <a:r>
              <a:rPr lang="en-US" altLang="ja-JP" sz="2400">
                <a:latin typeface="Times New Roman" panose="02020603050405020304" pitchFamily="18" charset="0"/>
                <a:cs typeface="Times New Roman" panose="02020603050405020304" pitchFamily="18" charset="0"/>
              </a:rPr>
              <a:t>Kết quả server trả về cho người dùng chủ yếu dưới dạng HTML. Nội dung trả về thường bao gồm cả những giá trị mà người dùng nhập vào hệ thống có thể bị mắc lỗi XSS nếu không kiểm soát dữ liệu đầu vào.</a:t>
            </a:r>
          </a:p>
          <a:p>
            <a:pPr lvl="1" eaLnBrk="1" hangingPunct="1"/>
            <a:r>
              <a:rPr lang="en-US" altLang="ja-JP" sz="2400">
                <a:latin typeface="Times New Roman" panose="02020603050405020304" pitchFamily="18" charset="0"/>
                <a:cs typeface="Times New Roman" panose="02020603050405020304" pitchFamily="18" charset="0"/>
              </a:rPr>
              <a:t>XSS là một kỹ thuật tấn công bằng cách chèn vào website động (ASP, PHP, CGI, JSP,…) những thẻ HTML hay những đoạn mã script nguy hiểm có thể gây nguy hại cho những người sử dụng khác. Trong đó những đoạn mã nguy hiểm được chèn vào hầu hết được viết bằng các Client – Site như JavaScript, Jscript, DHTML và cũng có thể là các thẻ HTML</a:t>
            </a:r>
          </a:p>
          <a:p>
            <a:pPr eaLnBrk="1" hangingPunct="1"/>
            <a:r>
              <a:rPr lang="en-US" altLang="en-US" sz="2800">
                <a:latin typeface="Times New Roman" panose="02020603050405020304" pitchFamily="18" charset="0"/>
                <a:ea typeface="HGP明朝E" panose="02020800000000000000" pitchFamily="18" charset="-128"/>
                <a:cs typeface="Times New Roman" panose="02020603050405020304" pitchFamily="18" charset="0"/>
              </a:rPr>
              <a:t>Phòng chống:</a:t>
            </a:r>
          </a:p>
          <a:p>
            <a:pPr lvl="1" eaLnBrk="1" hangingPunct="1"/>
            <a:r>
              <a:rPr lang="en-US" altLang="en-US" sz="2400">
                <a:latin typeface="Times New Roman" panose="02020603050405020304" pitchFamily="18" charset="0"/>
                <a:ea typeface="HGP明朝E" panose="02020800000000000000" pitchFamily="18" charset="-128"/>
                <a:cs typeface="Times New Roman" panose="02020603050405020304" pitchFamily="18" charset="0"/>
              </a:rPr>
              <a:t>Data validation: xác thực đầu vào</a:t>
            </a:r>
          </a:p>
          <a:p>
            <a:pPr lvl="1" eaLnBrk="1" hangingPunct="1"/>
            <a:r>
              <a:rPr lang="en-US" altLang="en-US" sz="2400">
                <a:latin typeface="Times New Roman" panose="02020603050405020304" pitchFamily="18" charset="0"/>
                <a:ea typeface="HGP明朝E" panose="02020800000000000000" pitchFamily="18" charset="-128"/>
                <a:cs typeface="Times New Roman" panose="02020603050405020304" pitchFamily="18" charset="0"/>
              </a:rPr>
              <a:t>Filtering: lọc đầu vào của người dung (lọc các từ khóa nguy hiểm trong textbox và xóa hoặc thay thế bằng chuỗi rỗng).</a:t>
            </a:r>
          </a:p>
          <a:p>
            <a:pPr lvl="1" eaLnBrk="1" hangingPunct="1"/>
            <a:r>
              <a:rPr lang="en-US" altLang="en-US" sz="2400">
                <a:latin typeface="Times New Roman" panose="02020603050405020304" pitchFamily="18" charset="0"/>
                <a:ea typeface="HGP明朝E" panose="02020800000000000000" pitchFamily="18" charset="-128"/>
                <a:cs typeface="Times New Roman" panose="02020603050405020304" pitchFamily="18" charset="0"/>
              </a:rPr>
              <a:t>Escaping: endcode dưới dạng HTML các ký tự đặc biệt do client gửi đến bao gồm: &lt;, &gt;, &amp;, ‘, “, / trong các trường trường hợp</a:t>
            </a:r>
          </a:p>
          <a:p>
            <a:pPr lvl="2" eaLnBrk="1" hangingPunct="1"/>
            <a:r>
              <a:rPr lang="en-US" altLang="en-US" sz="2000">
                <a:latin typeface="Times New Roman" panose="02020603050405020304" pitchFamily="18" charset="0"/>
                <a:ea typeface="HGP明朝E" panose="02020800000000000000" pitchFamily="18" charset="-128"/>
                <a:cs typeface="Times New Roman" panose="02020603050405020304" pitchFamily="18" charset="0"/>
              </a:rPr>
              <a:t>Dữ liệu client gửi lên máy chủ</a:t>
            </a:r>
          </a:p>
          <a:p>
            <a:pPr lvl="2" eaLnBrk="1" hangingPunct="1"/>
            <a:r>
              <a:rPr lang="en-US" altLang="en-US" sz="2000">
                <a:latin typeface="Times New Roman" panose="02020603050405020304" pitchFamily="18" charset="0"/>
                <a:ea typeface="HGP明朝E" panose="02020800000000000000" pitchFamily="18" charset="-128"/>
                <a:cs typeface="Times New Roman" panose="02020603050405020304" pitchFamily="18" charset="0"/>
              </a:rPr>
              <a:t>Dữ liệu lấy ra từ database khi trả về cho client</a:t>
            </a:r>
            <a:endParaRPr lang="en-US" altLang="ja-JP">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332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Xử lý dữ liệu đầu vào để tránh lỗ hổng XSS (Cross Site Scripting)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575387" y="883720"/>
            <a:ext cx="11520000" cy="954045"/>
          </a:xfrm>
        </p:spPr>
        <p:txBody>
          <a:bodyPr>
            <a:normAutofit/>
          </a:bodyPr>
          <a:lstStyle/>
          <a:p>
            <a:pPr eaLnBrk="1" hangingPunct="1"/>
            <a:r>
              <a:rPr lang="vi-VN" altLang="ja-JP">
                <a:latin typeface="Times New Roman" panose="02020603050405020304" pitchFamily="18" charset="0"/>
                <a:cs typeface="Times New Roman" panose="02020603050405020304" pitchFamily="18" charset="0"/>
              </a:rPr>
              <a:t>Bản chất của encode là thay thế các ký tự trên bằng chuỗi tương ứng trong bảng bên dưới</a:t>
            </a:r>
          </a:p>
        </p:txBody>
      </p:sp>
      <p:graphicFrame>
        <p:nvGraphicFramePr>
          <p:cNvPr id="3" name="Table 2">
            <a:extLst>
              <a:ext uri="{FF2B5EF4-FFF2-40B4-BE49-F238E27FC236}">
                <a16:creationId xmlns:a16="http://schemas.microsoft.com/office/drawing/2014/main" id="{B98B5611-B2E4-5826-63DA-F03D68A466D1}"/>
              </a:ext>
            </a:extLst>
          </p:cNvPr>
          <p:cNvGraphicFramePr>
            <a:graphicFrameLocks noGrp="1"/>
          </p:cNvGraphicFramePr>
          <p:nvPr>
            <p:extLst>
              <p:ext uri="{D42A27DB-BD31-4B8C-83A1-F6EECF244321}">
                <p14:modId xmlns:p14="http://schemas.microsoft.com/office/powerpoint/2010/main" val="4166828481"/>
              </p:ext>
            </p:extLst>
          </p:nvPr>
        </p:nvGraphicFramePr>
        <p:xfrm>
          <a:off x="2920953" y="2045821"/>
          <a:ext cx="6350094" cy="2766358"/>
        </p:xfrm>
        <a:graphic>
          <a:graphicData uri="http://schemas.openxmlformats.org/drawingml/2006/table">
            <a:tbl>
              <a:tblPr firstRow="1" bandRow="1">
                <a:tableStyleId>{21E4AEA4-8DFA-4A89-87EB-49C32662AFE0}</a:tableStyleId>
              </a:tblPr>
              <a:tblGrid>
                <a:gridCol w="2116698">
                  <a:extLst>
                    <a:ext uri="{9D8B030D-6E8A-4147-A177-3AD203B41FA5}">
                      <a16:colId xmlns:a16="http://schemas.microsoft.com/office/drawing/2014/main" val="20000"/>
                    </a:ext>
                  </a:extLst>
                </a:gridCol>
                <a:gridCol w="2116698">
                  <a:extLst>
                    <a:ext uri="{9D8B030D-6E8A-4147-A177-3AD203B41FA5}">
                      <a16:colId xmlns:a16="http://schemas.microsoft.com/office/drawing/2014/main" val="20001"/>
                    </a:ext>
                  </a:extLst>
                </a:gridCol>
                <a:gridCol w="2116698">
                  <a:extLst>
                    <a:ext uri="{9D8B030D-6E8A-4147-A177-3AD203B41FA5}">
                      <a16:colId xmlns:a16="http://schemas.microsoft.com/office/drawing/2014/main" val="20002"/>
                    </a:ext>
                  </a:extLst>
                </a:gridCol>
              </a:tblGrid>
              <a:tr h="395194">
                <a:tc>
                  <a:txBody>
                    <a:bodyPr/>
                    <a:lstStyle/>
                    <a:p>
                      <a:pPr algn="ctr"/>
                      <a:r>
                        <a:rPr lang="en-US" sz="1800">
                          <a:latin typeface="Times New Roman" panose="02020603050405020304" pitchFamily="18" charset="0"/>
                          <a:cs typeface="Times New Roman" panose="02020603050405020304" pitchFamily="18" charset="0"/>
                        </a:rPr>
                        <a:t>STT</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Ký</a:t>
                      </a:r>
                      <a:r>
                        <a:rPr lang="en-US" sz="1800" baseline="0">
                          <a:latin typeface="Times New Roman" panose="02020603050405020304" pitchFamily="18" charset="0"/>
                          <a:cs typeface="Times New Roman" panose="02020603050405020304" pitchFamily="18" charset="0"/>
                        </a:rPr>
                        <a:t> tự</a:t>
                      </a:r>
                      <a:endParaRPr lang="en-US" sz="1800">
                        <a:latin typeface="Times New Roman" panose="02020603050405020304" pitchFamily="18" charset="0"/>
                        <a:cs typeface="Times New Roman" panose="02020603050405020304" pitchFamily="18" charset="0"/>
                      </a:endParaRPr>
                    </a:p>
                  </a:txBody>
                  <a:tcPr marT="45714" marB="45714"/>
                </a:tc>
                <a:tc>
                  <a:txBody>
                    <a:bodyPr/>
                    <a:lstStyle/>
                    <a:p>
                      <a:pPr algn="ctr"/>
                      <a:r>
                        <a:rPr lang="en-US" sz="1800">
                          <a:latin typeface="Times New Roman" panose="02020603050405020304" pitchFamily="18" charset="0"/>
                          <a:cs typeface="Times New Roman" panose="02020603050405020304" pitchFamily="18" charset="0"/>
                        </a:rPr>
                        <a:t>HTML</a:t>
                      </a:r>
                    </a:p>
                  </a:txBody>
                  <a:tcPr marT="45714" marB="45714"/>
                </a:tc>
                <a:extLst>
                  <a:ext uri="{0D108BD9-81ED-4DB2-BD59-A6C34878D82A}">
                    <a16:rowId xmlns:a16="http://schemas.microsoft.com/office/drawing/2014/main" val="10000"/>
                  </a:ext>
                </a:extLst>
              </a:tr>
              <a:tr h="395194">
                <a:tc>
                  <a:txBody>
                    <a:bodyPr/>
                    <a:lstStyle/>
                    <a:p>
                      <a:pPr algn="ctr"/>
                      <a:r>
                        <a:rPr lang="en-US" sz="1800">
                          <a:latin typeface="Times New Roman" panose="02020603050405020304" pitchFamily="18" charset="0"/>
                          <a:cs typeface="Times New Roman" panose="02020603050405020304" pitchFamily="18" charset="0"/>
                        </a:rPr>
                        <a:t>1</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a:t>
                      </a:r>
                    </a:p>
                  </a:txBody>
                  <a:tcPr marT="45714" marB="45714"/>
                </a:tc>
                <a:tc>
                  <a:txBody>
                    <a:bodyPr/>
                    <a:lstStyle/>
                    <a:p>
                      <a:r>
                        <a:rPr lang="en-US" sz="1800">
                          <a:latin typeface="Times New Roman" panose="02020603050405020304" pitchFamily="18" charset="0"/>
                          <a:cs typeface="Times New Roman" panose="02020603050405020304" pitchFamily="18" charset="0"/>
                        </a:rPr>
                        <a:t>&amp;quot;</a:t>
                      </a:r>
                    </a:p>
                  </a:txBody>
                  <a:tcPr marT="45714" marB="45714"/>
                </a:tc>
                <a:extLst>
                  <a:ext uri="{0D108BD9-81ED-4DB2-BD59-A6C34878D82A}">
                    <a16:rowId xmlns:a16="http://schemas.microsoft.com/office/drawing/2014/main" val="10001"/>
                  </a:ext>
                </a:extLst>
              </a:tr>
              <a:tr h="395194">
                <a:tc>
                  <a:txBody>
                    <a:bodyPr/>
                    <a:lstStyle/>
                    <a:p>
                      <a:pPr algn="ctr"/>
                      <a:r>
                        <a:rPr lang="en-US" sz="1800">
                          <a:latin typeface="Times New Roman" panose="02020603050405020304" pitchFamily="18" charset="0"/>
                          <a:cs typeface="Times New Roman" panose="02020603050405020304" pitchFamily="18" charset="0"/>
                        </a:rPr>
                        <a:t>2</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&amp;</a:t>
                      </a:r>
                    </a:p>
                  </a:txBody>
                  <a:tcPr marT="45714" marB="45714"/>
                </a:tc>
                <a:tc>
                  <a:txBody>
                    <a:bodyPr/>
                    <a:lstStyle/>
                    <a:p>
                      <a:r>
                        <a:rPr lang="en-US" sz="1800">
                          <a:latin typeface="Times New Roman" panose="02020603050405020304" pitchFamily="18" charset="0"/>
                          <a:cs typeface="Times New Roman" panose="02020603050405020304" pitchFamily="18" charset="0"/>
                        </a:rPr>
                        <a:t>&amp;amp;</a:t>
                      </a:r>
                    </a:p>
                  </a:txBody>
                  <a:tcPr marT="45714" marB="45714"/>
                </a:tc>
                <a:extLst>
                  <a:ext uri="{0D108BD9-81ED-4DB2-BD59-A6C34878D82A}">
                    <a16:rowId xmlns:a16="http://schemas.microsoft.com/office/drawing/2014/main" val="10002"/>
                  </a:ext>
                </a:extLst>
              </a:tr>
              <a:tr h="395194">
                <a:tc>
                  <a:txBody>
                    <a:bodyPr/>
                    <a:lstStyle/>
                    <a:p>
                      <a:pPr algn="ctr"/>
                      <a:r>
                        <a:rPr lang="en-US" sz="1800">
                          <a:latin typeface="Times New Roman" panose="02020603050405020304" pitchFamily="18" charset="0"/>
                          <a:cs typeface="Times New Roman" panose="02020603050405020304" pitchFamily="18" charset="0"/>
                        </a:rPr>
                        <a:t>3</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a:t>
                      </a:r>
                    </a:p>
                  </a:txBody>
                  <a:tcPr marT="45714" marB="45714"/>
                </a:tc>
                <a:tc>
                  <a:txBody>
                    <a:bodyPr/>
                    <a:lstStyle/>
                    <a:p>
                      <a:r>
                        <a:rPr lang="en-US" sz="1800">
                          <a:latin typeface="Times New Roman" panose="02020603050405020304" pitchFamily="18" charset="0"/>
                          <a:cs typeface="Times New Roman" panose="02020603050405020304" pitchFamily="18" charset="0"/>
                        </a:rPr>
                        <a:t>&amp;#x27;</a:t>
                      </a:r>
                    </a:p>
                  </a:txBody>
                  <a:tcPr marT="45714" marB="45714"/>
                </a:tc>
                <a:extLst>
                  <a:ext uri="{0D108BD9-81ED-4DB2-BD59-A6C34878D82A}">
                    <a16:rowId xmlns:a16="http://schemas.microsoft.com/office/drawing/2014/main" val="10003"/>
                  </a:ext>
                </a:extLst>
              </a:tr>
              <a:tr h="395194">
                <a:tc>
                  <a:txBody>
                    <a:bodyPr/>
                    <a:lstStyle/>
                    <a:p>
                      <a:pPr algn="ctr"/>
                      <a:r>
                        <a:rPr lang="en-US" sz="1800">
                          <a:latin typeface="Times New Roman" panose="02020603050405020304" pitchFamily="18" charset="0"/>
                          <a:cs typeface="Times New Roman" panose="02020603050405020304" pitchFamily="18" charset="0"/>
                        </a:rPr>
                        <a:t>4</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a:t>
                      </a:r>
                    </a:p>
                  </a:txBody>
                  <a:tcPr marT="45714" marB="45714"/>
                </a:tc>
                <a:tc>
                  <a:txBody>
                    <a:bodyPr/>
                    <a:lstStyle/>
                    <a:p>
                      <a:r>
                        <a:rPr lang="en-US" sz="1800">
                          <a:latin typeface="Times New Roman" panose="02020603050405020304" pitchFamily="18" charset="0"/>
                          <a:cs typeface="Times New Roman" panose="02020603050405020304" pitchFamily="18" charset="0"/>
                        </a:rPr>
                        <a:t>&amp;#x2F</a:t>
                      </a:r>
                    </a:p>
                  </a:txBody>
                  <a:tcPr marT="45714" marB="45714"/>
                </a:tc>
                <a:extLst>
                  <a:ext uri="{0D108BD9-81ED-4DB2-BD59-A6C34878D82A}">
                    <a16:rowId xmlns:a16="http://schemas.microsoft.com/office/drawing/2014/main" val="10004"/>
                  </a:ext>
                </a:extLst>
              </a:tr>
              <a:tr h="395194">
                <a:tc>
                  <a:txBody>
                    <a:bodyPr/>
                    <a:lstStyle/>
                    <a:p>
                      <a:pPr algn="ctr"/>
                      <a:r>
                        <a:rPr lang="en-US" sz="1800">
                          <a:latin typeface="Times New Roman" panose="02020603050405020304" pitchFamily="18" charset="0"/>
                          <a:cs typeface="Times New Roman" panose="02020603050405020304" pitchFamily="18" charset="0"/>
                        </a:rPr>
                        <a:t>5</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&lt;</a:t>
                      </a:r>
                    </a:p>
                  </a:txBody>
                  <a:tcPr marT="45714" marB="45714"/>
                </a:tc>
                <a:tc>
                  <a:txBody>
                    <a:bodyPr/>
                    <a:lstStyle/>
                    <a:p>
                      <a:r>
                        <a:rPr lang="en-US" sz="1800">
                          <a:latin typeface="Times New Roman" panose="02020603050405020304" pitchFamily="18" charset="0"/>
                          <a:cs typeface="Times New Roman" panose="02020603050405020304" pitchFamily="18" charset="0"/>
                        </a:rPr>
                        <a:t>&amp;lt;</a:t>
                      </a:r>
                    </a:p>
                  </a:txBody>
                  <a:tcPr marT="45714" marB="45714"/>
                </a:tc>
                <a:extLst>
                  <a:ext uri="{0D108BD9-81ED-4DB2-BD59-A6C34878D82A}">
                    <a16:rowId xmlns:a16="http://schemas.microsoft.com/office/drawing/2014/main" val="10005"/>
                  </a:ext>
                </a:extLst>
              </a:tr>
              <a:tr h="395194">
                <a:tc>
                  <a:txBody>
                    <a:bodyPr/>
                    <a:lstStyle/>
                    <a:p>
                      <a:pPr algn="ctr"/>
                      <a:r>
                        <a:rPr lang="en-US" sz="1800">
                          <a:latin typeface="Times New Roman" panose="02020603050405020304" pitchFamily="18" charset="0"/>
                          <a:cs typeface="Times New Roman" panose="02020603050405020304" pitchFamily="18" charset="0"/>
                        </a:rPr>
                        <a:t>6</a:t>
                      </a:r>
                    </a:p>
                  </a:txBody>
                  <a:tcPr marT="45714" marB="45714"/>
                </a:tc>
                <a:tc>
                  <a:txBody>
                    <a:bodyPr/>
                    <a:lstStyle/>
                    <a:p>
                      <a:pPr algn="ctr"/>
                      <a:r>
                        <a:rPr lang="en-US" sz="1800">
                          <a:latin typeface="Times New Roman" panose="02020603050405020304" pitchFamily="18" charset="0"/>
                          <a:cs typeface="Times New Roman" panose="02020603050405020304" pitchFamily="18" charset="0"/>
                        </a:rPr>
                        <a:t>&gt;</a:t>
                      </a:r>
                    </a:p>
                  </a:txBody>
                  <a:tcPr marT="45714" marB="45714"/>
                </a:tc>
                <a:tc>
                  <a:txBody>
                    <a:bodyPr/>
                    <a:lstStyle/>
                    <a:p>
                      <a:r>
                        <a:rPr lang="en-US" sz="1800">
                          <a:latin typeface="Times New Roman" panose="02020603050405020304" pitchFamily="18" charset="0"/>
                          <a:cs typeface="Times New Roman" panose="02020603050405020304" pitchFamily="18" charset="0"/>
                        </a:rPr>
                        <a:t>&amp;gt;</a:t>
                      </a:r>
                    </a:p>
                  </a:txBody>
                  <a:tcPr marT="45714" marB="45714"/>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62299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Xử lý dữ liệu đầu vào để tránh lỗ hổng XSS (Cross Site Scripting)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575387" y="883720"/>
            <a:ext cx="5063413" cy="5104704"/>
          </a:xfrm>
        </p:spPr>
        <p:txBody>
          <a:bodyPr>
            <a:normAutofit lnSpcReduction="10000"/>
          </a:bodyPr>
          <a:lstStyle/>
          <a:p>
            <a:pPr eaLnBrk="1" hangingPunct="1"/>
            <a:r>
              <a:rPr lang="en-US" altLang="ja-JP" b="1">
                <a:latin typeface="Times New Roman" panose="02020603050405020304" pitchFamily="18" charset="0"/>
                <a:cs typeface="Times New Roman" panose="02020603050405020304" pitchFamily="18" charset="0"/>
              </a:rPr>
              <a:t>Ví dụ:</a:t>
            </a:r>
          </a:p>
          <a:p>
            <a:pPr marL="0" indent="0" eaLnBrk="1" hangingPunct="1">
              <a:buNone/>
            </a:pPr>
            <a:r>
              <a:rPr lang="en-US" altLang="ja-JP">
                <a:latin typeface="Times New Roman" panose="02020603050405020304" pitchFamily="18" charset="0"/>
                <a:cs typeface="Times New Roman" panose="02020603050405020304" pitchFamily="18" charset="0"/>
              </a:rPr>
              <a:t>Trong 1 form thông thường như hình minh họa, ở dropdown có nội dung:</a:t>
            </a:r>
          </a:p>
          <a:p>
            <a:pPr marL="0" indent="0" eaLnBrk="1" hangingPunct="1">
              <a:buNone/>
            </a:pPr>
            <a:r>
              <a:rPr lang="en-US" altLang="ja-JP">
                <a:latin typeface="Times New Roman" panose="02020603050405020304" pitchFamily="18" charset="0"/>
                <a:cs typeface="Times New Roman" panose="02020603050405020304" pitchFamily="18" charset="0"/>
              </a:rPr>
              <a:t>message=&lt;label&gt;Gender&lt;/label&gt;</a:t>
            </a:r>
          </a:p>
          <a:p>
            <a:pPr marL="0" indent="0" eaLnBrk="1" hangingPunct="1">
              <a:buNone/>
            </a:pPr>
            <a:r>
              <a:rPr lang="en-US" altLang="ja-JP">
                <a:latin typeface="Times New Roman" panose="02020603050405020304" pitchFamily="18" charset="0"/>
                <a:cs typeface="Times New Roman" panose="02020603050405020304" pitchFamily="18" charset="0"/>
              </a:rPr>
              <a:t>&lt;select class = "form-control" onchange="java_script_:show()"&gt;&lt;option value="Male"&gt;Male&lt;/option&gt;&lt;option value="Female"&gt;Female&lt;/option&gt;&lt;/select&gt;</a:t>
            </a:r>
          </a:p>
          <a:p>
            <a:pPr marL="0" indent="0" eaLnBrk="1" hangingPunct="1">
              <a:buNone/>
            </a:pPr>
            <a:r>
              <a:rPr lang="en-US" altLang="ja-JP">
                <a:latin typeface="Times New Roman" panose="02020603050405020304" pitchFamily="18" charset="0"/>
                <a:cs typeface="Times New Roman" panose="02020603050405020304" pitchFamily="18" charset="0"/>
              </a:rPr>
              <a:t>&lt;script&gt;function show(){alert(“Hacked”);}&lt;/script&gt;</a:t>
            </a:r>
          </a:p>
          <a:p>
            <a:pPr marL="0" indent="0" eaLnBrk="1" hangingPunct="1">
              <a:buNone/>
            </a:pPr>
            <a:r>
              <a:rPr lang="en-US" altLang="ja-JP">
                <a:latin typeface="Times New Roman" panose="02020603050405020304" pitchFamily="18" charset="0"/>
                <a:cs typeface="Times New Roman" panose="02020603050405020304" pitchFamily="18" charset="0"/>
              </a:rPr>
              <a:t>=&gt; K</a:t>
            </a:r>
            <a:r>
              <a:rPr lang="vi-VN" altLang="ja-JP">
                <a:latin typeface="Times New Roman" panose="02020603050405020304" pitchFamily="18" charset="0"/>
                <a:cs typeface="Times New Roman" panose="02020603050405020304" pitchFamily="18" charset="0"/>
              </a:rPr>
              <a:t>hi </a:t>
            </a:r>
            <a:r>
              <a:rPr lang="en-US" altLang="ja-JP">
                <a:latin typeface="Times New Roman" panose="02020603050405020304" pitchFamily="18" charset="0"/>
                <a:cs typeface="Times New Roman" panose="02020603050405020304" pitchFamily="18" charset="0"/>
              </a:rPr>
              <a:t>người dùng </a:t>
            </a:r>
            <a:r>
              <a:rPr lang="vi-VN" altLang="ja-JP">
                <a:latin typeface="Times New Roman" panose="02020603050405020304" pitchFamily="18" charset="0"/>
                <a:cs typeface="Times New Roman" panose="02020603050405020304" pitchFamily="18" charset="0"/>
              </a:rPr>
              <a:t>lựa chọn giới tính, Script sẽ được thực thi</a:t>
            </a:r>
            <a:endParaRPr lang="en-US" altLang="ja-JP">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08AB81F-B14D-4467-4D9F-6D80BE3A7697}"/>
              </a:ext>
            </a:extLst>
          </p:cNvPr>
          <p:cNvPicPr>
            <a:picLocks noChangeAspect="1"/>
          </p:cNvPicPr>
          <p:nvPr/>
        </p:nvPicPr>
        <p:blipFill>
          <a:blip r:embed="rId3"/>
          <a:stretch>
            <a:fillRect/>
          </a:stretch>
        </p:blipFill>
        <p:spPr>
          <a:xfrm>
            <a:off x="5975816" y="1010490"/>
            <a:ext cx="4543425" cy="1914525"/>
          </a:xfrm>
          <a:prstGeom prst="rect">
            <a:avLst/>
          </a:prstGeom>
        </p:spPr>
      </p:pic>
      <p:pic>
        <p:nvPicPr>
          <p:cNvPr id="6" name="Picture 5">
            <a:extLst>
              <a:ext uri="{FF2B5EF4-FFF2-40B4-BE49-F238E27FC236}">
                <a16:creationId xmlns:a16="http://schemas.microsoft.com/office/drawing/2014/main" id="{36F21F62-31EB-E734-5D22-27FCCB0F1DCE}"/>
              </a:ext>
            </a:extLst>
          </p:cNvPr>
          <p:cNvPicPr>
            <a:picLocks noChangeAspect="1"/>
          </p:cNvPicPr>
          <p:nvPr/>
        </p:nvPicPr>
        <p:blipFill>
          <a:blip r:embed="rId4"/>
          <a:stretch>
            <a:fillRect/>
          </a:stretch>
        </p:blipFill>
        <p:spPr>
          <a:xfrm>
            <a:off x="5811090" y="3287823"/>
            <a:ext cx="5324385" cy="1425318"/>
          </a:xfrm>
          <a:prstGeom prst="rect">
            <a:avLst/>
          </a:prstGeom>
        </p:spPr>
      </p:pic>
    </p:spTree>
    <p:extLst>
      <p:ext uri="{BB962C8B-B14F-4D97-AF65-F5344CB8AC3E}">
        <p14:creationId xmlns:p14="http://schemas.microsoft.com/office/powerpoint/2010/main" val="2154761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96B8A62D-4F78-23C6-A673-21E1C3405324}"/>
              </a:ext>
            </a:extLst>
          </p:cNvPr>
          <p:cNvSpPr>
            <a:spLocks noGrp="1" noRot="1"/>
          </p:cNvSpPr>
          <p:nvPr>
            <p:ph idx="1"/>
          </p:nvPr>
        </p:nvSpPr>
        <p:spPr>
          <a:xfrm>
            <a:off x="1809750" y="2076450"/>
            <a:ext cx="8540750" cy="4781550"/>
          </a:xfrm>
        </p:spPr>
        <p:txBody>
          <a:bodyPr/>
          <a:lstStyle/>
          <a:p>
            <a:pPr eaLnBrk="1" hangingPunct="1">
              <a:lnSpc>
                <a:spcPct val="80000"/>
              </a:lnSpc>
            </a:pPr>
            <a:endParaRPr lang="en-US" altLang="en-US" sz="1900">
              <a:latin typeface="Times New Roman" panose="02020603050405020304" pitchFamily="18" charset="0"/>
              <a:ea typeface="HGP明朝E" panose="02020800000000000000" pitchFamily="18" charset="-128"/>
              <a:cs typeface="Times New Roman" panose="02020603050405020304" pitchFamily="18" charset="0"/>
            </a:endParaRPr>
          </a:p>
          <a:p>
            <a:pPr lvl="1" eaLnBrk="1" hangingPunct="1">
              <a:lnSpc>
                <a:spcPct val="80000"/>
              </a:lnSpc>
            </a:pPr>
            <a:endParaRPr lang="en-US" altLang="ja-JP">
              <a:latin typeface="Times New Roman" panose="02020603050405020304" pitchFamily="18" charset="0"/>
              <a:cs typeface="Times New Roman" panose="02020603050405020304" pitchFamily="18" charset="0"/>
            </a:endParaRPr>
          </a:p>
        </p:txBody>
      </p:sp>
      <p:pic>
        <p:nvPicPr>
          <p:cNvPr id="16387" name="Picture 3">
            <a:extLst>
              <a:ext uri="{FF2B5EF4-FFF2-40B4-BE49-F238E27FC236}">
                <a16:creationId xmlns:a16="http://schemas.microsoft.com/office/drawing/2014/main" id="{B591746B-836A-CD65-397E-949B046017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52675" y="1268414"/>
            <a:ext cx="6802438"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a:extLst>
              <a:ext uri="{FF2B5EF4-FFF2-40B4-BE49-F238E27FC236}">
                <a16:creationId xmlns:a16="http://schemas.microsoft.com/office/drawing/2014/main" id="{2050DEEA-3AFC-916E-A3BD-86782EC9D8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2997200"/>
            <a:ext cx="6815138"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A392038F-4ABE-E84E-6ADC-94E5CBF33465}"/>
              </a:ext>
            </a:extLst>
          </p:cNvPr>
          <p:cNvSpPr>
            <a:spLocks noGrp="1"/>
          </p:cNvSpPr>
          <p:nvPr>
            <p:ph type="title"/>
          </p:nvPr>
        </p:nvSpPr>
        <p:spPr>
          <a:xfrm>
            <a:off x="575388" y="215682"/>
            <a:ext cx="10633846" cy="432000"/>
          </a:xfrm>
        </p:spPr>
        <p:txBody>
          <a:bodyPr/>
          <a:lstStyle/>
          <a:p>
            <a:r>
              <a:rPr lang="en-US" altLang="ja-JP" sz="2800">
                <a:latin typeface="Times New Roman" panose="02020603050405020304" pitchFamily="18" charset="0"/>
                <a:cs typeface="Times New Roman" panose="02020603050405020304" pitchFamily="18" charset="0"/>
              </a:rPr>
              <a:t>Xử lý dữ liệu đầu vào để tránh lỗ hổng XSS (Cross Site Scripting)</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C7643578-7E38-FCBD-479A-AFA435222D07}"/>
              </a:ext>
            </a:extLst>
          </p:cNvPr>
          <p:cNvSpPr>
            <a:spLocks noGrp="1" noRot="1"/>
          </p:cNvSpPr>
          <p:nvPr>
            <p:ph idx="1"/>
          </p:nvPr>
        </p:nvSpPr>
        <p:spPr>
          <a:xfrm>
            <a:off x="1809750" y="2076450"/>
            <a:ext cx="8540750" cy="4781550"/>
          </a:xfrm>
        </p:spPr>
        <p:txBody>
          <a:bodyPr/>
          <a:lstStyle/>
          <a:p>
            <a:pPr eaLnBrk="1" hangingPunct="1">
              <a:lnSpc>
                <a:spcPct val="80000"/>
              </a:lnSpc>
            </a:pPr>
            <a:endParaRPr lang="en-US" altLang="en-US" sz="1900">
              <a:latin typeface="Times New Roman" panose="02020603050405020304" pitchFamily="18" charset="0"/>
              <a:ea typeface="HGP明朝E" panose="02020800000000000000" pitchFamily="18" charset="-128"/>
              <a:cs typeface="Times New Roman" panose="02020603050405020304" pitchFamily="18" charset="0"/>
            </a:endParaRPr>
          </a:p>
          <a:p>
            <a:pPr lvl="1" eaLnBrk="1" hangingPunct="1">
              <a:lnSpc>
                <a:spcPct val="80000"/>
              </a:lnSpc>
            </a:pPr>
            <a:endParaRPr lang="en-US" altLang="ja-JP">
              <a:latin typeface="Times New Roman" panose="02020603050405020304" pitchFamily="18" charset="0"/>
              <a:cs typeface="Times New Roman" panose="02020603050405020304" pitchFamily="18" charset="0"/>
            </a:endParaRPr>
          </a:p>
        </p:txBody>
      </p:sp>
      <p:pic>
        <p:nvPicPr>
          <p:cNvPr id="17411" name="Picture 1">
            <a:extLst>
              <a:ext uri="{FF2B5EF4-FFF2-40B4-BE49-F238E27FC236}">
                <a16:creationId xmlns:a16="http://schemas.microsoft.com/office/drawing/2014/main" id="{40586F34-E54B-F3B1-35A4-48A56876E8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5189" y="1196976"/>
            <a:ext cx="6408737" cy="543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93628201-6E4A-C94C-AEF2-F7F288A58A34}"/>
              </a:ext>
            </a:extLst>
          </p:cNvPr>
          <p:cNvSpPr>
            <a:spLocks noGrp="1"/>
          </p:cNvSpPr>
          <p:nvPr>
            <p:ph type="title"/>
          </p:nvPr>
        </p:nvSpPr>
        <p:spPr>
          <a:xfrm>
            <a:off x="575388" y="215682"/>
            <a:ext cx="10633846" cy="432000"/>
          </a:xfrm>
        </p:spPr>
        <p:txBody>
          <a:bodyPr/>
          <a:lstStyle/>
          <a:p>
            <a:r>
              <a:rPr lang="en-US" altLang="ja-JP" sz="2800">
                <a:latin typeface="Times New Roman" panose="02020603050405020304" pitchFamily="18" charset="0"/>
                <a:cs typeface="Times New Roman" panose="02020603050405020304" pitchFamily="18" charset="0"/>
              </a:rPr>
              <a:t>Xử lý dữ liệu đầu vào để tránh lỗ hổng XSS (Cross Site Scripting)</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Xử lý dữ liệu đầu vào để tránh lỗ hổng XSS (Cross Site Scripting)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575387" y="883720"/>
            <a:ext cx="11520000" cy="2545280"/>
          </a:xfrm>
        </p:spPr>
        <p:txBody>
          <a:bodyPr>
            <a:normAutofit fontScale="92500" lnSpcReduction="20000"/>
          </a:bodyPr>
          <a:lstStyle/>
          <a:p>
            <a:pPr eaLnBrk="1" hangingPunct="1"/>
            <a:r>
              <a:rPr lang="en-US" altLang="ja-JP">
                <a:latin typeface="Times New Roman" panose="02020603050405020304" pitchFamily="18" charset="0"/>
                <a:cs typeface="Times New Roman" panose="02020603050405020304" pitchFamily="18" charset="0"/>
              </a:rPr>
              <a:t>Ngoài ra, trong Spring Security có cung cấp 1 số headers bảo mật mặc định.</a:t>
            </a:r>
          </a:p>
          <a:p>
            <a:pPr eaLnBrk="1" hangingPunct="1"/>
            <a:r>
              <a:rPr lang="en-US" altLang="ja-JP">
                <a:latin typeface="Times New Roman" panose="02020603050405020304" pitchFamily="18" charset="0"/>
                <a:cs typeface="Times New Roman" panose="02020603050405020304" pitchFamily="18" charset="0"/>
              </a:rPr>
              <a:t>Ví dụ: X-XSS-Protection</a:t>
            </a:r>
          </a:p>
          <a:p>
            <a:pPr eaLnBrk="1" hangingPunct="1"/>
            <a:r>
              <a:rPr lang="en-US" altLang="ja-JP">
                <a:latin typeface="Times New Roman" panose="02020603050405020304" pitchFamily="18" charset="0"/>
                <a:cs typeface="Times New Roman" panose="02020603050405020304" pitchFamily="18" charset="0"/>
              </a:rPr>
              <a:t>Để sử dụng được header này, ta cần config XSS support trong lớp cấu hình Spring Security.</a:t>
            </a:r>
          </a:p>
          <a:p>
            <a:pPr eaLnBrk="1" hangingPunct="1"/>
            <a:r>
              <a:rPr lang="en-US" altLang="ja-JP">
                <a:latin typeface="Times New Roman" panose="02020603050405020304" pitchFamily="18" charset="0"/>
                <a:cs typeface="Times New Roman" panose="02020603050405020304" pitchFamily="18" charset="0"/>
              </a:rPr>
              <a:t>Tuy nhiên 1 số Browser chưa hỗ trợ X-XSS-Protection. Khi đó ta sử dụng Content Security Policy (CSP)</a:t>
            </a:r>
          </a:p>
          <a:p>
            <a:pPr eaLnBrk="1" hangingPunct="1"/>
            <a:r>
              <a:rPr lang="en-US" altLang="ja-JP">
                <a:latin typeface="Times New Roman" panose="02020603050405020304" pitchFamily="18" charset="0"/>
                <a:cs typeface="Times New Roman" panose="02020603050405020304" pitchFamily="18" charset="0"/>
              </a:rPr>
              <a:t>CSP là một lớp bảo mật bổ sung giúp giảm thiểu các cuộc tấn công XSS và data injection attacks. Để enable, cần thiết định cấu hình ứng dụng của mình để trả về header </a:t>
            </a:r>
            <a:r>
              <a:rPr lang="en-US" altLang="ja-JP" b="1" i="1">
                <a:latin typeface="Times New Roman" panose="02020603050405020304" pitchFamily="18" charset="0"/>
                <a:cs typeface="Times New Roman" panose="02020603050405020304" pitchFamily="18" charset="0"/>
              </a:rPr>
              <a:t>Content-Security-Policy </a:t>
            </a:r>
            <a:r>
              <a:rPr lang="en-US" altLang="ja-JP">
                <a:latin typeface="Times New Roman" panose="02020603050405020304" pitchFamily="18" charset="0"/>
                <a:cs typeface="Times New Roman" panose="02020603050405020304" pitchFamily="18" charset="0"/>
              </a:rPr>
              <a:t>bằng cách cung cấp bean SecurityFilterChain</a:t>
            </a:r>
          </a:p>
          <a:p>
            <a:pPr eaLnBrk="1" hangingPunct="1"/>
            <a:endParaRPr lang="en-US" altLang="ja-JP">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50732F-069B-B011-A3C4-61842870B164}"/>
              </a:ext>
            </a:extLst>
          </p:cNvPr>
          <p:cNvPicPr>
            <a:picLocks noChangeAspect="1"/>
          </p:cNvPicPr>
          <p:nvPr/>
        </p:nvPicPr>
        <p:blipFill>
          <a:blip r:embed="rId3"/>
          <a:stretch>
            <a:fillRect/>
          </a:stretch>
        </p:blipFill>
        <p:spPr>
          <a:xfrm>
            <a:off x="994906" y="3333025"/>
            <a:ext cx="6544588" cy="2343477"/>
          </a:xfrm>
          <a:prstGeom prst="rect">
            <a:avLst/>
          </a:prstGeom>
        </p:spPr>
      </p:pic>
      <p:sp>
        <p:nvSpPr>
          <p:cNvPr id="6" name="TextBox 5">
            <a:extLst>
              <a:ext uri="{FF2B5EF4-FFF2-40B4-BE49-F238E27FC236}">
                <a16:creationId xmlns:a16="http://schemas.microsoft.com/office/drawing/2014/main" id="{60AB7C97-EA12-CE94-EF49-766C052F1A56}"/>
              </a:ext>
            </a:extLst>
          </p:cNvPr>
          <p:cNvSpPr txBox="1"/>
          <p:nvPr/>
        </p:nvSpPr>
        <p:spPr>
          <a:xfrm>
            <a:off x="575387" y="5682925"/>
            <a:ext cx="11347672" cy="1015663"/>
          </a:xfrm>
          <a:prstGeom prst="rect">
            <a:avLst/>
          </a:prstGeom>
          <a:noFill/>
        </p:spPr>
        <p:txBody>
          <a:bodyPr wrap="square">
            <a:spAutoFit/>
          </a:bodyPr>
          <a:lstStyle/>
          <a:p>
            <a:r>
              <a:rPr lang="en-US" altLang="ja-JP" sz="2000">
                <a:latin typeface="Times New Roman" panose="02020603050405020304" pitchFamily="18" charset="0"/>
                <a:cs typeface="Times New Roman" panose="02020603050405020304" pitchFamily="18" charset="0"/>
              </a:rPr>
              <a:t>Tham khảo:</a:t>
            </a:r>
          </a:p>
          <a:p>
            <a:r>
              <a:rPr lang="en-US" altLang="ja-JP" sz="2000">
                <a:latin typeface="Times New Roman" panose="02020603050405020304" pitchFamily="18" charset="0"/>
                <a:cs typeface="Times New Roman" panose="02020603050405020304" pitchFamily="18" charset="0"/>
                <a:hlinkClick r:id="rId4"/>
              </a:rPr>
              <a:t>https://www.baeldung.com/spring-prevent-xss</a:t>
            </a:r>
            <a:r>
              <a:rPr lang="en-US" altLang="ja-JP" sz="2000">
                <a:latin typeface="Times New Roman" panose="02020603050405020304" pitchFamily="18" charset="0"/>
                <a:cs typeface="Times New Roman" panose="02020603050405020304" pitchFamily="18" charset="0"/>
              </a:rPr>
              <a:t> </a:t>
            </a:r>
          </a:p>
          <a:p>
            <a:r>
              <a:rPr lang="en-US" altLang="ja-JP" sz="2000">
                <a:latin typeface="Times New Roman" panose="02020603050405020304" pitchFamily="18" charset="0"/>
                <a:cs typeface="Times New Roman" panose="02020603050405020304" pitchFamily="18" charset="0"/>
                <a:hlinkClick r:id="rId5"/>
              </a:rPr>
              <a:t>https://developer.mozilla.org/en-US/docs/Web/HTTP/Headers/X-XSS-Protection</a:t>
            </a:r>
            <a:r>
              <a:rPr lang="en-US" altLang="ja-JP" sz="2000">
                <a:latin typeface="Times New Roman" panose="02020603050405020304" pitchFamily="18" charset="0"/>
                <a:cs typeface="Times New Roman" panose="02020603050405020304" pitchFamily="18" charset="0"/>
              </a:rPr>
              <a:t> </a:t>
            </a:r>
            <a:endParaRPr lang="en-US" sz="2000"/>
          </a:p>
        </p:txBody>
      </p:sp>
    </p:spTree>
    <p:extLst>
      <p:ext uri="{BB962C8B-B14F-4D97-AF65-F5344CB8AC3E}">
        <p14:creationId xmlns:p14="http://schemas.microsoft.com/office/powerpoint/2010/main" val="2628255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Mã hóa dữ liệu nhạy cảm</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normAutofit/>
          </a:bodyPr>
          <a:lstStyle/>
          <a:p>
            <a:pPr eaLnBrk="1" hangingPunct="1"/>
            <a:r>
              <a:rPr lang="en-US" altLang="ja-JP" sz="2800">
                <a:latin typeface="Times New Roman" panose="02020603050405020304" pitchFamily="18" charset="0"/>
                <a:cs typeface="Times New Roman" panose="02020603050405020304" pitchFamily="18" charset="0"/>
              </a:rPr>
              <a:t>Nguy cơ</a:t>
            </a:r>
          </a:p>
          <a:p>
            <a:pPr lvl="1" eaLnBrk="1" hangingPunct="1"/>
            <a:r>
              <a:rPr lang="en-US" altLang="ja-JP" sz="2400">
                <a:latin typeface="Times New Roman" panose="02020603050405020304" pitchFamily="18" charset="0"/>
                <a:cs typeface="Times New Roman" panose="02020603050405020304" pitchFamily="18" charset="0"/>
              </a:rPr>
              <a:t>Khi hệ thống bị tấn công và kẻ tấn công lấy được thông tin trong cơ sở dữ liệu, các dữ liệu nhạy cảm sẽ bị lộ nếu không được mã hóa, hoặc mã hóa không an toàn.</a:t>
            </a:r>
          </a:p>
          <a:p>
            <a:pPr lvl="1" eaLnBrk="1" hangingPunct="1"/>
            <a:r>
              <a:rPr lang="en-US" altLang="ja-JP" sz="2400">
                <a:latin typeface="Times New Roman" panose="02020603050405020304" pitchFamily="18" charset="0"/>
                <a:cs typeface="Times New Roman" panose="02020603050405020304" pitchFamily="18" charset="0"/>
              </a:rPr>
              <a:t>Note: Các thông tin sau được cho là nhạy cảm:</a:t>
            </a:r>
          </a:p>
          <a:p>
            <a:pPr lvl="2" eaLnBrk="1" hangingPunct="1"/>
            <a:r>
              <a:rPr lang="en-US" altLang="ja-JP" sz="1800">
                <a:latin typeface="Times New Roman" panose="02020603050405020304" pitchFamily="18" charset="0"/>
                <a:cs typeface="Times New Roman" panose="02020603050405020304" pitchFamily="18" charset="0"/>
              </a:rPr>
              <a:t>Thông tin về tài khoản/mật khẩu</a:t>
            </a:r>
          </a:p>
          <a:p>
            <a:pPr lvl="2" eaLnBrk="1" hangingPunct="1"/>
            <a:r>
              <a:rPr lang="en-US" altLang="ja-JP" sz="1800">
                <a:latin typeface="Times New Roman" panose="02020603050405020304" pitchFamily="18" charset="0"/>
                <a:cs typeface="Times New Roman" panose="02020603050405020304" pitchFamily="18" charset="0"/>
              </a:rPr>
              <a:t>Thẻ ngân hàng, thông tin về tiền, …</a:t>
            </a:r>
            <a:endParaRPr lang="en-US" altLang="ja-JP" sz="2400">
              <a:latin typeface="Times New Roman" panose="02020603050405020304" pitchFamily="18" charset="0"/>
              <a:cs typeface="Times New Roman" panose="02020603050405020304" pitchFamily="18" charset="0"/>
            </a:endParaRPr>
          </a:p>
          <a:p>
            <a:pPr eaLnBrk="1" hangingPunct="1"/>
            <a:r>
              <a:rPr lang="en-US" altLang="en-US" sz="2800">
                <a:latin typeface="Times New Roman" panose="02020603050405020304" pitchFamily="18" charset="0"/>
                <a:ea typeface="HGP明朝E" panose="02020800000000000000" pitchFamily="18" charset="-128"/>
                <a:cs typeface="Times New Roman" panose="02020603050405020304" pitchFamily="18" charset="0"/>
              </a:rPr>
              <a:t>Phòng chống:</a:t>
            </a:r>
          </a:p>
          <a:p>
            <a:pPr lvl="1" eaLnBrk="1" hangingPunct="1"/>
            <a:r>
              <a:rPr lang="en-US" altLang="ja-JP" sz="2400">
                <a:latin typeface="Times New Roman" panose="02020603050405020304" pitchFamily="18" charset="0"/>
                <a:cs typeface="Times New Roman" panose="02020603050405020304" pitchFamily="18" charset="0"/>
              </a:rPr>
              <a:t>Mã hóa dữ liệu nhạy cảm trong cơ sở dữ liệu</a:t>
            </a:r>
          </a:p>
          <a:p>
            <a:pPr lvl="1" eaLnBrk="1" hangingPunct="1"/>
            <a:r>
              <a:rPr lang="en-US" altLang="ja-JP" sz="2400">
                <a:latin typeface="Times New Roman" panose="02020603050405020304" pitchFamily="18" charset="0"/>
                <a:cs typeface="Times New Roman" panose="02020603050405020304" pitchFamily="18" charset="0"/>
              </a:rPr>
              <a:t>Các hàm mã hóa 1 chiều phải thêm salt.</a:t>
            </a:r>
          </a:p>
          <a:p>
            <a:pPr lvl="2" eaLnBrk="1" hangingPunct="1"/>
            <a:r>
              <a:rPr lang="en-US" altLang="ja-JP" sz="1800">
                <a:latin typeface="Times New Roman" panose="02020603050405020304" pitchFamily="18" charset="0"/>
                <a:cs typeface="Times New Roman" panose="02020603050405020304" pitchFamily="18" charset="0"/>
              </a:rPr>
              <a:t>Chú ý salt phải đảm bảo ngẫu nhiên</a:t>
            </a:r>
            <a:endParaRPr lang="en-US" altLang="ja-JP" sz="1800">
              <a:latin typeface="Times New Roman" panose="02020603050405020304" pitchFamily="18" charset="0"/>
              <a:cs typeface="Times New Roman" panose="02020603050405020304" pitchFamily="18" charset="0"/>
              <a:hlinkClick r:id="rId3"/>
            </a:endParaRPr>
          </a:p>
          <a:p>
            <a:pPr eaLnBrk="1" hangingPunct="1"/>
            <a:r>
              <a:rPr lang="en-US" altLang="ja-JP" sz="2800">
                <a:latin typeface="Times New Roman" panose="02020603050405020304" pitchFamily="18" charset="0"/>
                <a:cs typeface="Times New Roman" panose="02020603050405020304" pitchFamily="18" charset="0"/>
              </a:rPr>
              <a:t>Tham khảo:</a:t>
            </a:r>
          </a:p>
          <a:p>
            <a:pPr marL="0" indent="0" eaLnBrk="1" hangingPunct="1">
              <a:buNone/>
            </a:pPr>
            <a:r>
              <a:rPr lang="en-US" altLang="ja-JP">
                <a:latin typeface="Times New Roman" panose="02020603050405020304" pitchFamily="18" charset="0"/>
                <a:cs typeface="Times New Roman" panose="02020603050405020304" pitchFamily="18" charset="0"/>
                <a:hlinkClick r:id="rId3"/>
              </a:rPr>
              <a:t>https://www.tutorialspoint.com/java_cryptography/java_cryptography_encrypting_data.htm</a:t>
            </a:r>
            <a:r>
              <a:rPr lang="en-US" altLang="ja-JP">
                <a:latin typeface="Times New Roman" panose="02020603050405020304" pitchFamily="18" charset="0"/>
                <a:cs typeface="Times New Roman" panose="02020603050405020304" pitchFamily="18" charset="0"/>
              </a:rPr>
              <a:t> </a:t>
            </a:r>
          </a:p>
          <a:p>
            <a:pPr marL="0" indent="0" eaLnBrk="1" hangingPunct="1">
              <a:buNone/>
            </a:pPr>
            <a:r>
              <a:rPr lang="en-US" altLang="ja-JP">
                <a:latin typeface="Times New Roman" panose="02020603050405020304" pitchFamily="18" charset="0"/>
                <a:cs typeface="Times New Roman" panose="02020603050405020304" pitchFamily="18" charset="0"/>
                <a:hlinkClick r:id="rId4"/>
              </a:rPr>
              <a:t>https://www.baeldung.com/java-aes-encryption-decryption</a:t>
            </a:r>
            <a:r>
              <a:rPr lang="en-US" altLang="ja-JP">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52108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Mã hóa dữ liệu nhạy cảm</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normAutofit/>
          </a:bodyPr>
          <a:lstStyle/>
          <a:p>
            <a:pPr eaLnBrk="1" hangingPunct="1"/>
            <a:r>
              <a:rPr lang="en-US" altLang="ja-JP" sz="3200">
                <a:latin typeface="Times New Roman" panose="02020603050405020304" pitchFamily="18" charset="0"/>
                <a:cs typeface="Times New Roman" panose="02020603050405020304" pitchFamily="18" charset="0"/>
              </a:rPr>
              <a:t>Ví dụ:</a:t>
            </a:r>
          </a:p>
          <a:p>
            <a:pPr lvl="1"/>
            <a:r>
              <a:rPr lang="en-US" altLang="ja-JP" sz="2400">
                <a:latin typeface="Times New Roman" panose="02020603050405020304" pitchFamily="18" charset="0"/>
                <a:cs typeface="Times New Roman" panose="02020603050405020304" pitchFamily="18" charset="0"/>
              </a:rPr>
              <a:t>Mật khẩu của người dùng được mã hóa trong cơ sở dữ liệu bằng hàm mã hóa 1 chiều. Kẻ tấn công lấy được mật khẩu đã mã hóa là: QL0AFWMIX8NRZTKeof9cXsvbvu8= và có thể tìm được mật khẩu chưa mã hóa là 123,</a:t>
            </a:r>
          </a:p>
          <a:p>
            <a:pPr lvl="1"/>
            <a:r>
              <a:rPr lang="en-US" altLang="ja-JP" sz="2400">
                <a:latin typeface="Times New Roman" panose="02020603050405020304" pitchFamily="18" charset="0"/>
                <a:cs typeface="Times New Roman" panose="02020603050405020304" pitchFamily="18" charset="0"/>
              </a:rPr>
              <a:t>Thuật toán mã hóa là hash = base64(SHA1(pass)) bằng cách tìm kiếm trên internet. Các mật khẩu phổ biến dễ bị dò ngược lại bằng phương pháp này.</a:t>
            </a:r>
          </a:p>
          <a:p>
            <a:pPr lvl="1"/>
            <a:r>
              <a:rPr lang="en-US" altLang="ja-JP" sz="2400">
                <a:latin typeface="Times New Roman" panose="02020603050405020304" pitchFamily="18" charset="0"/>
                <a:cs typeface="Times New Roman" panose="02020603050405020304" pitchFamily="18" charset="0"/>
              </a:rPr>
              <a:t>Để sửa lỗi này ta cần thêm salt vào hàm mã hóa. Thay vì hash = encrypt(pass), hàm mã hóa sẽ chuyển thành hash = encrypt(salt + pass) và khi bị lộ hash cũng không thể tìm kiếm được trên Internet để tìm ra mật khẩu chưa mã hóa.</a:t>
            </a:r>
          </a:p>
          <a:p>
            <a:pPr lvl="1"/>
            <a:r>
              <a:rPr lang="en-US" altLang="ja-JP" sz="2400">
                <a:latin typeface="Times New Roman" panose="02020603050405020304" pitchFamily="18" charset="0"/>
                <a:cs typeface="Times New Roman" panose="02020603050405020304" pitchFamily="18" charset="0"/>
              </a:rPr>
              <a:t>Salt được sinh ra ngẫu nhiên cho từng user, và được lưu trong cơ sở dữ liệu.</a:t>
            </a:r>
            <a:endParaRPr lang="en-US" altLang="ja-JP"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823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Mã hóa dữ liệu nhạy cảm</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normAutofit/>
          </a:bodyPr>
          <a:lstStyle/>
          <a:p>
            <a:pPr eaLnBrk="1" hangingPunct="1"/>
            <a:r>
              <a:rPr lang="en-US" altLang="ja-JP" sz="3200">
                <a:latin typeface="Times New Roman" panose="02020603050405020304" pitchFamily="18" charset="0"/>
                <a:cs typeface="Times New Roman" panose="02020603050405020304" pitchFamily="18" charset="0"/>
              </a:rPr>
              <a:t>Ví dụ:</a:t>
            </a:r>
          </a:p>
          <a:p>
            <a:pPr eaLnBrk="1" hangingPunct="1"/>
            <a:endParaRPr lang="en-US" altLang="ja-JP" sz="32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C9C5590-FB37-36B7-8489-F5BB22961E99}"/>
              </a:ext>
            </a:extLst>
          </p:cNvPr>
          <p:cNvPicPr>
            <a:picLocks noChangeAspect="1"/>
          </p:cNvPicPr>
          <p:nvPr/>
        </p:nvPicPr>
        <p:blipFill>
          <a:blip r:embed="rId3"/>
          <a:stretch>
            <a:fillRect/>
          </a:stretch>
        </p:blipFill>
        <p:spPr>
          <a:xfrm>
            <a:off x="336003" y="1564623"/>
            <a:ext cx="5999384" cy="2853710"/>
          </a:xfrm>
          <a:prstGeom prst="rect">
            <a:avLst/>
          </a:prstGeom>
          <a:ln>
            <a:solidFill>
              <a:schemeClr val="accent2"/>
            </a:solidFill>
          </a:ln>
        </p:spPr>
      </p:pic>
      <p:pic>
        <p:nvPicPr>
          <p:cNvPr id="6" name="Picture 5">
            <a:extLst>
              <a:ext uri="{FF2B5EF4-FFF2-40B4-BE49-F238E27FC236}">
                <a16:creationId xmlns:a16="http://schemas.microsoft.com/office/drawing/2014/main" id="{52F113C5-4E78-1FB9-D5E4-5A39B2C5A094}"/>
              </a:ext>
            </a:extLst>
          </p:cNvPr>
          <p:cNvPicPr>
            <a:picLocks noChangeAspect="1"/>
          </p:cNvPicPr>
          <p:nvPr/>
        </p:nvPicPr>
        <p:blipFill>
          <a:blip r:embed="rId4"/>
          <a:stretch>
            <a:fillRect/>
          </a:stretch>
        </p:blipFill>
        <p:spPr>
          <a:xfrm>
            <a:off x="6335387" y="1564623"/>
            <a:ext cx="5787742" cy="3088059"/>
          </a:xfrm>
          <a:prstGeom prst="rect">
            <a:avLst/>
          </a:prstGeom>
          <a:ln>
            <a:solidFill>
              <a:schemeClr val="accent2"/>
            </a:solidFill>
          </a:ln>
        </p:spPr>
      </p:pic>
    </p:spTree>
    <p:extLst>
      <p:ext uri="{BB962C8B-B14F-4D97-AF65-F5344CB8AC3E}">
        <p14:creationId xmlns:p14="http://schemas.microsoft.com/office/powerpoint/2010/main" val="3407328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Kiểm tra quyền truy cập của người dùng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normAutofit/>
          </a:bodyPr>
          <a:lstStyle/>
          <a:p>
            <a:pPr eaLnBrk="1" hangingPunct="1"/>
            <a:r>
              <a:rPr lang="en-US" altLang="ja-JP" sz="3200">
                <a:latin typeface="Times New Roman" panose="02020603050405020304" pitchFamily="18" charset="0"/>
                <a:cs typeface="Times New Roman" panose="02020603050405020304" pitchFamily="18" charset="0"/>
              </a:rPr>
              <a:t>Nguy cơ</a:t>
            </a:r>
          </a:p>
          <a:p>
            <a:pPr lvl="1" eaLnBrk="1" hangingPunct="1"/>
            <a:r>
              <a:rPr lang="en-US" altLang="ja-JP" sz="2800">
                <a:latin typeface="Times New Roman" panose="02020603050405020304" pitchFamily="18" charset="0"/>
                <a:cs typeface="Times New Roman" panose="02020603050405020304" pitchFamily="18" charset="0"/>
              </a:rPr>
              <a:t>Trong các hệ thống có phân quyền, mỗi người dùng chỉ được phép truy cập các chức năng, các dữ liệu mà mình được phép. Tuy nhiên, nếu việc kiểm tra quyền không được kiểm soát tốt thì người dùng có thể truy cập được các chức năng, các dữ liệu không được quyền.</a:t>
            </a:r>
          </a:p>
          <a:p>
            <a:pPr eaLnBrk="1" hangingPunct="1"/>
            <a:r>
              <a:rPr lang="en-US" altLang="en-US" sz="3200">
                <a:latin typeface="Times New Roman" panose="02020603050405020304" pitchFamily="18" charset="0"/>
                <a:ea typeface="HGP明朝E" panose="02020800000000000000" pitchFamily="18" charset="-128"/>
                <a:cs typeface="Times New Roman" panose="02020603050405020304" pitchFamily="18" charset="0"/>
              </a:rPr>
              <a:t>Phòng chống:</a:t>
            </a:r>
          </a:p>
          <a:p>
            <a:pPr lvl="1" eaLnBrk="1" hangingPunct="1"/>
            <a:r>
              <a:rPr lang="en-US" altLang="ja-JP" sz="2800">
                <a:latin typeface="Times New Roman" panose="02020603050405020304" pitchFamily="18" charset="0"/>
                <a:cs typeface="Times New Roman" panose="02020603050405020304" pitchFamily="18" charset="0"/>
              </a:rPr>
              <a:t>Kiểm tra quyền trong từng request gửi lên server. Việc kiểm tra quyền gồm 2 nội dung kiểm tra:</a:t>
            </a:r>
          </a:p>
          <a:p>
            <a:pPr lvl="2" eaLnBrk="1" hangingPunct="1"/>
            <a:r>
              <a:rPr lang="en-US" altLang="ja-JP" sz="2000">
                <a:latin typeface="Times New Roman" panose="02020603050405020304" pitchFamily="18" charset="0"/>
                <a:cs typeface="Times New Roman" panose="02020603050405020304" pitchFamily="18" charset="0"/>
              </a:rPr>
              <a:t>Người dùng có được phép thực thi chức năng theo request hay không?</a:t>
            </a:r>
          </a:p>
          <a:p>
            <a:pPr lvl="2" eaLnBrk="1" hangingPunct="1"/>
            <a:r>
              <a:rPr lang="en-US" altLang="ja-JP" sz="2000">
                <a:latin typeface="Times New Roman" panose="02020603050405020304" pitchFamily="18" charset="0"/>
                <a:cs typeface="Times New Roman" panose="02020603050405020304" pitchFamily="18" charset="0"/>
              </a:rPr>
              <a:t>Nếu người dùng được phép thực thi chức năng thì kiểm tra tiếp người dùng có được phép thao tác chức năng đó trên dữ liệu trong request hay không?</a:t>
            </a:r>
          </a:p>
          <a:p>
            <a:pPr eaLnBrk="1" hangingPunct="1"/>
            <a:endParaRPr lang="en-US" altLang="ja-JP"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910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Kiểm tra quyền truy cập của người dùng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lstStyle/>
          <a:p>
            <a:pPr eaLnBrk="1" hangingPunct="1">
              <a:lnSpc>
                <a:spcPct val="80000"/>
              </a:lnSpc>
            </a:pPr>
            <a:r>
              <a:rPr lang="en-US" altLang="ja-JP" sz="2000">
                <a:latin typeface="Times New Roman" panose="02020603050405020304" pitchFamily="18" charset="0"/>
                <a:cs typeface="Times New Roman" panose="02020603050405020304" pitchFamily="18" charset="0"/>
              </a:rPr>
              <a:t>Hàm bên dưới mắc lỗi không kiểm tra quyền của người dùng, mà cho phép luôn quản trị khóa tài khoản người dùng với đầu vào là ID của người dùng được gửi từ client</a:t>
            </a:r>
          </a:p>
          <a:p>
            <a:pPr eaLnBrk="1" hangingPunct="1">
              <a:lnSpc>
                <a:spcPct val="80000"/>
              </a:lnSpc>
            </a:pPr>
            <a:endParaRPr lang="en-US" altLang="ja-JP" sz="2000">
              <a:latin typeface="Times New Roman" panose="02020603050405020304" pitchFamily="18" charset="0"/>
              <a:cs typeface="Times New Roman" panose="02020603050405020304" pitchFamily="18" charset="0"/>
            </a:endParaRPr>
          </a:p>
          <a:p>
            <a:pPr eaLnBrk="1" hangingPunct="1">
              <a:lnSpc>
                <a:spcPct val="80000"/>
              </a:lnSpc>
            </a:pPr>
            <a:endParaRPr lang="en-US" altLang="ja-JP" sz="2000">
              <a:latin typeface="Times New Roman" panose="02020603050405020304" pitchFamily="18" charset="0"/>
              <a:cs typeface="Times New Roman" panose="02020603050405020304" pitchFamily="18" charset="0"/>
            </a:endParaRPr>
          </a:p>
          <a:p>
            <a:pPr eaLnBrk="1" hangingPunct="1">
              <a:lnSpc>
                <a:spcPct val="80000"/>
              </a:lnSpc>
            </a:pPr>
            <a:endParaRPr lang="en-US" altLang="ja-JP" sz="2000">
              <a:latin typeface="Times New Roman" panose="02020603050405020304" pitchFamily="18" charset="0"/>
              <a:cs typeface="Times New Roman" panose="02020603050405020304" pitchFamily="18" charset="0"/>
            </a:endParaRPr>
          </a:p>
          <a:p>
            <a:pPr eaLnBrk="1" hangingPunct="1">
              <a:lnSpc>
                <a:spcPct val="80000"/>
              </a:lnSpc>
            </a:pPr>
            <a:endParaRPr lang="en-US" altLang="ja-JP" sz="2000">
              <a:latin typeface="Times New Roman" panose="02020603050405020304" pitchFamily="18" charset="0"/>
              <a:cs typeface="Times New Roman" panose="02020603050405020304" pitchFamily="18" charset="0"/>
            </a:endParaRPr>
          </a:p>
          <a:p>
            <a:pPr eaLnBrk="1" hangingPunct="1">
              <a:lnSpc>
                <a:spcPct val="80000"/>
              </a:lnSpc>
            </a:pPr>
            <a:endParaRPr lang="en-US" altLang="ja-JP" sz="2000">
              <a:latin typeface="Times New Roman" panose="02020603050405020304" pitchFamily="18" charset="0"/>
              <a:cs typeface="Times New Roman" panose="02020603050405020304" pitchFamily="18" charset="0"/>
            </a:endParaRPr>
          </a:p>
          <a:p>
            <a:pPr eaLnBrk="1" hangingPunct="1">
              <a:lnSpc>
                <a:spcPct val="80000"/>
              </a:lnSpc>
            </a:pPr>
            <a:endParaRPr lang="en-US" altLang="ja-JP" sz="2000">
              <a:latin typeface="Times New Roman" panose="02020603050405020304" pitchFamily="18" charset="0"/>
              <a:cs typeface="Times New Roman" panose="02020603050405020304" pitchFamily="18" charset="0"/>
            </a:endParaRPr>
          </a:p>
          <a:p>
            <a:pPr eaLnBrk="1" hangingPunct="1">
              <a:lnSpc>
                <a:spcPct val="80000"/>
              </a:lnSpc>
            </a:pPr>
            <a:r>
              <a:rPr lang="en-US" altLang="ja-JP" sz="2000">
                <a:latin typeface="Times New Roman" panose="02020603050405020304" pitchFamily="18" charset="0"/>
                <a:cs typeface="Times New Roman" panose="02020603050405020304" pitchFamily="18" charset="0"/>
              </a:rPr>
              <a:t>Như vậy bằng cách thay đổi ID của người dùng từ client, người quản trị này có thể khóa tài khoản của các người dùng mà mình không được phép quản lý.</a:t>
            </a:r>
          </a:p>
          <a:p>
            <a:pPr eaLnBrk="1" hangingPunct="1">
              <a:lnSpc>
                <a:spcPct val="80000"/>
              </a:lnSpc>
            </a:pPr>
            <a:r>
              <a:rPr lang="en-US" altLang="ja-JP" sz="2000">
                <a:latin typeface="Times New Roman" panose="02020603050405020304" pitchFamily="18" charset="0"/>
                <a:cs typeface="Times New Roman" panose="02020603050405020304" pitchFamily="18" charset="0"/>
              </a:rPr>
              <a:t>Để sửa lỗi này, ta cần kiểm tra khóa của quản trị đối với người dùng này trước khi thực hiện khóa</a:t>
            </a:r>
          </a:p>
          <a:p>
            <a:pPr eaLnBrk="1" hangingPunct="1"/>
            <a:endParaRPr lang="en-US" altLang="ja-JP" sz="2000">
              <a:latin typeface="Times New Roman" panose="02020603050405020304" pitchFamily="18" charset="0"/>
              <a:cs typeface="Times New Roman" panose="02020603050405020304" pitchFamily="18" charset="0"/>
            </a:endParaRPr>
          </a:p>
        </p:txBody>
      </p:sp>
      <p:pic>
        <p:nvPicPr>
          <p:cNvPr id="3" name="Picture 1">
            <a:extLst>
              <a:ext uri="{FF2B5EF4-FFF2-40B4-BE49-F238E27FC236}">
                <a16:creationId xmlns:a16="http://schemas.microsoft.com/office/drawing/2014/main" id="{F1CFC26B-DBA8-DC1B-89D0-3949CBA3E8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8659" y="1514008"/>
            <a:ext cx="6840537"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E96BDD5F-DBC3-819A-0C3C-C8B4597BBD1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5948" y="4150192"/>
            <a:ext cx="6624637"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5C58A7A6-0596-1224-84E9-2F23DC9B3F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29285" y="5678954"/>
            <a:ext cx="6554788"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0015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Kiểm tra quyền truy cập của người dùng</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lstStyle/>
          <a:p>
            <a:pPr eaLnBrk="1" hangingPunct="1"/>
            <a:r>
              <a:rPr lang="en-US" altLang="ja-JP" sz="2000">
                <a:latin typeface="Times New Roman" panose="02020603050405020304" pitchFamily="18" charset="0"/>
                <a:cs typeface="Times New Roman" panose="02020603050405020304" pitchFamily="18" charset="0"/>
              </a:rPr>
              <a:t>Ví dụ:</a:t>
            </a:r>
          </a:p>
          <a:p>
            <a:pPr eaLnBrk="1" hangingPunct="1"/>
            <a:endParaRPr lang="en-US" altLang="ja-JP" sz="20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D59882F-1F3A-E763-E1C4-0160AA047B1B}"/>
              </a:ext>
            </a:extLst>
          </p:cNvPr>
          <p:cNvPicPr>
            <a:picLocks noChangeAspect="1"/>
          </p:cNvPicPr>
          <p:nvPr/>
        </p:nvPicPr>
        <p:blipFill>
          <a:blip r:embed="rId3"/>
          <a:stretch>
            <a:fillRect/>
          </a:stretch>
        </p:blipFill>
        <p:spPr>
          <a:xfrm>
            <a:off x="1853172" y="803810"/>
            <a:ext cx="7326687" cy="3019483"/>
          </a:xfrm>
          <a:prstGeom prst="rect">
            <a:avLst/>
          </a:prstGeom>
        </p:spPr>
      </p:pic>
      <p:pic>
        <p:nvPicPr>
          <p:cNvPr id="7172" name="Picture 4">
            <a:extLst>
              <a:ext uri="{FF2B5EF4-FFF2-40B4-BE49-F238E27FC236}">
                <a16:creationId xmlns:a16="http://schemas.microsoft.com/office/drawing/2014/main" id="{F77081EC-17DA-06AA-2150-DEC2922296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3172" y="3925686"/>
            <a:ext cx="670560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466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User enumeration</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normAutofit/>
          </a:bodyPr>
          <a:lstStyle/>
          <a:p>
            <a:pPr eaLnBrk="1" hangingPunct="1"/>
            <a:r>
              <a:rPr lang="en-US" altLang="ja-JP">
                <a:latin typeface="Times New Roman" panose="02020603050405020304" pitchFamily="18" charset="0"/>
                <a:cs typeface="Times New Roman" panose="02020603050405020304" pitchFamily="18" charset="0"/>
              </a:rPr>
              <a:t>Nguy cơ</a:t>
            </a:r>
          </a:p>
          <a:p>
            <a:pPr lvl="1" eaLnBrk="1" hangingPunct="1"/>
            <a:r>
              <a:rPr lang="en-US" altLang="ja-JP">
                <a:latin typeface="Times New Roman" panose="02020603050405020304" pitchFamily="18" charset="0"/>
                <a:cs typeface="Times New Roman" panose="02020603050405020304" pitchFamily="18" charset="0"/>
              </a:rPr>
              <a:t>Trường hợp thông báo lỗi trên trang đăng nhập, phân biệt giữa nhập sai tên đăng nhập và sai mật khẩu </a:t>
            </a:r>
            <a:r>
              <a:rPr lang="en-US" altLang="ja-JP">
                <a:latin typeface="Times New Roman" panose="02020603050405020304" pitchFamily="18" charset="0"/>
                <a:cs typeface="Times New Roman" panose="02020603050405020304" pitchFamily="18" charset="0"/>
                <a:sym typeface="Wingdings" panose="05000000000000000000" pitchFamily="2" charset="2"/>
              </a:rPr>
              <a:t> Dựa vào đó hacker có thể thử và tìm ra các user có trên hệ thống</a:t>
            </a:r>
          </a:p>
          <a:p>
            <a:pPr lvl="1" eaLnBrk="1" hangingPunct="1"/>
            <a:r>
              <a:rPr lang="en-US" altLang="ja-JP">
                <a:latin typeface="Times New Roman" panose="02020603050405020304" pitchFamily="18" charset="0"/>
                <a:cs typeface="Times New Roman" panose="02020603050405020304" pitchFamily="18" charset="0"/>
                <a:sym typeface="Wingdings" panose="05000000000000000000" pitchFamily="2" charset="2"/>
              </a:rPr>
              <a:t>Với các chức năng phải thông báo tên  user nhập vào là đúng hay sai như các chức năng reser password, forgot password, chức năng đăng ký thì hacker có thể thử và tìm ra các user có trên hệ thống.</a:t>
            </a:r>
            <a:endParaRPr lang="en-US" altLang="ja-JP">
              <a:latin typeface="Times New Roman" panose="02020603050405020304" pitchFamily="18" charset="0"/>
              <a:cs typeface="Times New Roman" panose="02020603050405020304" pitchFamily="18" charset="0"/>
            </a:endParaRPr>
          </a:p>
          <a:p>
            <a:pPr eaLnBrk="1" hangingPunct="1"/>
            <a:r>
              <a:rPr lang="en-US" altLang="en-US">
                <a:latin typeface="Times New Roman" panose="02020603050405020304" pitchFamily="18" charset="0"/>
                <a:ea typeface="HGP明朝E" panose="02020800000000000000" pitchFamily="18" charset="-128"/>
                <a:cs typeface="Times New Roman" panose="02020603050405020304" pitchFamily="18" charset="0"/>
              </a:rPr>
              <a:t>Phòng chống:</a:t>
            </a:r>
          </a:p>
          <a:p>
            <a:pPr lvl="1" eaLnBrk="1" hangingPunct="1"/>
            <a:r>
              <a:rPr lang="en-US" altLang="ja-JP">
                <a:latin typeface="Times New Roman" panose="02020603050405020304" pitchFamily="18" charset="0"/>
                <a:cs typeface="Times New Roman" panose="02020603050405020304" pitchFamily="18" charset="0"/>
              </a:rPr>
              <a:t>Sử dụng thông báo lỗi cho cả 2 trường hợp nhập sai tên đăng nhập và mật khẩu trên trang đăng nhập vào hệ thống</a:t>
            </a:r>
          </a:p>
          <a:p>
            <a:pPr lvl="1" eaLnBrk="1" hangingPunct="1"/>
            <a:r>
              <a:rPr lang="en-US" altLang="ja-JP">
                <a:latin typeface="Times New Roman" panose="02020603050405020304" pitchFamily="18" charset="0"/>
                <a:cs typeface="Times New Roman" panose="02020603050405020304" pitchFamily="18" charset="0"/>
              </a:rPr>
              <a:t>Sử dụng captcha cho các chức năng đăng ký, reset, quên mật khẩu, để tránh các công cụ tự động khai thác lỗi user enumeration.</a:t>
            </a:r>
          </a:p>
          <a:p>
            <a:pPr eaLnBrk="1" hangingPunct="1"/>
            <a:endParaRPr lang="en-US" altLang="ja-JP"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9438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User enumeration</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a:xfrm>
            <a:off x="575387" y="883720"/>
            <a:ext cx="4713789" cy="432000"/>
          </a:xfrm>
        </p:spPr>
        <p:txBody>
          <a:bodyPr>
            <a:normAutofit lnSpcReduction="10000"/>
          </a:bodyPr>
          <a:lstStyle/>
          <a:p>
            <a:pPr eaLnBrk="1" hangingPunct="1"/>
            <a:r>
              <a:rPr lang="en-US" altLang="ja-JP">
                <a:latin typeface="Times New Roman" panose="02020603050405020304" pitchFamily="18" charset="0"/>
                <a:cs typeface="Times New Roman" panose="02020603050405020304" pitchFamily="18" charset="0"/>
              </a:rPr>
              <a:t>Ví dụ:</a:t>
            </a:r>
            <a:endParaRPr lang="en-US" altLang="ja-JP" sz="2000">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85ABB48E-72AF-807E-F4D6-B9F591800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129" y="1551759"/>
            <a:ext cx="7561871" cy="3498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684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4484-0603-48CC-ED3F-00FCEDE16092}"/>
              </a:ext>
            </a:extLst>
          </p:cNvPr>
          <p:cNvSpPr>
            <a:spLocks noGrp="1"/>
          </p:cNvSpPr>
          <p:nvPr>
            <p:ph type="title"/>
          </p:nvPr>
        </p:nvSpPr>
        <p:spPr/>
        <p:txBody>
          <a:bodyPr/>
          <a:lstStyle/>
          <a:p>
            <a:r>
              <a:rPr lang="en-US" altLang="ja-JP" sz="2800">
                <a:latin typeface="Times New Roman" panose="02020603050405020304" pitchFamily="18" charset="0"/>
                <a:cs typeface="Times New Roman" panose="02020603050405020304" pitchFamily="18" charset="0"/>
              </a:rPr>
              <a:t>Thất thoát thông tin do kiểm soát lỗi và ngoại lệ không tốt</a:t>
            </a:r>
            <a:endParaRPr lang="en-US"/>
          </a:p>
        </p:txBody>
      </p:sp>
      <p:sp>
        <p:nvSpPr>
          <p:cNvPr id="11" name="Content Placeholder 10">
            <a:extLst>
              <a:ext uri="{FF2B5EF4-FFF2-40B4-BE49-F238E27FC236}">
                <a16:creationId xmlns:a16="http://schemas.microsoft.com/office/drawing/2014/main" id="{6262E8CF-8F6F-7934-5C2E-6A3D6AF14082}"/>
              </a:ext>
            </a:extLst>
          </p:cNvPr>
          <p:cNvSpPr>
            <a:spLocks noGrp="1"/>
          </p:cNvSpPr>
          <p:nvPr>
            <p:ph idx="1"/>
          </p:nvPr>
        </p:nvSpPr>
        <p:spPr/>
        <p:txBody>
          <a:bodyPr/>
          <a:lstStyle/>
          <a:p>
            <a:pPr eaLnBrk="1" hangingPunct="1"/>
            <a:r>
              <a:rPr lang="en-US" altLang="ja-JP" sz="2400">
                <a:latin typeface="Times New Roman" panose="02020603050405020304" pitchFamily="18" charset="0"/>
                <a:cs typeface="Times New Roman" panose="02020603050405020304" pitchFamily="18" charset="0"/>
              </a:rPr>
              <a:t>Nguy cơ</a:t>
            </a:r>
          </a:p>
          <a:p>
            <a:pPr lvl="1" eaLnBrk="1" hangingPunct="1"/>
            <a:r>
              <a:rPr lang="en-US" altLang="ja-JP" sz="2000">
                <a:latin typeface="Times New Roman" panose="02020603050405020304" pitchFamily="18" charset="0"/>
                <a:cs typeface="Times New Roman" panose="02020603050405020304" pitchFamily="18" charset="0"/>
              </a:rPr>
              <a:t>Việc hiển thị chi tiết và quá nhiều thông tin lỗi khi xử lý, các thông tin này rất có ích cho hacker. Hacker có thể dựa vào các thông tin này để đoán biết hệ thống cũng như tiếp cận, khai thác lỗ hổng ứng dụng.</a:t>
            </a:r>
          </a:p>
          <a:p>
            <a:pPr eaLnBrk="1" hangingPunct="1"/>
            <a:r>
              <a:rPr lang="en-US" altLang="en-US" sz="2400">
                <a:latin typeface="Times New Roman" panose="02020603050405020304" pitchFamily="18" charset="0"/>
                <a:ea typeface="HGP明朝E" panose="02020800000000000000" pitchFamily="18" charset="-128"/>
                <a:cs typeface="Times New Roman" panose="02020603050405020304" pitchFamily="18" charset="0"/>
              </a:rPr>
              <a:t>Phòng chống:</a:t>
            </a:r>
          </a:p>
          <a:p>
            <a:pPr lvl="1" eaLnBrk="1" hangingPunct="1"/>
            <a:r>
              <a:rPr lang="en-US" altLang="ja-JP" sz="2000">
                <a:latin typeface="Times New Roman" panose="02020603050405020304" pitchFamily="18" charset="0"/>
                <a:cs typeface="Times New Roman" panose="02020603050405020304" pitchFamily="18" charset="0"/>
              </a:rPr>
              <a:t>Yêu cầu tất cả các ngoại lệ đều phải được xử lý, và được lưu vào trong hệ thống log để được xử lý sau này</a:t>
            </a:r>
          </a:p>
          <a:p>
            <a:pPr lvl="1" eaLnBrk="1" hangingPunct="1"/>
            <a:r>
              <a:rPr lang="en-US" altLang="ja-JP" sz="2000">
                <a:latin typeface="Times New Roman" panose="02020603050405020304" pitchFamily="18" charset="0"/>
                <a:cs typeface="Times New Roman" panose="02020603050405020304" pitchFamily="18" charset="0"/>
              </a:rPr>
              <a:t>Hạn chế hiển thị chi tiết miêu tả lỗi ra phía người dùng cuối, chỉ nên thông báo lỗi đơn giản nhất có thể.</a:t>
            </a:r>
          </a:p>
          <a:p>
            <a:pPr marL="0" indent="0" eaLnBrk="1" hangingPunct="1">
              <a:buNone/>
            </a:pPr>
            <a:endParaRPr lang="en-US" altLang="ja-JP"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073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84F8EA-6886-448E-D56B-49D402C7178B}"/>
              </a:ext>
            </a:extLst>
          </p:cNvPr>
          <p:cNvSpPr>
            <a:spLocks noGrp="1"/>
          </p:cNvSpPr>
          <p:nvPr>
            <p:ph idx="1"/>
          </p:nvPr>
        </p:nvSpPr>
        <p:spPr>
          <a:xfrm>
            <a:off x="1007436" y="1484786"/>
            <a:ext cx="9956399" cy="2638979"/>
          </a:xfrm>
        </p:spPr>
        <p:txBody>
          <a:bodyPr>
            <a:normAutofit/>
          </a:bodyPr>
          <a:lstStyle/>
          <a:p>
            <a:pPr marL="0" indent="0" algn="ctr">
              <a:buNone/>
            </a:pPr>
            <a:r>
              <a:rPr lang="en-US" sz="7200">
                <a:solidFill>
                  <a:srgbClr val="C000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76292966"/>
      </p:ext>
    </p:extLst>
  </p:cSld>
  <p:clrMapOvr>
    <a:masterClrMapping/>
  </p:clrMapOvr>
</p:sld>
</file>

<file path=ppt/theme/theme1.xml><?xml version="1.0" encoding="utf-8"?>
<a:theme xmlns:a="http://schemas.openxmlformats.org/drawingml/2006/main" name="ThemeLuvin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Luvina" id="{CD9EE290-BD69-414A-B85D-37F2FE683C1A}" vid="{0E609A2A-975B-4478-B97D-2E19EC055D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ThemeLuvina</Template>
  <TotalTime>437</TotalTime>
  <Words>1917</Words>
  <Application>Microsoft Office PowerPoint</Application>
  <PresentationFormat>Widescreen</PresentationFormat>
  <Paragraphs>157</Paragraphs>
  <Slides>21</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 Unicode MS</vt:lpstr>
      <vt:lpstr>メイリオ</vt:lpstr>
      <vt:lpstr>Arial</vt:lpstr>
      <vt:lpstr>Calibri</vt:lpstr>
      <vt:lpstr>Raleway</vt:lpstr>
      <vt:lpstr>Segoe UI</vt:lpstr>
      <vt:lpstr>Symbol</vt:lpstr>
      <vt:lpstr>Times New Roman</vt:lpstr>
      <vt:lpstr>Wingdings</vt:lpstr>
      <vt:lpstr>ThemeLuvina</vt:lpstr>
      <vt:lpstr>Web Security</vt:lpstr>
      <vt:lpstr>Nội dung</vt:lpstr>
      <vt:lpstr>Kiểm soát truy vấn cơ sở dữ liệu để tránh lỗ hổng SQL Injection</vt:lpstr>
      <vt:lpstr>Kiểm soát truy vấn cơ sở dữ liệu để tránh lỗ hổng SQL Injection</vt:lpstr>
      <vt:lpstr>Kiểm soát truy vấn cơ sở dữ liệu để tránh lỗ hổng SQL Injection</vt:lpstr>
      <vt:lpstr>Xử lý dữ liệu đầu vào để tránh lỗ hổng XSS (Cross Site Scripting)</vt:lpstr>
      <vt:lpstr>Xử lý dữ liệu đầu vào để tránh lỗ hổng XSS (Cross Site Scripting)</vt:lpstr>
      <vt:lpstr>Xử lý dữ liệu đầu vào để tránh lỗ hổng XSS (Cross Site Scripting)</vt:lpstr>
      <vt:lpstr>Xử lý dữ liệu đầu vào để tránh lỗ hổng XSS (Cross Site Scripting)</vt:lpstr>
      <vt:lpstr>Xử lý dữ liệu đầu vào để tránh lỗ hổng XSS (Cross Site Scripting)</vt:lpstr>
      <vt:lpstr>Xử lý dữ liệu đầu vào để tránh lỗ hổng XSS (Cross Site Scripting)</vt:lpstr>
      <vt:lpstr>Mã hóa dữ liệu nhạy cảm</vt:lpstr>
      <vt:lpstr>Mã hóa dữ liệu nhạy cảm</vt:lpstr>
      <vt:lpstr>Mã hóa dữ liệu nhạy cảm</vt:lpstr>
      <vt:lpstr>Kiểm tra quyền truy cập của người dùng</vt:lpstr>
      <vt:lpstr>Kiểm tra quyền truy cập của người dùng</vt:lpstr>
      <vt:lpstr>Kiểm tra quyền truy cập của người dùng</vt:lpstr>
      <vt:lpstr>User enumeration</vt:lpstr>
      <vt:lpstr>User enumeration</vt:lpstr>
      <vt:lpstr>Thất thoát thông tin do kiểm soát lỗi và ngoại lệ không tốt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 Thi Phuong Loan</dc:creator>
  <cp:lastModifiedBy>Nguyen Thi Mai Huong</cp:lastModifiedBy>
  <cp:revision>8</cp:revision>
  <dcterms:created xsi:type="dcterms:W3CDTF">2023-03-02T01:53:08Z</dcterms:created>
  <dcterms:modified xsi:type="dcterms:W3CDTF">2024-08-08T09:10:02Z</dcterms:modified>
</cp:coreProperties>
</file>