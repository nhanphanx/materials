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9" r:id="rId4"/>
    <p:sldId id="303" r:id="rId5"/>
    <p:sldId id="307" r:id="rId6"/>
    <p:sldId id="384" r:id="rId7"/>
    <p:sldId id="304" r:id="rId8"/>
    <p:sldId id="389" r:id="rId9"/>
    <p:sldId id="369" r:id="rId10"/>
    <p:sldId id="385" r:id="rId11"/>
    <p:sldId id="387" r:id="rId12"/>
    <p:sldId id="312" r:id="rId13"/>
    <p:sldId id="264" r:id="rId14"/>
    <p:sldId id="320" r:id="rId15"/>
    <p:sldId id="269" r:id="rId16"/>
    <p:sldId id="382" r:id="rId17"/>
    <p:sldId id="390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60" r:id="rId28"/>
    <p:sldId id="262" r:id="rId2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BFBF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31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/>
              <a:t>Công ty Cổ phần Phần mềm Luvina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D7E6145-E51C-4B1F-A645-8447AC59201D}" type="datetime1">
              <a:rPr lang="en-US" smtClean="0"/>
              <a:t>06/27/2023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1163BA4-F2FE-4264-A94A-DD3F75BFF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52756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/>
              <a:t>Công ty Cổ phần Phần mềm Luvina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F78DF3-8669-40BE-9BF5-613F03967067}" type="datetime1">
              <a:rPr lang="en-US" smtClean="0"/>
              <a:t>06/27/2023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871A0EB-F5F1-4AC7-90BE-9C4A00AC8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15225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1A0EB-F5F1-4AC7-90BE-9C4A00AC8EE8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Công ty Cổ phần Phần mềm Luvina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1A9174CF-5C46-4FAB-A5E4-99081E1C645D}" type="datetime1">
              <a:rPr lang="en-US" smtClean="0"/>
              <a:t>06/27/2023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60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Công ty Cổ phần Phần mềm Luvina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DF78DF3-8669-40BE-9BF5-613F03967067}" type="datetime1">
              <a:rPr lang="en-US" smtClean="0"/>
              <a:t>06/27/2023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1A0EB-F5F1-4AC7-90BE-9C4A00AC8E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3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Công ty Cổ phần Phần mềm Luvina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DF78DF3-8669-40BE-9BF5-613F03967067}" type="datetime1">
              <a:rPr lang="en-US" smtClean="0"/>
              <a:t>06/27/2023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1A0EB-F5F1-4AC7-90BE-9C4A00AC8E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897166"/>
            <a:ext cx="10058400" cy="2427945"/>
          </a:xfrm>
          <a:solidFill>
            <a:srgbClr val="C00000"/>
          </a:solidFill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66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0E0A-DAD1-45CC-9B88-DB2293245FF4}" type="datetime1">
              <a:rPr lang="en-US" smtClean="0"/>
              <a:t>06/27/2023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35925" y="0"/>
            <a:ext cx="356075" cy="286602"/>
          </a:xfrm>
        </p:spPr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0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459664-ABBF-4DAC-B2B2-D5AF180C03A5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5"/>
            <a:ext cx="10559183" cy="563336"/>
          </a:xfrm>
        </p:spPr>
        <p:txBody>
          <a:bodyPr>
            <a:noAutofit/>
          </a:bodyPr>
          <a:lstStyle>
            <a:lvl1pPr marL="0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34042"/>
            <a:ext cx="10559184" cy="5221477"/>
          </a:xfrm>
        </p:spPr>
        <p:txBody>
          <a:bodyPr/>
          <a:lstStyle>
            <a:lvl1pPr marL="403225" indent="-403225">
              <a:buFont typeface="Wingdings" panose="05000000000000000000" pitchFamily="2" charset="2"/>
              <a:buChar char="v"/>
              <a:defRPr/>
            </a:lvl1pPr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  <a:lvl6pPr marL="1100000" indent="-228600">
              <a:buFont typeface="Wingdings" panose="05000000000000000000" pitchFamily="2" charset="2"/>
              <a:buChar char="v"/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79" y="6388832"/>
            <a:ext cx="2472271" cy="365125"/>
          </a:xfrm>
        </p:spPr>
        <p:txBody>
          <a:bodyPr/>
          <a:lstStyle/>
          <a:p>
            <a:fld id="{856185B7-8100-4004-8F25-FDE206CDD80E}" type="datetime1">
              <a:rPr lang="en-US" smtClean="0"/>
              <a:t>06/27/2023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4598" y="6388832"/>
            <a:ext cx="797186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27379" y="-3422"/>
            <a:ext cx="364621" cy="365125"/>
          </a:xfrm>
        </p:spPr>
        <p:txBody>
          <a:bodyPr/>
          <a:lstStyle>
            <a:lvl1pPr>
              <a:defRPr/>
            </a:lvl1pPr>
          </a:lstStyle>
          <a:p>
            <a:fld id="{1389EE0C-A202-4F53-A63C-21E5F484A4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1097280" y="849941"/>
            <a:ext cx="1055918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mond 14">
            <a:extLst>
              <a:ext uri="{FF2B5EF4-FFF2-40B4-BE49-F238E27FC236}">
                <a16:creationId xmlns:a16="http://schemas.microsoft.com/office/drawing/2014/main" id="{4EDE1CC3-2AE5-4476-9A8B-3C9112CAE9B8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47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192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374438"/>
            <a:ext cx="4937760" cy="4494656"/>
          </a:xfrm>
        </p:spPr>
        <p:txBody>
          <a:bodyPr/>
          <a:lstStyle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374438"/>
            <a:ext cx="4937760" cy="4494657"/>
          </a:xfrm>
        </p:spPr>
        <p:txBody>
          <a:bodyPr/>
          <a:lstStyle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7869-A74B-4744-AB74-890319814AB9}" type="datetime1">
              <a:rPr lang="en-US" smtClean="0"/>
              <a:t>06/27/2023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097279" y="89435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022CB6C-94C8-4D25-AFEF-4BA876C80FE8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5B680D24-38E1-4CDE-8A65-4D1A20EB0065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79" y="286604"/>
            <a:ext cx="10058401" cy="6108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37820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272553"/>
            <a:ext cx="4937760" cy="3687981"/>
          </a:xfrm>
        </p:spPr>
        <p:txBody>
          <a:bodyPr/>
          <a:lstStyle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37820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272553"/>
            <a:ext cx="4937760" cy="3687981"/>
          </a:xfrm>
        </p:spPr>
        <p:txBody>
          <a:bodyPr/>
          <a:lstStyle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1631-61A7-423C-B880-B6DEF3713697}" type="datetime1">
              <a:rPr lang="en-US" smtClean="0"/>
              <a:t>06/27/2023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>
            <a:cxnSpLocks/>
          </p:cNvCxnSpPr>
          <p:nvPr userDrawn="1"/>
        </p:nvCxnSpPr>
        <p:spPr>
          <a:xfrm>
            <a:off x="1097280" y="897463"/>
            <a:ext cx="10058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4975DFC-F6B5-4DDC-9091-224B0A0820F3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051F33A5-E40B-47FE-A950-FCCFFAF3E434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07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02FDC-9609-4BF9-87DB-AEBBEFA4D71E}" type="datetime1">
              <a:rPr lang="en-US" smtClean="0"/>
              <a:t>06/27/2023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 userDrawn="1"/>
        </p:nvCxnSpPr>
        <p:spPr>
          <a:xfrm>
            <a:off x="1097280" y="849941"/>
            <a:ext cx="1055918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77137FD8-7447-437F-8C56-FA869F094BC7}"/>
              </a:ext>
            </a:extLst>
          </p:cNvPr>
          <p:cNvSpPr/>
          <p:nvPr userDrawn="1"/>
        </p:nvSpPr>
        <p:spPr>
          <a:xfrm flipV="1">
            <a:off x="1" y="-3424"/>
            <a:ext cx="345784" cy="20852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164313-688B-4E23-8C77-6814A77FF188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022E58FC-5712-4C2B-9D0B-FC9E6BFAD0C0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2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31B7-2AD6-4893-834D-1537B23C7D49}" type="datetime1">
              <a:rPr lang="en-US" smtClean="0"/>
              <a:t>06/27/2023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6202B8AD-C749-4385-A7A7-A433B97CC169}"/>
              </a:ext>
            </a:extLst>
          </p:cNvPr>
          <p:cNvSpPr/>
          <p:nvPr userDrawn="1"/>
        </p:nvSpPr>
        <p:spPr>
          <a:xfrm flipV="1">
            <a:off x="1" y="-3424"/>
            <a:ext cx="345784" cy="20852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EF096-870C-43C3-BE6B-5CC3572B0FA8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144F99A-223D-412B-A6C5-9B22D0C00322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1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014" y="919779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115C8F3-0641-4DF6-8970-6E686BA2E08E}" type="datetime1">
              <a:rPr lang="en-US" smtClean="0"/>
              <a:t>06/27/2023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6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AD85-61FF-4C37-B2CC-9E697D53FAA1}" type="datetime1">
              <a:rPr lang="en-US" smtClean="0"/>
              <a:t>06/27/2023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7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3E60-F822-4E2B-99BB-F92E9E3BA3D0}" type="datetime1">
              <a:rPr lang="en-US" smtClean="0"/>
              <a:t>06/27/2023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280" y="1126172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95E6B7D-6B7B-4DF7-99F2-05A39189C729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CDB0086C-7CF8-4229-B84F-C22C3C6DEF95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7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>
            <a:lvl2pPr marL="384048" indent="-182880">
              <a:buFont typeface="Wingdings" panose="05000000000000000000" pitchFamily="2" charset="2"/>
              <a:buChar char="v"/>
              <a:defRPr/>
            </a:lvl2pPr>
            <a:lvl3pPr marL="566928" indent="-182880">
              <a:buFont typeface="Wingdings" panose="05000000000000000000" pitchFamily="2" charset="2"/>
              <a:buChar char="v"/>
              <a:defRPr/>
            </a:lvl3pPr>
            <a:lvl4pPr marL="749808" indent="-182880">
              <a:buFont typeface="Wingdings" panose="05000000000000000000" pitchFamily="2" charset="2"/>
              <a:buChar char="v"/>
              <a:defRPr/>
            </a:lvl4pPr>
            <a:lvl5pPr marL="932688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9DA3-9C93-4392-A6C5-BAB80E6F22A7}" type="datetime1">
              <a:rPr lang="en-US" smtClean="0"/>
              <a:t>06/27/2023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7952C4-5481-49E1-A18B-CE5C6F913CB7}"/>
              </a:ext>
            </a:extLst>
          </p:cNvPr>
          <p:cNvSpPr/>
          <p:nvPr userDrawn="1"/>
        </p:nvSpPr>
        <p:spPr>
          <a:xfrm>
            <a:off x="0" y="-3422"/>
            <a:ext cx="307649" cy="6861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7A2A816F-C02E-472A-BF31-1F25275827F6}"/>
              </a:ext>
            </a:extLst>
          </p:cNvPr>
          <p:cNvSpPr/>
          <p:nvPr userDrawn="1"/>
        </p:nvSpPr>
        <p:spPr>
          <a:xfrm>
            <a:off x="153824" y="709300"/>
            <a:ext cx="307649" cy="205099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2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A53B32-E764-400F-9C17-EECA1B05028B}"/>
              </a:ext>
            </a:extLst>
          </p:cNvPr>
          <p:cNvSpPr/>
          <p:nvPr userDrawn="1"/>
        </p:nvSpPr>
        <p:spPr>
          <a:xfrm rot="16200000" flipH="1">
            <a:off x="11747036" y="111653"/>
            <a:ext cx="530978" cy="30767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559182" cy="5633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991312"/>
            <a:ext cx="10559182" cy="51958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1239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97E6AC-2EAA-410B-ABC0-27ACA37FCFBA}" type="datetime1">
              <a:rPr lang="en-US" smtClean="0"/>
              <a:t>06/27/2023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4" y="6451239"/>
            <a:ext cx="7970277" cy="373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5924" y="1"/>
            <a:ext cx="356075" cy="28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8926AE8-624E-4B01-ADAD-205DBF9E1C0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2201CFF-CAF9-408E-BB2D-FC132985D074}"/>
              </a:ext>
            </a:extLst>
          </p:cNvPr>
          <p:cNvSpPr/>
          <p:nvPr userDrawn="1"/>
        </p:nvSpPr>
        <p:spPr>
          <a:xfrm>
            <a:off x="247829" y="717369"/>
            <a:ext cx="325879" cy="184177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ABD6CC7-EE9A-43D6-883B-8F9B40635C0D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487671994"/>
              </p:ext>
            </p:extLst>
          </p:nvPr>
        </p:nvGraphicFramePr>
        <p:xfrm>
          <a:off x="329784" y="35656"/>
          <a:ext cx="827317" cy="417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2" imgW="3475487" imgH="1754164" progId="CorelDraw.Graphic.17">
                  <p:embed/>
                </p:oleObj>
              </mc:Choice>
              <mc:Fallback>
                <p:oleObj name="CorelDRAW" r:id="rId12" imgW="3475487" imgH="1754164" progId="CorelDraw.Graphic.17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9784" y="35656"/>
                        <a:ext cx="827317" cy="417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042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v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v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v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ing.redmine.luvina.ne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ing.redmine.luvina.net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816429"/>
            <a:ext cx="10058400" cy="2438838"/>
          </a:xfrm>
          <a:solidFill>
            <a:srgbClr val="C00000"/>
          </a:solidFill>
        </p:spPr>
        <p:txBody>
          <a:bodyPr anchor="ctr">
            <a:normAutofit/>
          </a:bodyPr>
          <a:lstStyle/>
          <a:p>
            <a:pPr algn="ctr"/>
            <a:r>
              <a:rPr lang="en-US" dirty="0"/>
              <a:t>HƯỚNG DẪN SỬ DỤNG REDMINE TRONG DỰ 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0058" y="4455620"/>
            <a:ext cx="6808393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PHỤ TRÁCH: NGUYỄN THỊ MAI HƯƠNG - TRD 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0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Issues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EE0C-A202-4F53-A63C-21E5F484A48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460736" cy="56333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EE0C-A202-4F53-A63C-21E5F484A48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12453" y="2779816"/>
            <a:ext cx="10928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2453" y="4131578"/>
            <a:ext cx="10928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Redmine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LUVINA: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4.2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cập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331BC-8B28-D35E-66F0-7F8F3C55F924}"/>
              </a:ext>
            </a:extLst>
          </p:cNvPr>
          <p:cNvSpPr txBox="1"/>
          <p:nvPr/>
        </p:nvSpPr>
        <p:spPr>
          <a:xfrm>
            <a:off x="1064853" y="1118387"/>
            <a:ext cx="10928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Redmine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issue, update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36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B2BC9BC-55D6-4577-8903-AC381CD420D1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07B6846-C78E-44A8-AD87-8A439629531F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561175" y="1038225"/>
            <a:ext cx="9917652" cy="4781550"/>
          </a:xfrm>
        </p:spPr>
        <p:txBody>
          <a:bodyPr/>
          <a:lstStyle/>
          <a:p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01168" lvl="1" indent="0">
              <a:buNone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01168" lvl="1" indent="0">
              <a:buNone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Link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redmine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Redmine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(NVM):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  <a:hlinkClick r:id="rId2"/>
              </a:rPr>
              <a:t>https://traning.redmine.luvina.net/</a:t>
            </a:r>
            <a:r>
              <a:rPr lang="en-US" sz="1800" dirty="0">
                <a:effectLst/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</a:p>
          <a:p>
            <a:pPr marL="201168" lvl="1" indent="0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-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ài khoả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Redmine: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</a:t>
            </a:r>
          </a:p>
          <a:p>
            <a:pPr marL="0" indent="0"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C6F18AA-A5FC-439A-97F3-DED97BFFD0A1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Issues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34DF808-5E90-4113-BA5D-092537C517AC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249327" y="1114999"/>
            <a:ext cx="10255085" cy="4781550"/>
          </a:xfrm>
        </p:spPr>
        <p:txBody>
          <a:bodyPr>
            <a:normAutofit/>
          </a:bodyPr>
          <a:lstStyle/>
          <a:p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Issues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Trong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Issue hay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nhắc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Feature/Screen: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Danh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sách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requirement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được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khách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Task / Sub-Task: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công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việc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review: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lỗi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quá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trình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review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sản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phẩm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(review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thiết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kế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code, test case,..)</a:t>
            </a: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testing: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lỗi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quá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trình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test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phần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mềm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Risk: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rủi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ro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Issue: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đề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Q&amp;A: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những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điểm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rõ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NC (Non-compliance):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Những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điểm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tuân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thủ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quy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trình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Customer: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lỗi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do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khách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add/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gửi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Luvina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Nhân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viên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Loại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chỉ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giành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project [Training]. Khi NVM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training Redmine,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tự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1 issue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Nhân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viên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Subject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[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Họ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tên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nhân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viên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</a:t>
            </a:r>
            <a:endParaRPr lang="en-US" alt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Tracker: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Trong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[New Issue]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Tracker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Tracker</a:t>
            </a:r>
            <a:r>
              <a:rPr lang="vi-VN" sz="16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hiểu đơn giản là sử dụng để phân loại các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Issues ở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41AFB44-2A97-470E-9853-2CF82B388106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364C36F-9987-4D27-A686-F524C29C872B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097279" y="849941"/>
            <a:ext cx="10351009" cy="5053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   1. </a:t>
            </a:r>
            <a:r>
              <a:rPr lang="en-US" altLang="ja-JP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Cách</a:t>
            </a:r>
            <a:r>
              <a:rPr lang="en-US" altLang="ja-JP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ja-JP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Project </a:t>
            </a:r>
            <a:r>
              <a:rPr lang="en-US" altLang="ja-JP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trên</a:t>
            </a:r>
            <a:r>
              <a:rPr lang="en-US" altLang="ja-JP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</a:t>
            </a:r>
          </a:p>
          <a:p>
            <a:pPr marL="0" indent="0">
              <a:buNone/>
            </a:pPr>
            <a:r>
              <a:rPr lang="en-US" altLang="ja-JP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   2.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issues</a:t>
            </a:r>
          </a:p>
          <a:p>
            <a:pPr marL="384048" lvl="2" indent="0">
              <a:buNone/>
            </a:pP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-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</a:t>
            </a:r>
          </a:p>
          <a:p>
            <a:pPr marL="384048" lvl="2" indent="0">
              <a:buNone/>
            </a:pP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-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bug testing</a:t>
            </a:r>
          </a:p>
          <a:p>
            <a:pPr marL="384048" lvl="2" indent="0">
              <a:buNone/>
            </a:pP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-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bug review</a:t>
            </a:r>
          </a:p>
          <a:p>
            <a:pPr marL="384048" lvl="2" indent="0">
              <a:buNone/>
            </a:pP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-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Q&amp;A</a:t>
            </a:r>
          </a:p>
          <a:p>
            <a:pPr marL="201168" lvl="1" indent="0">
              <a:buNone/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3.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Hiển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thị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danh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sách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Issues</a:t>
            </a:r>
          </a:p>
          <a:p>
            <a:pPr marL="201168" lvl="1" indent="0">
              <a:buNone/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4.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Tìm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kiếm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(Filter)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thông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tin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trên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</a:t>
            </a:r>
          </a:p>
          <a:p>
            <a:pPr marL="201168" lvl="1" indent="0">
              <a:buNone/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5.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Tìm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kiếm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(Filter)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thông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tin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query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</a:p>
          <a:p>
            <a:pPr marL="201168" lvl="1" indent="0">
              <a:buNone/>
            </a:pP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6.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Cập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nhật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Logtime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</a:t>
            </a:r>
          </a:p>
          <a:p>
            <a:pPr marL="201168" lvl="1" indent="0">
              <a:buNone/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7. Edit issue</a:t>
            </a:r>
          </a:p>
          <a:p>
            <a:pPr marL="201168" lvl="1" indent="0">
              <a:buNone/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8. Update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hàng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loạt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(Bulk edit)</a:t>
            </a:r>
          </a:p>
          <a:p>
            <a:pPr marL="201168" lvl="1" indent="0">
              <a:buNone/>
            </a:pP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9.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số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quy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ước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</a:t>
            </a:r>
          </a:p>
          <a:p>
            <a:pPr marL="201168" lvl="1" indent="0">
              <a:buNone/>
            </a:pP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10.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số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quy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ước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bug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76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41AFB44-2A97-470E-9853-2CF82B388106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364C36F-9987-4D27-A686-F524C29C872B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097279" y="849941"/>
            <a:ext cx="10351009" cy="907838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Redmine: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ban.</a:t>
            </a:r>
          </a:p>
          <a:p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 account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redmine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0FE47-246D-204E-0BBB-D2AB645C1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45" y="1990326"/>
            <a:ext cx="9972675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CA2BD50-0557-4EF0-9528-DB082BBDDF77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Issues - Task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B682742-BA3A-4BFE-AE9B-57C0EE9FE15F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097279" y="1002715"/>
            <a:ext cx="2524810" cy="5273798"/>
          </a:xfrm>
        </p:spPr>
        <p:txBody>
          <a:bodyPr>
            <a:normAutofit/>
          </a:bodyPr>
          <a:lstStyle/>
          <a:p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List Issues, click link [</a:t>
            </a:r>
            <a:r>
              <a:rPr lang="en-US" altLang="en-US" sz="1500" dirty="0">
                <a:solidFill>
                  <a:srgbClr val="0000FF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New issue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 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Hiển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thị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màn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hình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thêm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mới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Issue.</a:t>
            </a:r>
          </a:p>
          <a:p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xác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định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xem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loại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nào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tương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ứng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phù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hợp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1500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Ví</a:t>
            </a:r>
            <a:r>
              <a:rPr lang="en-US" altLang="en-US" sz="1500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dụ</a:t>
            </a:r>
            <a:r>
              <a:rPr lang="en-US" altLang="en-US" sz="1500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muốn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1 </a:t>
            </a:r>
            <a:r>
              <a:rPr lang="en-US" altLang="en-US" sz="1500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Task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Tracker,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sz="1500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Task</a:t>
            </a:r>
            <a:r>
              <a:rPr lang="en-US" altLang="en-US" sz="1500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 </a:t>
            </a:r>
          </a:p>
          <a:p>
            <a:pPr lvl="1"/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ý: 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dấu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*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bắt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buộc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dấu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*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làm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rõ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hơn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về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muốn</a:t>
            </a:r>
            <a:r>
              <a:rPr lang="en-US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endParaRPr lang="en-US" altLang="en-US" sz="1500" dirty="0">
              <a:solidFill>
                <a:srgbClr val="FF0000"/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88BC3-1577-D7F9-18E9-57494E7EE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89" y="900586"/>
            <a:ext cx="8398276" cy="556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92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328A110-307E-4119-8345-8C91FECD707D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 - Bug testing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5ACE2B5-113D-43A7-AFFA-8FD051DEAB1B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090658" y="1038225"/>
            <a:ext cx="2442654" cy="5533170"/>
          </a:xfrm>
        </p:spPr>
        <p:txBody>
          <a:bodyPr>
            <a:normAutofit lnSpcReduction="10000"/>
          </a:bodyPr>
          <a:lstStyle/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[New issue],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giá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[Tracker]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Testing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Hiển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Testing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ý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bug testing: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hạng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dấu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là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phải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nhập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hạng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dấu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thì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nếu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thì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nhập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chưa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thì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chưa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nhập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Khi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Edit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update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thêm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tin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5AC52-F2CD-805E-A1CA-24E714C2E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312" y="933620"/>
            <a:ext cx="8658688" cy="57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4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CA2BD50-0557-4EF0-9528-DB082BBDDF77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 – Bug review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B682742-BA3A-4BFE-AE9B-57C0EE9FE15F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516787" y="1038225"/>
            <a:ext cx="10139675" cy="5273798"/>
          </a:xfrm>
        </p:spPr>
        <p:txBody>
          <a:bodyPr>
            <a:normAutofit/>
          </a:bodyPr>
          <a:lstStyle/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muốn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1 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reivew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review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 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BugReview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tương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tự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như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[Bug Testing]</a:t>
            </a:r>
          </a:p>
          <a:p>
            <a:pPr lvl="1"/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536A8-D043-F471-CB85-6766ABD12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074" y="1861613"/>
            <a:ext cx="10326025" cy="47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75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CA2BD50-0557-4EF0-9528-DB082BBDDF77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 – Q&amp;A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B682742-BA3A-4BFE-AE9B-57C0EE9FE15F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097279" y="1038225"/>
            <a:ext cx="4522286" cy="5682171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[New Issue],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giá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[Q&amp;A]=&gt;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Hiển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tin Q&amp;A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Subject: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mô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quát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nội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dung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Description: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mô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chi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tiết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Câu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hỏi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thuôc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File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nào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, sheet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nào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, line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nào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và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trích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dẫn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requirement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tại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vấn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đề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Nội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dung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muốn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hỏi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xác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là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gì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?</a:t>
            </a:r>
          </a:p>
          <a:p>
            <a:pPr lvl="2"/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Phương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án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giải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quyết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thì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viết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ra</a:t>
            </a:r>
            <a:endParaRPr lang="en-US" altLang="en-US" sz="1800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Status: Theo workflow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thường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mặc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status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[New]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Priority: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ưu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tiên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Assignee: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Gửi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ai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giao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click link [Assignee to me]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Start date: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Ngày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bắt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Due date: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Ngày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dự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xong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Estimate time: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lượng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hỏi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giờ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Category: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%Done: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%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rỗng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Q&amp;A: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phù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hợp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Q&amp;A. 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File: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Ngoài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đính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kèm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theo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file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ảnh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Task.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Watchers: Member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được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xem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tick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member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đó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Button Create: Khi click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button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1 task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thống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Button Create and add another: Khi click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button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1 task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vẫn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ở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New Issue</a:t>
            </a:r>
          </a:p>
          <a:p>
            <a:pPr lvl="1"/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ý: 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dấu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*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bắt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buộc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dau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*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làm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rõ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hơn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về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muốn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thêm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Sau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Q&amp;A,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trả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lời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QA:</a:t>
            </a:r>
          </a:p>
          <a:p>
            <a:pPr lvl="2"/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trả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lời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lần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đầu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Edit Q&amp;A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trả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lời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ơNote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</a:t>
            </a:r>
          </a:p>
          <a:p>
            <a:pPr lvl="2"/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trả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lời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lần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2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trở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Q&amp;A-&gt;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[Quote] -&gt;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câu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trả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lời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vùng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[Note], tab [Edit]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E3839D-D166-4EDB-B088-4F2E8938E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608" y="967665"/>
            <a:ext cx="6430392" cy="513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7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15A567A-6B00-4915-A484-7B04D35C52BB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Issues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8B8F9C-5335-B834-DB37-37089038E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1198485"/>
            <a:ext cx="10560050" cy="3858271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EE0C-A202-4F53-A63C-21E5F484A48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E31638-D038-923E-730F-37FADB23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58" y="978409"/>
            <a:ext cx="10197484" cy="126187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redmine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duedate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Filter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VD: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category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“Add filter” 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C0AEF5-8A6A-0FF7-9746-0E830DAC5A66}"/>
              </a:ext>
            </a:extLst>
          </p:cNvPr>
          <p:cNvSpPr txBox="1">
            <a:spLocks/>
          </p:cNvSpPr>
          <p:nvPr/>
        </p:nvSpPr>
        <p:spPr>
          <a:xfrm>
            <a:off x="1268196" y="286605"/>
            <a:ext cx="10559183" cy="5633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</a:rPr>
              <a:t>4. </a:t>
            </a:r>
            <a:r>
              <a:rPr lang="en-US" sz="3600" dirty="0" err="1">
                <a:solidFill>
                  <a:schemeClr val="tx1"/>
                </a:solidFill>
              </a:rPr>
              <a:t>Cách</a:t>
            </a:r>
            <a:r>
              <a:rPr lang="en-US" sz="3600" dirty="0">
                <a:solidFill>
                  <a:schemeClr val="tx1"/>
                </a:solidFill>
              </a:rPr>
              <a:t> Search(filter) </a:t>
            </a:r>
            <a:r>
              <a:rPr lang="en-US" sz="3600" dirty="0" err="1">
                <a:solidFill>
                  <a:schemeClr val="tx1"/>
                </a:solidFill>
              </a:rPr>
              <a:t>thông</a:t>
            </a:r>
            <a:r>
              <a:rPr lang="en-US" sz="3600" dirty="0">
                <a:solidFill>
                  <a:schemeClr val="tx1"/>
                </a:solidFill>
              </a:rPr>
              <a:t> tin </a:t>
            </a:r>
            <a:r>
              <a:rPr lang="en-US" sz="3600" dirty="0" err="1">
                <a:solidFill>
                  <a:schemeClr val="tx1"/>
                </a:solidFill>
              </a:rPr>
              <a:t>trên</a:t>
            </a:r>
            <a:r>
              <a:rPr lang="en-US" sz="3600" dirty="0">
                <a:solidFill>
                  <a:schemeClr val="tx1"/>
                </a:solidFill>
              </a:rPr>
              <a:t> Redmine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D8878-A4C8-95A8-0574-F8ED461DC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196" y="2176120"/>
            <a:ext cx="10135340" cy="452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2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EE0C-A202-4F53-A63C-21E5F484A48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E31638-D038-923E-730F-37FADB23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939415"/>
            <a:ext cx="6227066" cy="581649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spcAft>
                <a:spcPts val="300"/>
              </a:spcAft>
              <a:buNone/>
            </a:pP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</a:t>
            </a:r>
          </a:p>
          <a:p>
            <a:pPr eaLnBrk="1" hangingPunct="1">
              <a:lnSpc>
                <a:spcPct val="8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view.</a:t>
            </a:r>
          </a:p>
          <a:p>
            <a:pPr eaLnBrk="1" hangingPunct="1">
              <a:lnSpc>
                <a:spcPct val="8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Khi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/view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options.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tứ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 “Available Columns”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mũi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“Selected Columns”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view.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mũi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“Available Columns” 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“Selected Columns”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view.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mũi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 startAt="4"/>
            </a:pP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mũi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endParaRPr lang="en-US" altLang="ja-JP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 startAt="4"/>
            </a:pP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“Apply”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 startAt="4"/>
            </a:pP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 “Save custom query”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 startAt="4"/>
            </a:pP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Query.</a:t>
            </a:r>
          </a:p>
          <a:p>
            <a:pPr marL="689483" lvl="3" indent="-342900">
              <a:lnSpc>
                <a:spcPct val="150000"/>
              </a:lnSpc>
              <a:spcAft>
                <a:spcPts val="600"/>
              </a:spcAft>
              <a:buAutoNum type="arabicPeriod" startAt="4"/>
            </a:pP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ja-JP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4A007E-125F-EA09-77A9-2BE53488D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285" y="3516748"/>
            <a:ext cx="1494293" cy="51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793589-8ED3-9B31-4120-E69CE18A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5"/>
            <a:ext cx="10559183" cy="5633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Seach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9B653-61D8-12F7-ED1A-E95FB490C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504" y="4107356"/>
            <a:ext cx="3277958" cy="272340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B9C5583-0B75-786D-CA3C-065164A92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285" y="952311"/>
            <a:ext cx="3514094" cy="248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06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logtime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EE0C-A202-4F53-A63C-21E5F484A48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E31638-D038-923E-730F-37FADB23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07" y="936389"/>
            <a:ext cx="4010003" cy="5721864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time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task.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logtime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Redmine: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“Edit”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“Spent time” (1)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“Activity” (2) </a:t>
            </a:r>
            <a:r>
              <a:rPr lang="en-US" altLang="ja-JP" sz="13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(Tham </a:t>
            </a:r>
            <a:r>
              <a:rPr lang="en-US" altLang="ja-JP" sz="13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altLang="ja-JP" sz="13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slide Quy </a:t>
            </a:r>
            <a:r>
              <a:rPr lang="en-US" altLang="ja-JP" sz="13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ja-JP" sz="13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ja-JP" sz="13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Task)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“Submit”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“…”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task.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Logtime</a:t>
            </a:r>
            <a:endParaRPr lang="en-US" altLang="ja-JP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(6)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“Hours” (7)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tasktại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“Activity”(8)</a:t>
            </a:r>
          </a:p>
          <a:p>
            <a:pPr marL="342900" indent="-342900" eaLnBrk="1" hangingPunct="1">
              <a:lnSpc>
                <a:spcPct val="80000"/>
              </a:lnSpc>
              <a:buAutoNum type="arabicPeriod"/>
            </a:pP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“Create”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logtime</a:t>
            </a:r>
            <a:r>
              <a:rPr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(9)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ja-JP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ja-JP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Trong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quên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 time,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hôm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altLang="ja-JP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CFB6A4-F986-AD36-9BEE-DF494B4D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862" y="936389"/>
            <a:ext cx="6882517" cy="30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17A5E0-A50E-DDFA-81EB-B3EDFF316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862" y="4034682"/>
            <a:ext cx="6882517" cy="2256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A6217-8F50-10BD-E537-C9FFE9736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888" y="5007005"/>
            <a:ext cx="4095238" cy="165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9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CA2BD50-0557-4EF0-9528-DB082BBDDF77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Edit Issues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B682742-BA3A-4BFE-AE9B-57C0EE9FE15F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516787" y="1038225"/>
            <a:ext cx="10139675" cy="4781550"/>
          </a:xfrm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List Issues,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issues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edit,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bằng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Click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[…],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[Edit]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Hiển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edit Issue.</a:t>
            </a: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C221B-4D3C-F25F-74FA-C061631A5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66" y="1727874"/>
            <a:ext cx="10139675" cy="48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48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CA2BD50-0557-4EF0-9528-DB082BBDDF77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Bulk Edit –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loạt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B682742-BA3A-4BFE-AE9B-57C0EE9FE15F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170557" y="918099"/>
            <a:ext cx="3277155" cy="56532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1. Khi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nào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nên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sử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dụng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năng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“Bulk Edit”?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đều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giá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ví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dụ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%Done).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năng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Edit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vẫn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được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tuy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nhiên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edit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từng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mất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gian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thao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edit. Do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vậy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trường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hợp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muốn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edit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nhanh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tính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năng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“Bulk edit”</a:t>
            </a: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2.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Cách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thực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altLang="en-US" b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“Bulk edit”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List Issues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Tích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ô checkbox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edit.(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check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lớn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2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trở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lên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) (1)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Click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[…] (2)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menu “Bulk edit” (3)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Hiển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“Bulk Edit selected issues”</a:t>
            </a:r>
          </a:p>
          <a:p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đây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giá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trị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update (4)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Click button [Submit] (5)</a:t>
            </a:r>
          </a:p>
          <a:p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Lưu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ý: Sau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khi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submit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là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tất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cả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issue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được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sẽ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được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nhật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giá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trị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thay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đổi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en-US" dirty="0"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B9A00-6B6D-723F-A75E-0D1E0289A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639" y="918099"/>
            <a:ext cx="6332738" cy="31745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060FBE-0841-281B-9A4E-F0A018DE97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639" y="4304656"/>
            <a:ext cx="6471822" cy="25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40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5018035-76B2-43A2-B85A-98051FE460A9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task(1/7)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F8CBCC-29A8-47E1-91AD-B403D8D1D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578214"/>
              </p:ext>
            </p:extLst>
          </p:nvPr>
        </p:nvGraphicFramePr>
        <p:xfrm>
          <a:off x="1658830" y="1159669"/>
          <a:ext cx="9997632" cy="4538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861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356">
                <a:tc>
                  <a:txBody>
                    <a:bodyPr/>
                    <a:lstStyle/>
                    <a:p>
                      <a:r>
                        <a:rPr lang="en-US" sz="1800" dirty="0"/>
                        <a:t>00. Project Management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All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quản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lý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dự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án</a:t>
                      </a:r>
                      <a:r>
                        <a:rPr lang="en-US" sz="1400" baseline="0" dirty="0"/>
                        <a:t>, </a:t>
                      </a:r>
                      <a:r>
                        <a:rPr lang="en-US" sz="1400" baseline="0" dirty="0" err="1"/>
                        <a:t>bao</a:t>
                      </a:r>
                      <a:r>
                        <a:rPr lang="en-US" sz="1400" baseline="0" dirty="0"/>
                        <a:t> gồm </a:t>
                      </a:r>
                      <a:r>
                        <a:rPr lang="en-US" sz="1400" baseline="0" dirty="0" err="1"/>
                        <a:t>việc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lập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hoạch</a:t>
                      </a:r>
                      <a:r>
                        <a:rPr lang="en-US" sz="1400" baseline="0" dirty="0"/>
                        <a:t>, tracking, </a:t>
                      </a:r>
                      <a:r>
                        <a:rPr lang="en-US" sz="1400" baseline="0" dirty="0" err="1"/>
                        <a:t>họp</a:t>
                      </a:r>
                      <a:r>
                        <a:rPr lang="en-US" sz="1400" baseline="0" dirty="0"/>
                        <a:t>, </a:t>
                      </a:r>
                      <a:r>
                        <a:rPr lang="en-US" sz="1400" baseline="0" dirty="0" err="1"/>
                        <a:t>báo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cáo</a:t>
                      </a:r>
                      <a:endParaRPr lang="en-US" sz="1400" dirty="0"/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861">
                <a:tc>
                  <a:txBody>
                    <a:bodyPr/>
                    <a:lstStyle/>
                    <a:p>
                      <a:r>
                        <a:rPr lang="en-US" sz="1800" dirty="0"/>
                        <a:t>01.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tích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yêu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cầu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Study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nghiên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cứu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r>
                        <a:rPr lang="en-US" sz="1400" baseline="0" dirty="0"/>
                        <a:t> input </a:t>
                      </a:r>
                      <a:r>
                        <a:rPr lang="en-US" sz="1400" baseline="0" dirty="0" err="1"/>
                        <a:t>từ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phía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khách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để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công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việc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trong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dự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án</a:t>
                      </a:r>
                      <a:endParaRPr lang="en-US" sz="1400" dirty="0"/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01.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tích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yêu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cầu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</a:t>
                      </a:r>
                      <a:r>
                        <a:rPr lang="en-US" sz="1400" baseline="0" dirty="0" err="1"/>
                        <a:t>ra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phân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tích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r>
                        <a:rPr lang="en-US" sz="1400" baseline="0" dirty="0"/>
                        <a:t>, </a:t>
                      </a:r>
                      <a:r>
                        <a:rPr lang="en-US" sz="1400" baseline="0" dirty="0" err="1"/>
                        <a:t>tự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phân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tích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r>
                        <a:rPr lang="en-US" sz="1400" baseline="0" dirty="0"/>
                        <a:t>, Task tạo/ </a:t>
                      </a:r>
                      <a:r>
                        <a:rPr lang="en-US" sz="1400" baseline="0" dirty="0" err="1"/>
                        <a:t>xử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lý</a:t>
                      </a:r>
                      <a:r>
                        <a:rPr lang="en-US" sz="1400" baseline="0" dirty="0"/>
                        <a:t> Q&amp;As</a:t>
                      </a:r>
                      <a:endParaRPr lang="en-US" sz="1400" dirty="0"/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01.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tích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yêu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cầu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phân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tích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r>
                        <a:rPr lang="en-US" sz="1400" baseline="0" dirty="0"/>
                        <a:t>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tạo </a:t>
                      </a:r>
                      <a:r>
                        <a:rPr lang="en-US" sz="1400" baseline="0" dirty="0" err="1"/>
                        <a:t>ra</a:t>
                      </a:r>
                      <a:endParaRPr lang="en-US" sz="1400" dirty="0"/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01.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tích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yêu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cầu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endParaRPr lang="en-US" sz="1400" dirty="0"/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1D7C952-0AF9-4CF1-AA5B-811C03257185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task(2/7)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1FDA81-79EA-4EB4-8449-6B0BC5DEB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510676"/>
              </p:ext>
            </p:extLst>
          </p:nvPr>
        </p:nvGraphicFramePr>
        <p:xfrm>
          <a:off x="1643848" y="1073938"/>
          <a:ext cx="10012613" cy="471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900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383">
                <a:tc>
                  <a:txBody>
                    <a:bodyPr/>
                    <a:lstStyle/>
                    <a:p>
                      <a:r>
                        <a:rPr lang="en-US" sz="1800" dirty="0"/>
                        <a:t>02.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cơ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bản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cơ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bản</a:t>
                      </a:r>
                      <a:r>
                        <a:rPr lang="en-US" sz="1400" baseline="0" dirty="0"/>
                        <a:t>, </a:t>
                      </a:r>
                      <a:r>
                        <a:rPr lang="en-US" sz="1400" baseline="0" dirty="0" err="1"/>
                        <a:t>tự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cơ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bản</a:t>
                      </a:r>
                      <a:endParaRPr lang="en-US" sz="14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46">
                <a:tc>
                  <a:txBody>
                    <a:bodyPr/>
                    <a:lstStyle/>
                    <a:p>
                      <a:r>
                        <a:rPr lang="en-US" sz="1800" dirty="0"/>
                        <a:t>02.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cơ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bản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cơ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bản</a:t>
                      </a:r>
                      <a:r>
                        <a:rPr lang="en-US" sz="1400" baseline="0" dirty="0"/>
                        <a:t>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82">
                <a:tc>
                  <a:txBody>
                    <a:bodyPr/>
                    <a:lstStyle/>
                    <a:p>
                      <a:r>
                        <a:rPr lang="en-US" sz="1800" dirty="0"/>
                        <a:t>02.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cơ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bản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cơ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bản</a:t>
                      </a:r>
                      <a:endParaRPr lang="en-US" sz="14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900">
                <a:tc>
                  <a:txBody>
                    <a:bodyPr/>
                    <a:lstStyle/>
                    <a:p>
                      <a:r>
                        <a:rPr lang="en-US" sz="1800" dirty="0"/>
                        <a:t>03.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chi </a:t>
                      </a:r>
                      <a:r>
                        <a:rPr lang="en-US" sz="1800" baseline="0" dirty="0" err="1"/>
                        <a:t>tiết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chi </a:t>
                      </a:r>
                      <a:r>
                        <a:rPr lang="en-US" sz="1400" baseline="0" dirty="0" err="1"/>
                        <a:t>tiết</a:t>
                      </a:r>
                      <a:r>
                        <a:rPr lang="en-US" sz="1400" baseline="0" dirty="0"/>
                        <a:t>, </a:t>
                      </a:r>
                      <a:r>
                        <a:rPr lang="en-US" sz="1400" baseline="0" dirty="0" err="1"/>
                        <a:t>tự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chi </a:t>
                      </a:r>
                      <a:r>
                        <a:rPr lang="en-US" sz="1400" baseline="0" dirty="0" err="1"/>
                        <a:t>tiết</a:t>
                      </a:r>
                      <a:endParaRPr lang="en-US" sz="14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900">
                <a:tc>
                  <a:txBody>
                    <a:bodyPr/>
                    <a:lstStyle/>
                    <a:p>
                      <a:r>
                        <a:rPr lang="en-US" sz="1800" dirty="0"/>
                        <a:t>03.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chi </a:t>
                      </a:r>
                      <a:r>
                        <a:rPr lang="en-US" sz="1800" baseline="0" dirty="0" err="1"/>
                        <a:t>tiết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chi </a:t>
                      </a:r>
                      <a:r>
                        <a:rPr lang="en-US" sz="1400" baseline="0" dirty="0" err="1"/>
                        <a:t>tiết</a:t>
                      </a:r>
                      <a:r>
                        <a:rPr lang="en-US" sz="1400" baseline="0" dirty="0"/>
                        <a:t>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900">
                <a:tc>
                  <a:txBody>
                    <a:bodyPr/>
                    <a:lstStyle/>
                    <a:p>
                      <a:r>
                        <a:rPr lang="en-US" sz="1800" dirty="0"/>
                        <a:t>03.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chi </a:t>
                      </a:r>
                      <a:r>
                        <a:rPr lang="en-US" sz="1800" baseline="0" dirty="0" err="1"/>
                        <a:t>tiết</a:t>
                      </a:r>
                      <a:endParaRPr lang="en-US" sz="1800" dirty="0"/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chi </a:t>
                      </a:r>
                      <a:r>
                        <a:rPr lang="en-US" sz="1400" baseline="0" dirty="0" err="1"/>
                        <a:t>tiết</a:t>
                      </a:r>
                      <a:endParaRPr lang="en-US" sz="1400" dirty="0"/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80882E6-8A0F-484F-9C07-DEBCD586044C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(3/7)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1DCDA4-E302-40C4-8CD9-DB6CD1A70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729385"/>
              </p:ext>
            </p:extLst>
          </p:nvPr>
        </p:nvGraphicFramePr>
        <p:xfrm>
          <a:off x="1643850" y="1188243"/>
          <a:ext cx="9923753" cy="448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7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872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364">
                <a:tc>
                  <a:txBody>
                    <a:bodyPr/>
                    <a:lstStyle/>
                    <a:p>
                      <a:r>
                        <a:rPr lang="en-US" sz="1800" dirty="0"/>
                        <a:t>04. Coding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viết</a:t>
                      </a:r>
                      <a:r>
                        <a:rPr lang="en-US" sz="1400" baseline="0" dirty="0"/>
                        <a:t> source code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923">
                <a:tc>
                  <a:txBody>
                    <a:bodyPr/>
                    <a:lstStyle/>
                    <a:p>
                      <a:r>
                        <a:rPr lang="en-US" sz="1800" dirty="0"/>
                        <a:t>04. Coding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source code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66">
                <a:tc>
                  <a:txBody>
                    <a:bodyPr/>
                    <a:lstStyle/>
                    <a:p>
                      <a:r>
                        <a:rPr lang="en-US" sz="1800" dirty="0"/>
                        <a:t>04. Coding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source code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30">
                <a:tc>
                  <a:txBody>
                    <a:bodyPr/>
                    <a:lstStyle/>
                    <a:p>
                      <a:r>
                        <a:rPr lang="en-US" sz="1800" dirty="0"/>
                        <a:t>05.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FT</a:t>
                      </a:r>
                      <a:endParaRPr lang="en-US" sz="1800" dirty="0"/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test case FT/UT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465">
                <a:tc>
                  <a:txBody>
                    <a:bodyPr/>
                    <a:lstStyle/>
                    <a:p>
                      <a:r>
                        <a:rPr lang="en-US" sz="1800" dirty="0"/>
                        <a:t>05.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FT</a:t>
                      </a:r>
                      <a:endParaRPr lang="en-US" sz="1800" dirty="0"/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test case FT/UT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21">
                <a:tc>
                  <a:txBody>
                    <a:bodyPr/>
                    <a:lstStyle/>
                    <a:p>
                      <a:r>
                        <a:rPr lang="en-US" sz="1800" dirty="0"/>
                        <a:t>05.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FT</a:t>
                      </a:r>
                      <a:endParaRPr lang="en-US" sz="1800" dirty="0"/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test case FT/UT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58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05.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FT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Execute</a:t>
                      </a:r>
                    </a:p>
                  </a:txBody>
                  <a:tcPr marL="91441" marR="91441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FT/UT</a:t>
                      </a:r>
                      <a:endParaRPr lang="en-US" sz="1400" dirty="0"/>
                    </a:p>
                  </a:txBody>
                  <a:tcPr marL="91441" marR="91441" marT="45717" marB="4571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2C21015-9DF2-4F3B-8A3C-E7BE5C2B664B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(4/7)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D36DDE-984A-4FB5-8D9A-FC8C05FAB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833350"/>
              </p:ext>
            </p:extLst>
          </p:nvPr>
        </p:nvGraphicFramePr>
        <p:xfrm>
          <a:off x="1697114" y="1158876"/>
          <a:ext cx="9959347" cy="4540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079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636">
                <a:tc>
                  <a:txBody>
                    <a:bodyPr/>
                    <a:lstStyle/>
                    <a:p>
                      <a:r>
                        <a:rPr lang="en-US" sz="1800" dirty="0"/>
                        <a:t>06.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IT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test case IT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51">
                <a:tc>
                  <a:txBody>
                    <a:bodyPr/>
                    <a:lstStyle/>
                    <a:p>
                      <a:r>
                        <a:rPr lang="en-US" sz="1800" dirty="0"/>
                        <a:t>06.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IT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test case IT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2">
                <a:tc>
                  <a:txBody>
                    <a:bodyPr/>
                    <a:lstStyle/>
                    <a:p>
                      <a:r>
                        <a:rPr lang="en-US" sz="1800" dirty="0"/>
                        <a:t>06.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IT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test case IT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06.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IT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Execute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IT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88">
                <a:tc>
                  <a:txBody>
                    <a:bodyPr/>
                    <a:lstStyle/>
                    <a:p>
                      <a:r>
                        <a:rPr lang="en-US" sz="1800" dirty="0"/>
                        <a:t>07.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ST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test case ST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71">
                <a:tc>
                  <a:txBody>
                    <a:bodyPr/>
                    <a:lstStyle/>
                    <a:p>
                      <a:r>
                        <a:rPr lang="en-US" sz="1800" dirty="0"/>
                        <a:t>07.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ST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test case ST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r>
                        <a:rPr lang="en-US" sz="1800" dirty="0"/>
                        <a:t>07.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ST</a:t>
                      </a:r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test case ST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50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07.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ST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Execute</a:t>
                      </a:r>
                    </a:p>
                  </a:txBody>
                  <a:tcPr marL="91436" marR="91436" marT="45725" marB="4572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ST</a:t>
                      </a:r>
                      <a:endParaRPr lang="en-US" sz="1400" dirty="0"/>
                    </a:p>
                  </a:txBody>
                  <a:tcPr marL="91436" marR="91436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650C51C-64B8-44E9-8BBE-D20B0E5E1BF7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(5/7)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AABB340-E758-44C6-B5F3-A835419BD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676045"/>
              </p:ext>
            </p:extLst>
          </p:nvPr>
        </p:nvGraphicFramePr>
        <p:xfrm>
          <a:off x="1602388" y="1145051"/>
          <a:ext cx="9849887" cy="2166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3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707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35" marR="91435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47">
                <a:tc>
                  <a:txBody>
                    <a:bodyPr/>
                    <a:lstStyle/>
                    <a:p>
                      <a:r>
                        <a:rPr lang="en-US" sz="1800" dirty="0"/>
                        <a:t>08. FT Evidence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evidence </a:t>
                      </a:r>
                      <a:r>
                        <a:rPr lang="en-US" sz="1400" baseline="0" dirty="0" err="1"/>
                        <a:t>cho</a:t>
                      </a:r>
                      <a:r>
                        <a:rPr lang="en-US" sz="1400" baseline="0" dirty="0"/>
                        <a:t> FT/UT</a:t>
                      </a:r>
                      <a:endParaRPr lang="en-US" sz="1400" dirty="0"/>
                    </a:p>
                  </a:txBody>
                  <a:tcPr marL="91435" marR="91435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346">
                <a:tc>
                  <a:txBody>
                    <a:bodyPr/>
                    <a:lstStyle/>
                    <a:p>
                      <a:r>
                        <a:rPr lang="en-US" sz="1800" dirty="0"/>
                        <a:t>08. FT Evidence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FT/UT evidence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35" marR="91435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337">
                <a:tc>
                  <a:txBody>
                    <a:bodyPr/>
                    <a:lstStyle/>
                    <a:p>
                      <a:r>
                        <a:rPr lang="en-US" sz="1800" dirty="0"/>
                        <a:t>08. FT Evidence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35" marR="91435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FT/UT evidence</a:t>
                      </a:r>
                      <a:endParaRPr lang="en-US" sz="1400" dirty="0"/>
                    </a:p>
                  </a:txBody>
                  <a:tcPr marL="91435" marR="91435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5F337F1-F0BE-4A43-9A0D-DD3C15951730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(6/7)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ED3A405-D77F-4D12-A3A3-1947E9A59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020641"/>
              </p:ext>
            </p:extLst>
          </p:nvPr>
        </p:nvGraphicFramePr>
        <p:xfrm>
          <a:off x="1812524" y="1189439"/>
          <a:ext cx="9843937" cy="3390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166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698">
                <a:tc>
                  <a:txBody>
                    <a:bodyPr/>
                    <a:lstStyle/>
                    <a:p>
                      <a:r>
                        <a:rPr lang="en-US" sz="1800" dirty="0"/>
                        <a:t>09. </a:t>
                      </a:r>
                      <a:r>
                        <a:rPr lang="en-US" sz="1800" baseline="0" dirty="0"/>
                        <a:t>IT Evidence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IT evidence</a:t>
                      </a:r>
                      <a:endParaRPr lang="en-US" sz="14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en-US" sz="1800" dirty="0"/>
                        <a:t>09. </a:t>
                      </a:r>
                      <a:r>
                        <a:rPr lang="en-US" sz="1800" baseline="0" dirty="0"/>
                        <a:t>IT Evidence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IT evidence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r>
                        <a:rPr lang="en-US" sz="1800" dirty="0"/>
                        <a:t>09. </a:t>
                      </a:r>
                      <a:r>
                        <a:rPr lang="en-US" sz="1800" baseline="0" dirty="0"/>
                        <a:t>IT Evidence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IT evidence</a:t>
                      </a:r>
                      <a:endParaRPr lang="en-US" sz="14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32">
                <a:tc>
                  <a:txBody>
                    <a:bodyPr/>
                    <a:lstStyle/>
                    <a:p>
                      <a:r>
                        <a:rPr lang="en-US" sz="1800" dirty="0"/>
                        <a:t>10. </a:t>
                      </a:r>
                      <a:r>
                        <a:rPr lang="en-US" sz="1800" baseline="0" dirty="0"/>
                        <a:t>ST Evidence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ST evidence</a:t>
                      </a:r>
                      <a:endParaRPr lang="en-US" sz="14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r>
                        <a:rPr lang="en-US" sz="1800" dirty="0"/>
                        <a:t>10. </a:t>
                      </a:r>
                      <a:r>
                        <a:rPr lang="en-US" sz="1800" baseline="0" dirty="0"/>
                        <a:t>ST Evidence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ST evidence do member </a:t>
                      </a:r>
                      <a:r>
                        <a:rPr lang="en-US" sz="1400" baseline="0" dirty="0" err="1"/>
                        <a:t>khác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endParaRPr lang="en-US" sz="14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43">
                <a:tc>
                  <a:txBody>
                    <a:bodyPr/>
                    <a:lstStyle/>
                    <a:p>
                      <a:r>
                        <a:rPr lang="en-US" sz="1800" dirty="0"/>
                        <a:t>10. </a:t>
                      </a:r>
                      <a:r>
                        <a:rPr lang="en-US" sz="1800" baseline="0" dirty="0"/>
                        <a:t>ST Evidence</a:t>
                      </a:r>
                      <a:endParaRPr lang="en-US" sz="1800" dirty="0"/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8" marR="91448" marT="45730" marB="4573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ST evidence</a:t>
                      </a:r>
                      <a:endParaRPr lang="en-US" sz="1400" dirty="0"/>
                    </a:p>
                  </a:txBody>
                  <a:tcPr marL="91448" marR="91448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9D498AF-5CE7-4B01-AF95-58B3E3757673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(7/7)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A15104-BB79-485E-BAC9-0ABD09B67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215973"/>
              </p:ext>
            </p:extLst>
          </p:nvPr>
        </p:nvGraphicFramePr>
        <p:xfrm>
          <a:off x="1528440" y="1127296"/>
          <a:ext cx="10128022" cy="2663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9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828"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41" marR="91441"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r>
                        <a:rPr lang="en-US" sz="1800" dirty="0"/>
                        <a:t>11. </a:t>
                      </a:r>
                      <a:r>
                        <a:rPr lang="en-US" sz="1800" baseline="0" dirty="0" err="1"/>
                        <a:t>Điều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tra</a:t>
                      </a:r>
                      <a:endParaRPr lang="en-US" sz="1800" dirty="0"/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điều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tra</a:t>
                      </a:r>
                      <a:r>
                        <a:rPr lang="en-US" sz="1400" baseline="0" dirty="0"/>
                        <a:t> source code, </a:t>
                      </a:r>
                      <a:r>
                        <a:rPr lang="en-US" sz="1400" baseline="0" dirty="0" err="1"/>
                        <a:t>điều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tra</a:t>
                      </a:r>
                      <a:r>
                        <a:rPr lang="en-US" sz="1400" baseline="0" dirty="0"/>
                        <a:t> bug </a:t>
                      </a:r>
                      <a:r>
                        <a:rPr lang="en-US" sz="1400" baseline="0" dirty="0" err="1"/>
                        <a:t>hoặc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công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nghệ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theo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của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khách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endParaRPr lang="en-US" sz="1400" dirty="0"/>
                    </a:p>
                  </a:txBody>
                  <a:tcPr marL="91441" marR="91441"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388">
                <a:tc>
                  <a:txBody>
                    <a:bodyPr/>
                    <a:lstStyle/>
                    <a:p>
                      <a:r>
                        <a:rPr lang="en-US" sz="1800" dirty="0"/>
                        <a:t>12. </a:t>
                      </a:r>
                      <a:r>
                        <a:rPr lang="en-US" sz="1800" dirty="0" err="1"/>
                        <a:t>Nộp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hàng</a:t>
                      </a:r>
                      <a:endParaRPr lang="en-US" sz="1800" dirty="0"/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Review</a:t>
                      </a:r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review </a:t>
                      </a:r>
                      <a:r>
                        <a:rPr lang="en-US" sz="1400" baseline="0" dirty="0" err="1"/>
                        <a:t>gói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nộp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endParaRPr lang="en-US" sz="1400" dirty="0"/>
                    </a:p>
                  </a:txBody>
                  <a:tcPr marL="91441" marR="91441"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31">
                <a:tc>
                  <a:txBody>
                    <a:bodyPr/>
                    <a:lstStyle/>
                    <a:p>
                      <a:r>
                        <a:rPr lang="en-US" sz="1800" dirty="0"/>
                        <a:t>12. </a:t>
                      </a:r>
                      <a:r>
                        <a:rPr lang="en-US" sz="1800" dirty="0" err="1"/>
                        <a:t>Nộp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hàng</a:t>
                      </a:r>
                      <a:endParaRPr lang="en-US" sz="1800" dirty="0"/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Correct</a:t>
                      </a:r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sửa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lỗi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gói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nộp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endParaRPr lang="en-US" sz="1400" dirty="0"/>
                    </a:p>
                  </a:txBody>
                  <a:tcPr marL="91441" marR="91441"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r>
                        <a:rPr lang="en-US" sz="1800" dirty="0"/>
                        <a:t>12. </a:t>
                      </a:r>
                      <a:r>
                        <a:rPr lang="en-US" sz="1800" dirty="0" err="1"/>
                        <a:t>Nộp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hàng</a:t>
                      </a:r>
                      <a:endParaRPr lang="en-US" sz="1800" dirty="0"/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</a:t>
                      </a:r>
                    </a:p>
                  </a:txBody>
                  <a:tcPr marL="91441" marR="91441" marT="45709" marB="4570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</a:t>
                      </a:r>
                      <a:r>
                        <a:rPr lang="en-US" sz="1400" baseline="0" dirty="0"/>
                        <a:t> tạo </a:t>
                      </a:r>
                      <a:r>
                        <a:rPr lang="en-US" sz="1400" baseline="0" dirty="0" err="1"/>
                        <a:t>gói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nộp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r>
                        <a:rPr lang="en-US" sz="1400" baseline="0" dirty="0"/>
                        <a:t>, </a:t>
                      </a:r>
                      <a:r>
                        <a:rPr lang="en-US" sz="1400" baseline="0" dirty="0" err="1"/>
                        <a:t>sản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phẩm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nộp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r>
                        <a:rPr lang="en-US" sz="1400" baseline="0" dirty="0"/>
                        <a:t>, release note</a:t>
                      </a:r>
                      <a:endParaRPr lang="en-US" sz="1400" dirty="0"/>
                    </a:p>
                  </a:txBody>
                  <a:tcPr marL="91441" marR="91441" marT="45709" marB="457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A20656C-31ED-4BB3-AD4C-17718C440363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 (1/2)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570AE2C-6B72-4286-936D-FCA442E5E4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88237" y="1162807"/>
          <a:ext cx="9968225" cy="5127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8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905">
                <a:tc>
                  <a:txBody>
                    <a:bodyPr/>
                    <a:lstStyle/>
                    <a:p>
                      <a:r>
                        <a:rPr lang="en-US" sz="1800" dirty="0"/>
                        <a:t>Tracker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514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01.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tích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yêu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cầu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của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phân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tích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yêu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cầu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438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02.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cơ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bản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của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cơ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bản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74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 </a:t>
                      </a:r>
                      <a:r>
                        <a:rPr lang="en-US" sz="1800" dirty="0" err="1"/>
                        <a:t>Thiết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</a:t>
                      </a:r>
                      <a:r>
                        <a:rPr lang="en-US" sz="1800" baseline="0" dirty="0"/>
                        <a:t> chi </a:t>
                      </a:r>
                      <a:r>
                        <a:rPr lang="en-US" sz="1800" baseline="0" dirty="0" err="1"/>
                        <a:t>tiết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của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thiết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kế</a:t>
                      </a:r>
                      <a:r>
                        <a:rPr lang="en-US" sz="1400" baseline="0" dirty="0"/>
                        <a:t> chi </a:t>
                      </a:r>
                      <a:r>
                        <a:rPr lang="en-US" sz="1400" baseline="0" dirty="0" err="1"/>
                        <a:t>tiết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04. Source code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của</a:t>
                      </a:r>
                      <a:r>
                        <a:rPr lang="en-US" sz="1400" baseline="0" dirty="0"/>
                        <a:t> source code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05.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FT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FU/ UT test</a:t>
                      </a:r>
                      <a:r>
                        <a:rPr lang="en-US" sz="1400" baseline="0" dirty="0"/>
                        <a:t> case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IT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IT test</a:t>
                      </a:r>
                      <a:r>
                        <a:rPr lang="en-US" sz="1400" baseline="0" dirty="0"/>
                        <a:t> case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07.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ST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ST test</a:t>
                      </a:r>
                      <a:r>
                        <a:rPr lang="en-US" sz="1400" baseline="0" dirty="0"/>
                        <a:t> case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08. FT Evidence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FT/UT evidence</a:t>
                      </a:r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09. IT Evidence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IT evidence</a:t>
                      </a:r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</a:t>
                      </a:r>
                      <a:r>
                        <a:rPr lang="en-US" sz="1800" baseline="0" dirty="0"/>
                        <a:t> ST Evidence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ST evidence</a:t>
                      </a:r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899">
                <a:tc>
                  <a:txBody>
                    <a:bodyPr/>
                    <a:lstStyle/>
                    <a:p>
                      <a:r>
                        <a:rPr lang="en-US" sz="1800" dirty="0"/>
                        <a:t>Bug Review</a:t>
                      </a:r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12. </a:t>
                      </a:r>
                      <a:r>
                        <a:rPr lang="en-US" sz="1800" dirty="0" err="1"/>
                        <a:t>Nộp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hàng</a:t>
                      </a:r>
                      <a:endParaRPr lang="en-US" sz="1800" dirty="0"/>
                    </a:p>
                  </a:txBody>
                  <a:tcPr marL="91448" marR="91448" marT="45714" marB="4571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review </a:t>
                      </a:r>
                      <a:r>
                        <a:rPr lang="en-US" sz="140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nộp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endParaRPr lang="en-US" sz="1400" dirty="0"/>
                    </a:p>
                  </a:txBody>
                  <a:tcPr marL="91448" marR="91448"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95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C8F1479-10A7-4375-9EEC-FE5776D2E921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Quy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 (2/2)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B6D63AD-BA24-4AA7-9945-E521A48B1D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06574" y="1100663"/>
          <a:ext cx="9849887" cy="286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7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3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040">
                <a:tc>
                  <a:txBody>
                    <a:bodyPr/>
                    <a:lstStyle/>
                    <a:p>
                      <a:r>
                        <a:rPr lang="en-US" sz="1800" dirty="0"/>
                        <a:t>Tracker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Category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Ý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nghĩa</a:t>
                      </a:r>
                      <a:endParaRPr lang="en-US" sz="1800" dirty="0"/>
                    </a:p>
                  </a:txBody>
                  <a:tcPr marL="91435" marR="91435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Bug Testing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05.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FT</a:t>
                      </a:r>
                      <a:endParaRPr lang="en-US" sz="1800" dirty="0"/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thấy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FT/UT</a:t>
                      </a:r>
                      <a:endParaRPr lang="en-US" sz="1400" dirty="0"/>
                    </a:p>
                  </a:txBody>
                  <a:tcPr marL="91435" marR="91435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Bug Testing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IT</a:t>
                      </a:r>
                      <a:endParaRPr lang="en-US" sz="1800" dirty="0"/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thấy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IT</a:t>
                      </a:r>
                      <a:endParaRPr lang="en-US" sz="1400" dirty="0"/>
                    </a:p>
                  </a:txBody>
                  <a:tcPr marL="91435" marR="91435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Bug Testing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07. </a:t>
                      </a: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thử</a:t>
                      </a:r>
                      <a:r>
                        <a:rPr lang="en-US" sz="1800" baseline="0" dirty="0"/>
                        <a:t> ST</a:t>
                      </a:r>
                      <a:endParaRPr lang="en-US" sz="1800" dirty="0"/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thấy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thực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hiện</a:t>
                      </a:r>
                      <a:r>
                        <a:rPr lang="en-US" sz="1400" baseline="0" dirty="0"/>
                        <a:t> ST</a:t>
                      </a:r>
                      <a:endParaRPr lang="en-US" sz="1400" dirty="0"/>
                    </a:p>
                  </a:txBody>
                  <a:tcPr marL="91435" marR="91435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Bug Customer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01.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tích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yêu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cầu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>
                          <a:sym typeface="Wingdings" panose="05000000000000000000" pitchFamily="2" charset="2"/>
                        </a:rPr>
                        <a:t> 07. </a:t>
                      </a:r>
                      <a:r>
                        <a:rPr lang="en-US" sz="1800" baseline="0" dirty="0" err="1">
                          <a:sym typeface="Wingdings" panose="05000000000000000000" pitchFamily="2" charset="2"/>
                        </a:rPr>
                        <a:t>Kiểm</a:t>
                      </a:r>
                      <a:r>
                        <a:rPr lang="en-US" sz="180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aseline="0" dirty="0" err="1">
                          <a:sym typeface="Wingdings" panose="05000000000000000000" pitchFamily="2" charset="2"/>
                        </a:rPr>
                        <a:t>thử</a:t>
                      </a:r>
                      <a:r>
                        <a:rPr lang="en-US" sz="1800" baseline="0" dirty="0">
                          <a:sym typeface="Wingdings" panose="05000000000000000000" pitchFamily="2" charset="2"/>
                        </a:rPr>
                        <a:t> ST</a:t>
                      </a:r>
                      <a:endParaRPr lang="en-US" sz="1800" dirty="0"/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</a:t>
                      </a:r>
                      <a:r>
                        <a:rPr lang="en-US" sz="1400" dirty="0" err="1"/>
                        <a:t>khách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tìm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thấy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trên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tài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liệu</a:t>
                      </a:r>
                      <a:endParaRPr lang="en-US" sz="1400" dirty="0"/>
                    </a:p>
                  </a:txBody>
                  <a:tcPr marL="91435" marR="91435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Bug Customer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13. UAT</a:t>
                      </a:r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Bug UAT </a:t>
                      </a:r>
                      <a:r>
                        <a:rPr lang="en-US" sz="1400" dirty="0" err="1"/>
                        <a:t>của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khách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hàng</a:t>
                      </a:r>
                      <a:endParaRPr lang="en-US" sz="1400" dirty="0"/>
                    </a:p>
                  </a:txBody>
                  <a:tcPr marL="91435" marR="91435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642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98F123C-28F4-47EF-AEF7-27A60D144816}"/>
              </a:ext>
            </a:extLst>
          </p:cNvPr>
          <p:cNvSpPr>
            <a:spLocks noGrp="1" noRot="1"/>
          </p:cNvSpPr>
          <p:nvPr>
            <p:ph type="title"/>
          </p:nvPr>
        </p:nvSpPr>
        <p:spPr>
          <a:xfrm>
            <a:off x="1404151" y="215105"/>
            <a:ext cx="8698637" cy="636588"/>
          </a:xfrm>
        </p:spPr>
        <p:txBody>
          <a:bodyPr/>
          <a:lstStyle/>
          <a:p>
            <a:pPr eaLnBrk="1" hangingPunct="1"/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Redmine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6C48178-5F99-4A35-9404-47EDFA0FC05B}"/>
              </a:ext>
            </a:extLst>
          </p:cNvPr>
          <p:cNvSpPr>
            <a:spLocks noGrp="1" noRot="1"/>
          </p:cNvSpPr>
          <p:nvPr>
            <p:ph idx="1"/>
          </p:nvPr>
        </p:nvSpPr>
        <p:spPr>
          <a:xfrm>
            <a:off x="1626093" y="973137"/>
            <a:ext cx="10065798" cy="4911725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Đăng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Redmine: </a:t>
            </a:r>
            <a:r>
              <a:rPr lang="en-US" sz="2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  <a:hlinkClick r:id="rId2"/>
              </a:rPr>
              <a:t>https://traning.redmine.luvina.net/</a:t>
            </a:r>
            <a:endParaRPr lang="en-US" sz="20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Project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thao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phần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project [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Training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</a:t>
            </a:r>
          </a:p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Tạo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NVM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], Subject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Họ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tên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].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Ví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dụ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Nguyễn Thị Mai </a:t>
            </a:r>
            <a:r>
              <a:rPr lang="en-US" altLang="en-US" i="1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Hương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].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b="1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task – task cha]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i="0" dirty="0">
              <a:solidFill>
                <a:srgbClr val="505050"/>
              </a:solidFill>
              <a:effectLst/>
              <a:latin typeface="Times New Roman" panose="02020603050405020304" pitchFamily="18" charset="0"/>
              <a:ea typeface="HGP明朝E" panose="02020800000000000000" pitchFamily="18" charset="-128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- Task training basic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nhân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viên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chị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HuongNTM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)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gửi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em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Redmine.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hạng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b="1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task] </a:t>
            </a:r>
            <a:r>
              <a:rPr lang="en-US" b="1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ở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3</a:t>
            </a:r>
          </a:p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Feature/Screen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], Subject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“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ADM001”, </a:t>
            </a:r>
            <a:r>
              <a:rPr lang="en-US" b="1" i="0" dirty="0">
                <a:solidFill>
                  <a:srgbClr val="505050"/>
                </a:solidFill>
                <a:effectLst/>
                <a:latin typeface="Verdana" panose="020B0604030504040204" pitchFamily="34" charset="0"/>
              </a:rPr>
              <a:t>Parent task </a:t>
            </a:r>
            <a:r>
              <a:rPr lang="en-US" b="1" i="0" dirty="0" err="1">
                <a:solidFill>
                  <a:srgbClr val="505050"/>
                </a:solidFill>
                <a:effectLst/>
                <a:latin typeface="Verdana" panose="020B0604030504040204" pitchFamily="34" charset="0"/>
              </a:rPr>
              <a:t>nhập</a:t>
            </a:r>
            <a:r>
              <a:rPr lang="en-US" b="1" i="0" dirty="0">
                <a:solidFill>
                  <a:srgbClr val="505050"/>
                </a:solidFill>
                <a:effectLst/>
                <a:latin typeface="Verdana" panose="020B0604030504040204" pitchFamily="34" charset="0"/>
              </a:rPr>
              <a:t> ID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ở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3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Feature/Screen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], Subject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“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ADM002”, </a:t>
            </a:r>
            <a:r>
              <a:rPr lang="en-US" b="1" i="0" dirty="0">
                <a:solidFill>
                  <a:srgbClr val="505050"/>
                </a:solidFill>
                <a:effectLst/>
                <a:latin typeface="Verdana" panose="020B0604030504040204" pitchFamily="34" charset="0"/>
              </a:rPr>
              <a:t>Parent task </a:t>
            </a:r>
            <a:r>
              <a:rPr lang="en-US" b="1" i="0" dirty="0" err="1">
                <a:solidFill>
                  <a:srgbClr val="505050"/>
                </a:solidFill>
                <a:effectLst/>
                <a:latin typeface="Verdana" panose="020B0604030504040204" pitchFamily="34" charset="0"/>
              </a:rPr>
              <a:t>nhập</a:t>
            </a:r>
            <a:r>
              <a:rPr lang="en-US" b="1" i="0" dirty="0">
                <a:solidFill>
                  <a:srgbClr val="505050"/>
                </a:solidFill>
                <a:effectLst/>
                <a:latin typeface="Verdana" panose="020B0604030504040204" pitchFamily="34" charset="0"/>
              </a:rPr>
              <a:t> ID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ở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3</a:t>
            </a:r>
          </a:p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bug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file </a:t>
            </a:r>
            <a:r>
              <a:rPr lang="en-US" altLang="en-US" b="1" i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03.ListIssues.xls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Bug Testing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], </a:t>
            </a:r>
            <a:r>
              <a:rPr lang="en-US" b="1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task </a:t>
            </a:r>
            <a:r>
              <a:rPr lang="en-US" b="1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ở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5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6(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phụ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thuộc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Bug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nào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task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hình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add)</a:t>
            </a:r>
          </a:p>
          <a:p>
            <a:pPr marL="457200" indent="-457200">
              <a:buAutoNum type="arabicPeriod"/>
            </a:pP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Q&amp;A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file </a:t>
            </a:r>
            <a:r>
              <a:rPr lang="en-US" altLang="en-US" b="1" i="1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03.ListIssues.xls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lên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Redmine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Tracker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[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Q&amp;A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], [</a:t>
            </a:r>
            <a:r>
              <a:rPr lang="en-US" b="1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task] </a:t>
            </a:r>
            <a:r>
              <a:rPr lang="en-US" b="1" i="0" dirty="0" err="1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ID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Issue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add ở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6</a:t>
            </a:r>
          </a:p>
          <a:p>
            <a:pPr marL="457200" indent="-457200"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Khi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training Redmine,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nhật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%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Logtime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 task [</a:t>
            </a:r>
            <a:r>
              <a:rPr lang="en-US" altLang="en-US">
                <a:latin typeface="Times New Roman" panose="02020603050405020304" pitchFamily="18" charset="0"/>
                <a:ea typeface="HGP明朝E" panose="02020800000000000000" pitchFamily="18" charset="-128"/>
                <a:cs typeface="Times New Roman" panose="02020603050405020304" pitchFamily="18" charset="0"/>
              </a:rPr>
              <a:t>Training Redmine]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6AE8-624E-4B01-ADAD-205DBF9E1C0E}" type="slidenum">
              <a:rPr lang="en-US" smtClean="0"/>
              <a:t>28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863914" y="2967335"/>
            <a:ext cx="84641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0511903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6665</TotalTime>
  <Words>3440</Words>
  <Application>Microsoft Office PowerPoint</Application>
  <PresentationFormat>Widescreen</PresentationFormat>
  <Paragraphs>376</Paragraphs>
  <Slides>28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Calibri</vt:lpstr>
      <vt:lpstr>Calibri Light</vt:lpstr>
      <vt:lpstr>Times New Roman</vt:lpstr>
      <vt:lpstr>Verdana</vt:lpstr>
      <vt:lpstr>Wingdings</vt:lpstr>
      <vt:lpstr>Retrospect</vt:lpstr>
      <vt:lpstr>CorelDRAW</vt:lpstr>
      <vt:lpstr>HƯỚNG DẪN SỬ DỤNG REDMINE TRONG DỰ ÁN</vt:lpstr>
      <vt:lpstr>Nội dung đào tạo</vt:lpstr>
      <vt:lpstr>I. Tổng quan về Redmine</vt:lpstr>
      <vt:lpstr>I. Tổng quan về Redmine</vt:lpstr>
      <vt:lpstr>II. Giới thiệu Issues trong Redmine</vt:lpstr>
      <vt:lpstr>III. Các thao tác cơ bản hay sử dụng trong Redmine</vt:lpstr>
      <vt:lpstr>1. Chọn project để làm việc</vt:lpstr>
      <vt:lpstr>2.1 Thêm mới Issues - Task</vt:lpstr>
      <vt:lpstr>2.2 Thêm mới Issue - Bug testing</vt:lpstr>
      <vt:lpstr>2.3 Thêm mới Issue – Bug review</vt:lpstr>
      <vt:lpstr>2.4 Thêm mới Issue – Q&amp;A</vt:lpstr>
      <vt:lpstr>3. Hiển thị danh sách Issues</vt:lpstr>
      <vt:lpstr>PowerPoint Presentation</vt:lpstr>
      <vt:lpstr>5. Cách Seach thông tin và tạo câu Query</vt:lpstr>
      <vt:lpstr>6. Cách logtime trên Redmine</vt:lpstr>
      <vt:lpstr>7. Edit Issues</vt:lpstr>
      <vt:lpstr>8. Bulk Edit – Cập nhật hàng loạt</vt:lpstr>
      <vt:lpstr>9. Quy ước tạo task(1/7)</vt:lpstr>
      <vt:lpstr>9. Quy ước tạo task(2/7)</vt:lpstr>
      <vt:lpstr>9. Quy ước tạo task (3/7)</vt:lpstr>
      <vt:lpstr>9. Quy ước tạo task (4/7)</vt:lpstr>
      <vt:lpstr>9. Quy ước tạo task (5/7)</vt:lpstr>
      <vt:lpstr>9. Quy ước tạo task (6/7)</vt:lpstr>
      <vt:lpstr>9. Quy ước tạo task (7/7)</vt:lpstr>
      <vt:lpstr>10. Quy ước tạo Bug (1/2)</vt:lpstr>
      <vt:lpstr>10. Quy ước tạo Bug (2/2)</vt:lpstr>
      <vt:lpstr>IV. Thực hành các thao tác cơ bản trên Redmine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Phuong Anh</dc:creator>
  <cp:lastModifiedBy>Nguyen Thi Mai Huong</cp:lastModifiedBy>
  <cp:revision>287</cp:revision>
  <cp:lastPrinted>2022-05-10T02:15:51Z</cp:lastPrinted>
  <dcterms:created xsi:type="dcterms:W3CDTF">2019-06-11T08:38:59Z</dcterms:created>
  <dcterms:modified xsi:type="dcterms:W3CDTF">2023-06-27T10:27:37Z</dcterms:modified>
</cp:coreProperties>
</file>