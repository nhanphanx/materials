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6" r:id="rId2"/>
    <p:sldId id="258" r:id="rId3"/>
    <p:sldId id="259" r:id="rId4"/>
    <p:sldId id="281" r:id="rId5"/>
    <p:sldId id="276" r:id="rId6"/>
    <p:sldId id="277" r:id="rId7"/>
    <p:sldId id="278" r:id="rId8"/>
    <p:sldId id="280" r:id="rId9"/>
    <p:sldId id="275" r:id="rId10"/>
    <p:sldId id="282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2998"/>
    <a:srgbClr val="0D8134"/>
    <a:srgbClr val="DE365E"/>
    <a:srgbClr val="B913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784" autoAdjust="0"/>
  </p:normalViewPr>
  <p:slideViewPr>
    <p:cSldViewPr snapToGrid="0">
      <p:cViewPr varScale="1">
        <p:scale>
          <a:sx n="101" d="100"/>
          <a:sy n="101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FB143-4483-4C97-BA64-12943B499FF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3953F-9E96-4E96-ABED-1ED026A3C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7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F3953F-9E96-4E96-ABED-1ED026A3C6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90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F3953F-9E96-4E96-ABED-1ED026A3C6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F3953F-9E96-4E96-ABED-1ED026A3C6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80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F3953F-9E96-4E96-ABED-1ED026A3C6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19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F3953F-9E96-4E96-ABED-1ED026A3C6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17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F3953F-9E96-4E96-ABED-1ED026A3C6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3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3953F-9E96-4E96-ABED-1ED026A3C6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17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03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33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04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47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5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4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6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5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7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7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8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AE3356-0E58-40C2-8167-DBEE6CFB070B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D68FA64-7A84-4A7E-B1AC-07EB0E468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23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help/idea/discover-intellij-idea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ugins.jetbrains.com/docs/intellij/developing-plugins.html#plugin-development-workflow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3168" y="742476"/>
            <a:ext cx="10915135" cy="3566160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MÔI TRƯỜNG PHÁT TRIỂN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(IDE)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Biên soạn: Lê Thị Phương Loan</a:t>
            </a:r>
          </a:p>
        </p:txBody>
      </p:sp>
    </p:spTree>
    <p:extLst>
      <p:ext uri="{BB962C8B-B14F-4D97-AF65-F5344CB8AC3E}">
        <p14:creationId xmlns:p14="http://schemas.microsoft.com/office/powerpoint/2010/main" val="323438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Môi trường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en-US"/>
              <a:t>Môi trường phát triển (IDE) là gì?</a:t>
            </a:r>
          </a:p>
          <a:p>
            <a:pPr marL="514350" indent="-514350">
              <a:buFont typeface="+mj-lt"/>
              <a:buAutoNum type="romanUcPeriod"/>
            </a:pPr>
            <a:r>
              <a:rPr lang="en-US"/>
              <a:t>Những IDE thường dùng trong lập trình</a:t>
            </a:r>
          </a:p>
        </p:txBody>
      </p:sp>
    </p:spTree>
    <p:extLst>
      <p:ext uri="{BB962C8B-B14F-4D97-AF65-F5344CB8AC3E}">
        <p14:creationId xmlns:p14="http://schemas.microsoft.com/office/powerpoint/2010/main" val="779721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B2998"/>
                </a:solidFill>
              </a:rPr>
              <a:t>I. Môi trường phát triển (IDE)là gì?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200" b="1">
                <a:latin typeface="Arial (Body)"/>
                <a:cs typeface="Arial" panose="020B0604020202020204" pitchFamily="34" charset="0"/>
              </a:rPr>
              <a:t>Môi trường phát triển (</a:t>
            </a:r>
            <a:r>
              <a:rPr lang="vi-VN" sz="2200" b="1">
                <a:latin typeface="Arial (Body)"/>
                <a:cs typeface="Arial" panose="020B0604020202020204" pitchFamily="34" charset="0"/>
              </a:rPr>
              <a:t>IDE</a:t>
            </a:r>
            <a:r>
              <a:rPr lang="vi-VN" sz="220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200">
                <a:latin typeface="Arial (Body)"/>
                <a:cs typeface="Arial" panose="020B0604020202020204" pitchFamily="34" charset="0"/>
              </a:rPr>
              <a:t>- </a:t>
            </a:r>
            <a:r>
              <a:rPr lang="vi-VN" sz="2200" b="1">
                <a:latin typeface="Arial (Body)"/>
                <a:cs typeface="Arial" panose="020B0604020202020204" pitchFamily="34" charset="0"/>
              </a:rPr>
              <a:t>I</a:t>
            </a:r>
            <a:r>
              <a:rPr lang="vi-VN" sz="2200">
                <a:latin typeface="Arial (Body)"/>
                <a:cs typeface="Arial" panose="020B0604020202020204" pitchFamily="34" charset="0"/>
              </a:rPr>
              <a:t>ntegrated </a:t>
            </a:r>
            <a:r>
              <a:rPr lang="vi-VN" sz="2200" b="1">
                <a:latin typeface="Arial (Body)"/>
                <a:cs typeface="Arial" panose="020B0604020202020204" pitchFamily="34" charset="0"/>
              </a:rPr>
              <a:t>D</a:t>
            </a:r>
            <a:r>
              <a:rPr lang="vi-VN" sz="2200">
                <a:latin typeface="Arial (Body)"/>
                <a:cs typeface="Arial" panose="020B0604020202020204" pitchFamily="34" charset="0"/>
              </a:rPr>
              <a:t>evelopment </a:t>
            </a:r>
            <a:r>
              <a:rPr lang="vi-VN" sz="2200" b="1">
                <a:latin typeface="Arial (Body)"/>
                <a:cs typeface="Arial" panose="020B0604020202020204" pitchFamily="34" charset="0"/>
              </a:rPr>
              <a:t>E</a:t>
            </a:r>
            <a:r>
              <a:rPr lang="vi-VN" sz="2200">
                <a:latin typeface="Arial (Body)"/>
                <a:cs typeface="Arial" panose="020B0604020202020204" pitchFamily="34" charset="0"/>
              </a:rPr>
              <a:t>nvironment) </a:t>
            </a:r>
            <a:r>
              <a:rPr lang="vi-VN" sz="2200"/>
              <a:t>là phần mềm cung cấp cho các lập trình viên một môi trường tích hợp</a:t>
            </a:r>
            <a:r>
              <a:rPr lang="en-US" sz="2200"/>
              <a:t> </a:t>
            </a:r>
            <a:r>
              <a:rPr lang="vi-VN" sz="2200">
                <a:cs typeface="Arial" panose="020B0604020202020204" pitchFamily="34" charset="0"/>
              </a:rPr>
              <a:t>để phát triển ứng dụng.</a:t>
            </a:r>
            <a:endParaRPr lang="en-US" sz="2200">
              <a:cs typeface="Arial" panose="020B0604020202020204" pitchFamily="34" charset="0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Một lập trình viên cần có các công cụ:</a:t>
            </a:r>
          </a:p>
          <a:p>
            <a:pPr lvl="2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i="1">
                <a:solidFill>
                  <a:srgbClr val="0D8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sz="1800" b="1" i="1">
                <a:solidFill>
                  <a:srgbClr val="0D8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 editor (trình soạn thảo): 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dùng để </a:t>
            </a:r>
            <a:r>
              <a:rPr lang="vi-VN" sz="1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vi-VN" sz="18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mã nguồn (java, php, C,…)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vi-VN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1800" b="1" i="1">
                <a:solidFill>
                  <a:srgbClr val="0D8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Compiler (trình dịch): 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để </a:t>
            </a:r>
            <a:r>
              <a:rPr lang="vi-VN" sz="1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 mã nguồn sang hệ nhị phân</a:t>
            </a:r>
          </a:p>
          <a:p>
            <a:pPr lvl="2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i="1">
                <a:solidFill>
                  <a:srgbClr val="0D8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vi-VN" sz="1800" b="1" i="1">
                <a:solidFill>
                  <a:srgbClr val="0D8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bugger (trình soát lỗi): 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giúp </a:t>
            </a:r>
            <a:r>
              <a:rPr lang="vi-VN" sz="1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vi-VN" sz="18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ra </a:t>
            </a:r>
            <a:r>
              <a:rPr lang="vi-VN" sz="1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vi-VN" sz="18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trong chương trình một cách nhanh chóng và thuận lợi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=&gt; IDE </a:t>
            </a:r>
            <a:r>
              <a:rPr lang="en-US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 hợp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các phần công cụ trên với nhau, giúp lập trình tiện lợi hơn.</a:t>
            </a:r>
          </a:p>
        </p:txBody>
      </p:sp>
    </p:spTree>
    <p:extLst>
      <p:ext uri="{BB962C8B-B14F-4D97-AF65-F5344CB8AC3E}">
        <p14:creationId xmlns:p14="http://schemas.microsoft.com/office/powerpoint/2010/main" val="249829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B2998"/>
                </a:solidFill>
              </a:rPr>
              <a:t>II. Các loại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792" y="1737360"/>
            <a:ext cx="5292232" cy="5012267"/>
          </a:xfrm>
        </p:spPr>
        <p:txBody>
          <a:bodyPr>
            <a:normAutofit/>
          </a:bodyPr>
          <a:lstStyle/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00000"/>
                </a:solidFill>
                <a:latin typeface="Arial (Body)"/>
                <a:cs typeface="Arial" panose="020B0604020202020204" pitchFamily="34" charset="0"/>
              </a:rPr>
              <a:t>1. IntelliJ - Community</a:t>
            </a:r>
            <a:r>
              <a:rPr lang="en-US" sz="2800" b="1">
                <a:solidFill>
                  <a:srgbClr val="C00000"/>
                </a:solidFill>
                <a:latin typeface="Arial (Body)"/>
                <a:cs typeface="Arial" panose="020B0604020202020204" pitchFamily="34" charset="0"/>
              </a:rPr>
              <a:t> </a:t>
            </a:r>
            <a:endParaRPr lang="en-US" sz="3600">
              <a:solidFill>
                <a:srgbClr val="C00000"/>
              </a:solidFill>
              <a:latin typeface="Arial (Body)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>
                <a:latin typeface="Arial (Body)"/>
                <a:cs typeface="Arial" panose="020B0604020202020204" pitchFamily="34" charset="0"/>
              </a:rPr>
              <a:t>Là một IDE Java </a:t>
            </a: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240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>
                <a:latin typeface="Arial (Body)"/>
                <a:cs typeface="Arial" panose="020B0604020202020204" pitchFamily="34" charset="0"/>
              </a:rPr>
              <a:t>Đ</a:t>
            </a:r>
            <a:r>
              <a:rPr lang="vi-VN" sz="2400">
                <a:latin typeface="Arial (Body)"/>
                <a:cs typeface="Arial" panose="020B0604020202020204" pitchFamily="34" charset="0"/>
              </a:rPr>
              <a:t>ược phát triển bởi JetBrains (trước đây gọi là IntelliJ)</a:t>
            </a:r>
            <a:endParaRPr lang="en-US" sz="2400">
              <a:latin typeface="Arial (Body)"/>
              <a:cs typeface="Arial" panose="020B0604020202020204" pitchFamily="34" charset="0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2400">
                <a:latin typeface="Arial (Body)"/>
                <a:cs typeface="Arial" panose="020B0604020202020204" pitchFamily="34" charset="0"/>
              </a:rPr>
              <a:t>Hỗ trợ ngôn ngữ:</a:t>
            </a:r>
            <a:r>
              <a:rPr lang="en-US" sz="240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 i="1">
                <a:solidFill>
                  <a:srgbClr val="EB2998"/>
                </a:solidFill>
                <a:latin typeface="Arial (Body)"/>
                <a:cs typeface="Arial" panose="020B0604020202020204" pitchFamily="34" charset="0"/>
              </a:rPr>
              <a:t>Java, CloudSlang, Go, Groovy, Kotlin, Python,…</a:t>
            </a: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>
                <a:solidFill>
                  <a:srgbClr val="7030A0"/>
                </a:solidFill>
                <a:latin typeface="Arial (Body)"/>
                <a:cs typeface="Arial" panose="020B0604020202020204" pitchFamily="34" charset="0"/>
              </a:rPr>
              <a:t>Có 1 số ngôn ngữ chỉ được hỗ trợ trên bản Ultimate: TypeScript, SQL, Ruby/Jruby,PHP, JavaScript, …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01DBF41-576A-FB08-038F-915CD3B76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5431" y="197927"/>
            <a:ext cx="1539433" cy="153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611598DB-CDB7-C7A0-46FD-63494C4DC0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8" t="6659" r="3095" b="8680"/>
          <a:stretch/>
        </p:blipFill>
        <p:spPr bwMode="auto">
          <a:xfrm>
            <a:off x="5894024" y="2025570"/>
            <a:ext cx="6364495" cy="4409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75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B2998"/>
                </a:solidFill>
              </a:rPr>
              <a:t>II. Các loại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4768682" cy="4398547"/>
          </a:xfrm>
        </p:spPr>
        <p:txBody>
          <a:bodyPr>
            <a:normAutofit/>
          </a:bodyPr>
          <a:lstStyle/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00000"/>
                </a:solidFill>
                <a:latin typeface="Arial (Body)"/>
                <a:cs typeface="Arial" panose="020B0604020202020204" pitchFamily="34" charset="0"/>
              </a:rPr>
              <a:t>2. </a:t>
            </a:r>
            <a:r>
              <a:rPr lang="en-US" sz="3600" b="1">
                <a:solidFill>
                  <a:srgbClr val="C00000"/>
                </a:solidFill>
                <a:latin typeface="Arial (Body)"/>
              </a:rPr>
              <a:t>NetBeans</a:t>
            </a:r>
            <a:endParaRPr lang="en-US" sz="3600">
              <a:solidFill>
                <a:srgbClr val="C00000"/>
              </a:solidFill>
              <a:latin typeface="Arial (Body)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>
                <a:latin typeface="Arial (Body)"/>
                <a:cs typeface="Arial" panose="020B0604020202020204" pitchFamily="34" charset="0"/>
              </a:rPr>
              <a:t>Là một IDE miễn phí</a:t>
            </a: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2400">
                <a:latin typeface="Arial (Body)"/>
                <a:cs typeface="Arial" panose="020B0604020202020204" pitchFamily="34" charset="0"/>
              </a:rPr>
              <a:t>Hỗ trợ ngôn ngữ:</a:t>
            </a:r>
            <a:r>
              <a:rPr lang="en-US" sz="240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 i="1">
                <a:solidFill>
                  <a:srgbClr val="EB2998"/>
                </a:solidFill>
                <a:latin typeface="Arial (Body)"/>
                <a:cs typeface="Arial" panose="020B0604020202020204" pitchFamily="34" charset="0"/>
              </a:rPr>
              <a:t>Java, PHP, C, C++, HTML5, JavaScript,</a:t>
            </a:r>
            <a:r>
              <a:rPr lang="vi-VN" sz="2400" i="1">
                <a:solidFill>
                  <a:srgbClr val="EB2998"/>
                </a:solidFill>
                <a:latin typeface="Arial (Body)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610666-72F4-4FE5-B74E-B58633A79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284" y="1733046"/>
            <a:ext cx="6119716" cy="43985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B181BA-CEF6-45E4-99D2-F5074FF30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58" y="4112292"/>
            <a:ext cx="443865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0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B2998"/>
                </a:solidFill>
              </a:rPr>
              <a:t>II. Các loại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785" y="1761534"/>
            <a:ext cx="5200413" cy="5012267"/>
          </a:xfrm>
        </p:spPr>
        <p:txBody>
          <a:bodyPr>
            <a:normAutofit/>
          </a:bodyPr>
          <a:lstStyle/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00000"/>
                </a:solidFill>
                <a:latin typeface="Arial (Body)"/>
                <a:cs typeface="Arial" panose="020B0604020202020204" pitchFamily="34" charset="0"/>
              </a:rPr>
              <a:t>3. </a:t>
            </a:r>
            <a:r>
              <a:rPr lang="en-US" sz="3600" b="1">
                <a:solidFill>
                  <a:srgbClr val="C00000"/>
                </a:solidFill>
                <a:latin typeface="Arial (Body)"/>
              </a:rPr>
              <a:t>Eclipse</a:t>
            </a:r>
            <a:endParaRPr lang="en-US" sz="3600">
              <a:solidFill>
                <a:srgbClr val="C00000"/>
              </a:solidFill>
              <a:latin typeface="Arial (Body)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>
                <a:latin typeface="Arial (Body)"/>
                <a:cs typeface="Arial" panose="020B0604020202020204" pitchFamily="34" charset="0"/>
              </a:rPr>
              <a:t>L</a:t>
            </a:r>
            <a:r>
              <a:rPr lang="vi-VN" sz="2400">
                <a:latin typeface="Arial (Body)"/>
                <a:cs typeface="Arial" panose="020B0604020202020204" pitchFamily="34" charset="0"/>
              </a:rPr>
              <a:t>à một </a:t>
            </a:r>
            <a:r>
              <a:rPr lang="en-US" sz="2400">
                <a:latin typeface="Arial (Body)"/>
                <a:cs typeface="Arial" panose="020B0604020202020204" pitchFamily="34" charset="0"/>
              </a:rPr>
              <a:t>IDE </a:t>
            </a:r>
            <a:r>
              <a:rPr lang="vi-VN" sz="2400">
                <a:latin typeface="Arial (Body)"/>
                <a:cs typeface="Arial" panose="020B0604020202020204" pitchFamily="34" charset="0"/>
              </a:rPr>
              <a:t>mã nguồn mở miễn phí và linh hoạt </a:t>
            </a:r>
            <a:endParaRPr lang="en-US" sz="2400">
              <a:latin typeface="Arial (Body)"/>
              <a:cs typeface="Arial" panose="020B0604020202020204" pitchFamily="34" charset="0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2400">
                <a:latin typeface="Arial (Body)"/>
                <a:cs typeface="Arial" panose="020B0604020202020204" pitchFamily="34" charset="0"/>
              </a:rPr>
              <a:t>Hỗ trợ ngôn ngữ:</a:t>
            </a:r>
            <a:r>
              <a:rPr lang="en-US" sz="240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 i="1">
                <a:solidFill>
                  <a:srgbClr val="EB2998"/>
                </a:solidFill>
                <a:latin typeface="Arial (Body)"/>
                <a:cs typeface="Arial" panose="020B0604020202020204" pitchFamily="34" charset="0"/>
              </a:rPr>
              <a:t>Java, PHP, C, C++, </a:t>
            </a:r>
            <a:r>
              <a:rPr lang="vi-VN" sz="2400" i="1">
                <a:solidFill>
                  <a:srgbClr val="EB2998"/>
                </a:solidFill>
                <a:latin typeface="Arial (Body)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DC5B52-9313-46BE-B6D3-FF07EB3D4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199" y="1737359"/>
            <a:ext cx="6077782" cy="4558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7D83CC-B842-4ADA-A1EF-647EF6A2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491" y="4031847"/>
            <a:ext cx="2070675" cy="223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B2998"/>
                </a:solidFill>
              </a:rPr>
              <a:t>II. Các loại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26" y="1691641"/>
            <a:ext cx="4900892" cy="5012267"/>
          </a:xfrm>
        </p:spPr>
        <p:txBody>
          <a:bodyPr>
            <a:normAutofit/>
          </a:bodyPr>
          <a:lstStyle/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00000"/>
                </a:solidFill>
                <a:latin typeface="Arial (Body)"/>
                <a:cs typeface="Arial" panose="020B0604020202020204" pitchFamily="34" charset="0"/>
              </a:rPr>
              <a:t>4. Xcode</a:t>
            </a:r>
            <a:endParaRPr lang="en-US" sz="3600">
              <a:solidFill>
                <a:srgbClr val="C00000"/>
              </a:solidFill>
              <a:latin typeface="Arial (Body)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>
                <a:latin typeface="Arial (Body)"/>
                <a:cs typeface="Arial" panose="020B0604020202020204" pitchFamily="34" charset="0"/>
              </a:rPr>
              <a:t>Là IDE miễn phí</a:t>
            </a: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>
                <a:latin typeface="Arial (Body)"/>
                <a:cs typeface="Arial" panose="020B0604020202020204" pitchFamily="34" charset="0"/>
              </a:rPr>
              <a:t>L</a:t>
            </a:r>
            <a:r>
              <a:rPr lang="vi-VN" sz="2400">
                <a:latin typeface="Arial (Body)"/>
                <a:cs typeface="Arial" panose="020B0604020202020204" pitchFamily="34" charset="0"/>
              </a:rPr>
              <a:t>à một bộ công cụ để tạo các ứng dụng cho các thiết bị của Apple như iPad, iPhone và Mac</a:t>
            </a:r>
            <a:endParaRPr lang="en-US" sz="2400">
              <a:latin typeface="Arial (Body)"/>
              <a:cs typeface="Arial" panose="020B0604020202020204" pitchFamily="34" charset="0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2400">
                <a:latin typeface="Arial (Body)"/>
                <a:cs typeface="Arial" panose="020B0604020202020204" pitchFamily="34" charset="0"/>
              </a:rPr>
              <a:t>Hỗ trợ ngôn ngữ:</a:t>
            </a:r>
            <a:r>
              <a:rPr lang="en-US" sz="240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 i="1">
                <a:solidFill>
                  <a:srgbClr val="EB2998"/>
                </a:solidFill>
                <a:latin typeface="Arial (Body)"/>
                <a:cs typeface="Arial" panose="020B0604020202020204" pitchFamily="34" charset="0"/>
              </a:rPr>
              <a:t>AppleScript, C, C + +, Java, Objective-C</a:t>
            </a:r>
          </a:p>
        </p:txBody>
      </p:sp>
      <p:pic>
        <p:nvPicPr>
          <p:cNvPr id="3074" name="Picture 2" descr="Xcode Overview: At a Glance">
            <a:extLst>
              <a:ext uri="{FF2B5EF4-FFF2-40B4-BE49-F238E27FC236}">
                <a16:creationId xmlns:a16="http://schemas.microsoft.com/office/drawing/2014/main" id="{13B3191C-8729-4C21-8991-A7419471E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867" y="1883753"/>
            <a:ext cx="1301877" cy="122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E26049-C348-47EA-B862-63DD85691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984" y="1994004"/>
            <a:ext cx="6644288" cy="391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3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B2998"/>
                </a:solidFill>
              </a:rPr>
              <a:t>II. Các loại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792" y="1737360"/>
            <a:ext cx="4642869" cy="5012267"/>
          </a:xfrm>
        </p:spPr>
        <p:txBody>
          <a:bodyPr>
            <a:normAutofit/>
          </a:bodyPr>
          <a:lstStyle/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00000"/>
                </a:solidFill>
                <a:latin typeface="Arial (Body)"/>
                <a:cs typeface="Arial" panose="020B0604020202020204" pitchFamily="34" charset="0"/>
              </a:rPr>
              <a:t>5. Android Studio</a:t>
            </a:r>
            <a:endParaRPr lang="en-US" sz="3600">
              <a:solidFill>
                <a:srgbClr val="C00000"/>
              </a:solidFill>
              <a:latin typeface="Arial (Body)"/>
            </a:endParaRP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>
                <a:latin typeface="Arial (Body)"/>
                <a:cs typeface="Arial" panose="020B0604020202020204" pitchFamily="34" charset="0"/>
              </a:rPr>
              <a:t>Là IDE chính thức cho Android</a:t>
            </a: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>
                <a:latin typeface="Arial (Body)"/>
                <a:cs typeface="Arial" panose="020B0604020202020204" pitchFamily="34" charset="0"/>
              </a:rPr>
              <a:t>Cung cấp bộ công cụ bổ sung</a:t>
            </a: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2400">
                <a:latin typeface="Arial (Body)"/>
                <a:cs typeface="Arial" panose="020B0604020202020204" pitchFamily="34" charset="0"/>
              </a:rPr>
              <a:t>Hỗ trợ ngôn ngữ:</a:t>
            </a:r>
            <a:r>
              <a:rPr lang="en-US" sz="240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 i="1">
                <a:solidFill>
                  <a:srgbClr val="EB2998"/>
                </a:solidFill>
                <a:latin typeface="Arial (Body)"/>
                <a:cs typeface="Arial" panose="020B0604020202020204" pitchFamily="34" charset="0"/>
              </a:rPr>
              <a:t>Java, C++, Kotlin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58DCE-4AB1-4653-A5D7-35CF8E2DD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998" y="1737360"/>
            <a:ext cx="6911002" cy="4442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B1C90D-D2E8-4CE1-B44A-91957BF3F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580" y="4091973"/>
            <a:ext cx="2175455" cy="219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0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469" y="922639"/>
            <a:ext cx="10058400" cy="790009"/>
          </a:xfrm>
        </p:spPr>
        <p:txBody>
          <a:bodyPr/>
          <a:lstStyle/>
          <a:p>
            <a:r>
              <a:rPr lang="en-US">
                <a:solidFill>
                  <a:srgbClr val="EB2998"/>
                </a:solidFill>
              </a:rPr>
              <a:t>II. Các loại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882" y="1829257"/>
            <a:ext cx="4728518" cy="2842332"/>
          </a:xfrm>
        </p:spPr>
        <p:txBody>
          <a:bodyPr>
            <a:normAutofit/>
          </a:bodyPr>
          <a:lstStyle/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Microsoft Visual Studio</a:t>
            </a:r>
          </a:p>
          <a:p>
            <a:pPr lvl="1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220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800">
                <a:latin typeface="Arial (Body)"/>
                <a:cs typeface="Arial" panose="020B0604020202020204" pitchFamily="34" charset="0"/>
              </a:rPr>
              <a:t>Hỗ trợ ngôn ngữ: </a:t>
            </a:r>
            <a:r>
              <a:rPr lang="en-US" sz="2800" i="1">
                <a:solidFill>
                  <a:srgbClr val="EB2998"/>
                </a:solidFill>
                <a:latin typeface="Arial (Body)"/>
                <a:cs typeface="Arial" panose="020B0604020202020204" pitchFamily="34" charset="0"/>
              </a:rPr>
              <a:t>DHTML, JavaScript, JScript, Visual Basic, Visual C#, Visual C++,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82ADC-C1A4-4B69-8523-5DB8A412F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632" y="3940967"/>
            <a:ext cx="2374276" cy="2374276"/>
          </a:xfrm>
          <a:prstGeom prst="rect">
            <a:avLst/>
          </a:prstGeom>
        </p:spPr>
      </p:pic>
      <p:pic>
        <p:nvPicPr>
          <p:cNvPr id="2052" name="Picture 4" descr="Giới Thiệu Visual Studio — STDIO">
            <a:extLst>
              <a:ext uri="{FF2B5EF4-FFF2-40B4-BE49-F238E27FC236}">
                <a16:creationId xmlns:a16="http://schemas.microsoft.com/office/drawing/2014/main" id="{3C67D68B-E7F0-4B53-9D79-88ED5D490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448" y="1829257"/>
            <a:ext cx="6059742" cy="448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01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B2998"/>
                </a:solidFill>
              </a:rPr>
              <a:t>II. Các loại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06600"/>
            <a:ext cx="10668734" cy="4664797"/>
          </a:xfrm>
        </p:spPr>
        <p:txBody>
          <a:bodyPr>
            <a:normAutofit fontScale="92500" lnSpcReduction="20000"/>
          </a:bodyPr>
          <a:lstStyle/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latin typeface="Arial (Body)"/>
              </a:rPr>
              <a:t>IDE tốt phụ thuộc vào hệ điều hành, ngôn ngữ lập trình và những nền tảng muốn phát triển. Khi sử dụng, các LTV thường cài thêm các plug-in/ extension để cải thiện tốc độ cũng như hỗ trợ trong quá trình lập trình.</a:t>
            </a:r>
          </a:p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030A0"/>
                </a:solidFill>
                <a:latin typeface="Arial (Body)"/>
                <a:cs typeface="Arial" panose="020B0604020202020204" pitchFamily="34" charset="0"/>
              </a:rPr>
              <a:t>Thông thường trong dự án sẽ có quy định về việc sử dụng IDE nào đó!</a:t>
            </a:r>
          </a:p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highlight>
                  <a:srgbClr val="FFFF00"/>
                </a:highlight>
                <a:latin typeface="Arial (Body)"/>
                <a:cs typeface="Arial" panose="020B0604020202020204" pitchFamily="34" charset="0"/>
              </a:rPr>
              <a:t>Đối với Dự án thuộc LA, sử dụng IDE là IntelliJ Education/Community (đã được cài sẵn trên máy)</a:t>
            </a:r>
          </a:p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highlight>
                  <a:srgbClr val="FFFF00"/>
                </a:highlight>
                <a:latin typeface="Arial (Body)"/>
                <a:cs typeface="Arial" panose="020B0604020202020204" pitchFamily="34" charset="0"/>
              </a:rPr>
              <a:t>Giáo viên hướng dẫn học viên sử dụng IntelliJ IDEA</a:t>
            </a:r>
          </a:p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030A0"/>
                </a:solidFill>
                <a:latin typeface="Arial (Body)"/>
                <a:cs typeface="Arial" panose="020B0604020202020204" pitchFamily="34" charset="0"/>
              </a:rPr>
              <a:t>Tham khảo: </a:t>
            </a:r>
          </a:p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030A0"/>
                </a:solidFill>
                <a:latin typeface="Arial (Body)"/>
                <a:cs typeface="Arial" panose="020B0604020202020204" pitchFamily="34" charset="0"/>
                <a:hlinkClick r:id="rId3"/>
              </a:rPr>
              <a:t>https://www.jetbrains.com/help/idea/discover-intellij-idea.html</a:t>
            </a:r>
            <a:endParaRPr lang="en-US" sz="2400" b="1">
              <a:solidFill>
                <a:srgbClr val="7030A0"/>
              </a:solidFill>
              <a:latin typeface="Arial (Body)"/>
              <a:cs typeface="Arial" panose="020B0604020202020204" pitchFamily="34" charset="0"/>
            </a:endParaRPr>
          </a:p>
          <a:p>
            <a:pPr marL="201168" lvl="1" indent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030A0"/>
                </a:solidFill>
                <a:latin typeface="Arial (Body)"/>
                <a:cs typeface="Arial" panose="020B0604020202020204" pitchFamily="34" charset="0"/>
                <a:hlinkClick r:id="rId4"/>
              </a:rPr>
              <a:t>https://plugins.jetbrains.com/docs/intellij/developing-plugins.html#plugin-development-workflow</a:t>
            </a:r>
            <a:r>
              <a:rPr lang="en-US" sz="2400" b="1">
                <a:solidFill>
                  <a:srgbClr val="7030A0"/>
                </a:solidFill>
                <a:latin typeface="Arial (Body)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3411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942011"/>
            <a:ext cx="10058400" cy="2220686"/>
          </a:xfrm>
        </p:spPr>
        <p:txBody>
          <a:bodyPr/>
          <a:lstStyle/>
          <a:p>
            <a:pPr algn="ctr"/>
            <a:r>
              <a:rPr lang="en-US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575758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416</TotalTime>
  <Words>561</Words>
  <Application>Microsoft Office PowerPoint</Application>
  <PresentationFormat>Widescreen</PresentationFormat>
  <Paragraphs>55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 (Body)</vt:lpstr>
      <vt:lpstr>Arial</vt:lpstr>
      <vt:lpstr>Calibri</vt:lpstr>
      <vt:lpstr>Calibri Light</vt:lpstr>
      <vt:lpstr>Cambria Math</vt:lpstr>
      <vt:lpstr>Retrospect</vt:lpstr>
      <vt:lpstr>MÔI TRƯỜNG PHÁT TRIỂN (IDE)</vt:lpstr>
      <vt:lpstr>Môi trường phát triển</vt:lpstr>
      <vt:lpstr>I. Môi trường phát triển (IDE)là gì?</vt:lpstr>
      <vt:lpstr>II. Các loại IDE</vt:lpstr>
      <vt:lpstr>II. Các loại IDE</vt:lpstr>
      <vt:lpstr>II. Các loại IDE</vt:lpstr>
      <vt:lpstr>II. Các loại IDE</vt:lpstr>
      <vt:lpstr>II. Các loại IDE</vt:lpstr>
      <vt:lpstr>II. Các loại IDE</vt:lpstr>
      <vt:lpstr>II. Các loại IDE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SƠ LƯỢC CỦA MÁY TÍNH</dc:title>
  <dc:creator>fragrance phoenix</dc:creator>
  <cp:lastModifiedBy>Le Thi Phuong Loan</cp:lastModifiedBy>
  <cp:revision>69</cp:revision>
  <dcterms:created xsi:type="dcterms:W3CDTF">2020-03-13T04:09:31Z</dcterms:created>
  <dcterms:modified xsi:type="dcterms:W3CDTF">2023-05-29T09:03:53Z</dcterms:modified>
</cp:coreProperties>
</file>