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9" r:id="rId2"/>
    <p:sldId id="268" r:id="rId3"/>
    <p:sldId id="295" r:id="rId4"/>
    <p:sldId id="296" r:id="rId5"/>
    <p:sldId id="311" r:id="rId6"/>
    <p:sldId id="310" r:id="rId7"/>
    <p:sldId id="297" r:id="rId8"/>
    <p:sldId id="304" r:id="rId9"/>
    <p:sldId id="309" r:id="rId10"/>
    <p:sldId id="300" r:id="rId11"/>
    <p:sldId id="308" r:id="rId12"/>
    <p:sldId id="301" r:id="rId13"/>
    <p:sldId id="305" r:id="rId14"/>
    <p:sldId id="294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33"/>
    <a:srgbClr val="FFCC66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01" autoAdjust="0"/>
    <p:restoredTop sz="94660"/>
  </p:normalViewPr>
  <p:slideViewPr>
    <p:cSldViewPr>
      <p:cViewPr varScale="1">
        <p:scale>
          <a:sx n="114" d="100"/>
          <a:sy n="114" d="100"/>
        </p:scale>
        <p:origin x="1788" y="14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925A17EF-115B-4BB9-BF42-426DFD9E898A}" type="datetimeFigureOut">
              <a:rPr lang="en-US" smtClean="0"/>
              <a:pPr/>
              <a:t>4/4/2023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7C4E7652-46AF-4259-BAE2-54978EA077C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442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12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770D99E-2869-438B-B483-1F6CCD5437EE}"/>
              </a:ext>
            </a:extLst>
          </p:cNvPr>
          <p:cNvGrpSpPr/>
          <p:nvPr userDrawn="1"/>
        </p:nvGrpSpPr>
        <p:grpSpPr>
          <a:xfrm>
            <a:off x="-1" y="-10825"/>
            <a:ext cx="9144002" cy="6515395"/>
            <a:chOff x="-1" y="-10825"/>
            <a:chExt cx="9144002" cy="6515395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F66236F9-EA1F-4D2A-84DE-EC04F9972C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7200" y="-10825"/>
              <a:ext cx="3429000" cy="3181546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32A12C4E-53AE-4900-9783-F619054408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95401" y="-10825"/>
              <a:ext cx="7848600" cy="3522243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A14E049B-6FD4-487E-927B-506983629A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31825" y="2232482"/>
              <a:ext cx="1282976" cy="1108588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F27E3F5-0D4D-492C-8A3E-50BC30CEFD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-1" y="2962082"/>
              <a:ext cx="2757625" cy="3542488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6D4FF91-8818-4598-AC9F-B8C2FA867C0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" y="2313169"/>
              <a:ext cx="2259131" cy="2895506"/>
            </a:xfrm>
            <a:prstGeom prst="rect">
              <a:avLst/>
            </a:prstGeom>
          </p:spPr>
        </p:pic>
      </p:grp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276600" y="1213332"/>
            <a:ext cx="5326856" cy="1425577"/>
          </a:xfrm>
        </p:spPr>
        <p:txBody>
          <a:bodyPr anchor="b"/>
          <a:lstStyle>
            <a:lvl1pPr algn="r">
              <a:defRPr sz="45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724400" y="3849666"/>
            <a:ext cx="3879056" cy="1234575"/>
          </a:xfrm>
          <a:noFill/>
        </p:spPr>
        <p:txBody>
          <a:bodyPr/>
          <a:lstStyle>
            <a:lvl1pPr marL="0" marR="36576" indent="0" algn="l">
              <a:spcBef>
                <a:spcPts val="0"/>
              </a:spcBef>
              <a:buNone/>
              <a:defRPr>
                <a:ln>
                  <a:noFill/>
                </a:ln>
                <a:solidFill>
                  <a:schemeClr val="bg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12256" y="6111875"/>
            <a:ext cx="5791200" cy="365125"/>
          </a:xfrm>
          <a:prstGeom prst="rect">
            <a:avLst/>
          </a:prstGeom>
        </p:spPr>
        <p:txBody>
          <a:bodyPr tIns="0" bIns="0" anchor="b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Báo cáo tổng kết 2017 - PMO</a:t>
            </a:r>
            <a:endParaRPr lang="en-US" dirty="0"/>
          </a:p>
        </p:txBody>
      </p:sp>
      <p:pic>
        <p:nvPicPr>
          <p:cNvPr id="2051" name="Picture 1" descr="logo+Luvina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95402" cy="787402"/>
          </a:xfrm>
          <a:prstGeom prst="rect">
            <a:avLst/>
          </a:prstGeom>
          <a:noFill/>
          <a:ln>
            <a:noFill/>
          </a:ln>
          <a:effectLst>
            <a:glow>
              <a:schemeClr val="accent1"/>
            </a:glow>
            <a:outerShdw blurRad="177800" dist="50800" dir="5400000" algn="ctr" rotWithShape="0">
              <a:srgbClr val="000000">
                <a:alpha val="0"/>
              </a:srgbClr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4876800" cy="7993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20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426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33CFB-98CB-4408-8818-24F931AC1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C6F67-BAE4-413D-8066-1E361D589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183880" y="173195"/>
            <a:ext cx="502920" cy="301752"/>
          </a:xfrm>
          <a:prstGeom prst="rect">
            <a:avLst/>
          </a:prstGeom>
        </p:spPr>
        <p:txBody>
          <a:bodyPr/>
          <a:lstStyle/>
          <a:p>
            <a:fld id="{49598980-D22C-4904-9F8F-3DB09B2ECD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F566D8F-E696-41DE-BA1C-A8D0C7F03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5655"/>
            <a:ext cx="7726680" cy="571500"/>
          </a:xfrm>
        </p:spPr>
        <p:txBody>
          <a:bodyPr>
            <a:normAutofit/>
          </a:bodyPr>
          <a:lstStyle>
            <a:lvl1pPr marL="64008" indent="0">
              <a:buFont typeface="Arial" panose="020B0604020202020204" pitchFamily="34" charset="0"/>
              <a:buNone/>
              <a:defRPr sz="2000"/>
            </a:lvl1pPr>
            <a:lvl2pPr marL="537210" indent="0">
              <a:buNone/>
              <a:defRPr/>
            </a:lvl2pPr>
            <a:lvl3pPr marL="877824" indent="0">
              <a:buNone/>
              <a:defRPr/>
            </a:lvl3pPr>
            <a:lvl4pPr marL="1161288" indent="0">
              <a:buNone/>
              <a:defRPr/>
            </a:lvl4pPr>
            <a:lvl5pPr marL="138988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8787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295400"/>
            <a:ext cx="914400" cy="5015864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5856" y="1295400"/>
            <a:ext cx="2438400" cy="5015864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51250" y="1295400"/>
            <a:ext cx="5276088" cy="501396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D5BE3E6-AFB3-460C-834B-D73EE2A7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1596" y="173195"/>
            <a:ext cx="502920" cy="301752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FEA1243F-3000-4347-94A4-FBDEAD3122C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5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66725" y="381198"/>
            <a:ext cx="4638674" cy="675926"/>
          </a:xfrm>
          <a:prstGeom prst="rect">
            <a:avLst/>
          </a:prstGeom>
        </p:spPr>
        <p:txBody>
          <a:bodyPr vert="horz" lIns="0" rIns="0" anchor="ctr">
            <a:noAutofit/>
          </a:bodyPr>
          <a:lstStyle/>
          <a:p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566839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1E45D2D-0469-4652-A090-C4D13F3C150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5307178"/>
            <a:ext cx="1219200" cy="155082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16C04FF8-AE2F-4C75-8657-A2201B95197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6459" y="4545317"/>
            <a:ext cx="1248460" cy="1570328"/>
          </a:xfrm>
          <a:prstGeom prst="rect">
            <a:avLst/>
          </a:prstGeom>
        </p:spPr>
      </p:pic>
      <p:pic>
        <p:nvPicPr>
          <p:cNvPr id="1027" name="Picture 1" descr="logo+Luvina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2591" y="1994"/>
            <a:ext cx="1230913" cy="748202"/>
          </a:xfrm>
          <a:prstGeom prst="rect">
            <a:avLst/>
          </a:prstGeom>
          <a:noFill/>
          <a:ln>
            <a:noFill/>
          </a:ln>
          <a:effectLst>
            <a:outerShdw dist="50800" dir="5400000" algn="ctr" rotWithShape="0">
              <a:srgbClr val="000000">
                <a:alpha val="0"/>
              </a:srgbClr>
            </a:outerShdw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8" r:id="rId3"/>
    <p:sldLayoutId id="2147483657" r:id="rId4"/>
    <p:sldLayoutId id="2147483652" r:id="rId5"/>
    <p:sldLayoutId id="2147483656" r:id="rId6"/>
  </p:sldLayoutIdLst>
  <p:hf sldNum="0" hdr="0" dt="0"/>
  <p:txStyles>
    <p:titleStyle>
      <a:lvl1pPr marL="182880" algn="l" rtl="0" eaLnBrk="1" latinLnBrk="0" hangingPunct="1">
        <a:spcBef>
          <a:spcPct val="0"/>
        </a:spcBef>
        <a:buNone/>
        <a:defRPr sz="3200" b="1" kern="1200">
          <a:ln w="6350">
            <a:noFill/>
          </a:ln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SzPct val="80000"/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SzPct val="95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914400"/>
            <a:ext cx="8001000" cy="1066800"/>
          </a:xfrm>
        </p:spPr>
        <p:txBody>
          <a:bodyPr/>
          <a:lstStyle/>
          <a:p>
            <a:pPr algn="ctr"/>
            <a:r>
              <a:rPr lang="vi-VN" sz="3600" dirty="0"/>
              <a:t>CÁCH VIẾT TESTCASE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3849666"/>
            <a:ext cx="4488656" cy="123457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Người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: </a:t>
            </a:r>
            <a:r>
              <a:rPr lang="en-US" b="1" dirty="0"/>
              <a:t>TMO</a:t>
            </a:r>
          </a:p>
        </p:txBody>
      </p:sp>
    </p:spTree>
    <p:extLst>
      <p:ext uri="{BB962C8B-B14F-4D97-AF65-F5344CB8AC3E}">
        <p14:creationId xmlns:p14="http://schemas.microsoft.com/office/powerpoint/2010/main" val="2925794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NỘI DUNG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1447800" y="1371600"/>
            <a:ext cx="6629400" cy="4191000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Khái</a:t>
            </a:r>
            <a:r>
              <a:rPr lang="en-US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niệm</a:t>
            </a:r>
            <a:r>
              <a:rPr lang="vi-VN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 test cases</a:t>
            </a:r>
            <a:endParaRPr lang="en-US" sz="2400" dirty="0">
              <a:solidFill>
                <a:schemeClr val="bg1"/>
              </a:solidFill>
              <a:latin typeface="Arial (Body)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Cấu</a:t>
            </a:r>
            <a:r>
              <a:rPr lang="en-US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trúc</a:t>
            </a:r>
            <a:r>
              <a:rPr lang="en-US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 test cases</a:t>
            </a:r>
            <a:endParaRPr lang="vi-VN" sz="2400" dirty="0">
              <a:solidFill>
                <a:schemeClr val="bg1"/>
              </a:solidFill>
              <a:latin typeface="Arial (Body)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Cấu</a:t>
            </a:r>
            <a:r>
              <a:rPr lang="en-US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trúc</a:t>
            </a:r>
            <a:r>
              <a:rPr lang="en-US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 test cases</a:t>
            </a:r>
            <a:r>
              <a:rPr lang="vi-VN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 Luvina</a:t>
            </a:r>
            <a:endParaRPr lang="en-US" sz="2400" dirty="0">
              <a:solidFill>
                <a:schemeClr val="bg1"/>
              </a:solidFill>
              <a:latin typeface="Arial (Body)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vi-VN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Các bước </a:t>
            </a:r>
            <a:r>
              <a:rPr lang="en-US" sz="2400" dirty="0" err="1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viết</a:t>
            </a:r>
            <a:r>
              <a:rPr lang="en-US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 Test cases</a:t>
            </a:r>
          </a:p>
          <a:p>
            <a:pPr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Đ</a:t>
            </a:r>
            <a:r>
              <a:rPr lang="vi-VN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iểm quan trọng để </a:t>
            </a:r>
            <a:r>
              <a:rPr lang="en-US" sz="2400" dirty="0" err="1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tạo</a:t>
            </a:r>
            <a:r>
              <a:rPr lang="en-US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 </a:t>
            </a:r>
            <a:r>
              <a:rPr lang="vi-VN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Test</a:t>
            </a:r>
            <a:r>
              <a:rPr lang="en-US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 </a:t>
            </a:r>
            <a:r>
              <a:rPr lang="vi-VN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case</a:t>
            </a:r>
            <a:r>
              <a:rPr lang="en-US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s </a:t>
            </a:r>
            <a:r>
              <a:rPr lang="en-US" sz="2400" dirty="0" err="1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tốt</a:t>
            </a:r>
            <a:endParaRPr lang="en-US" sz="2400" dirty="0">
              <a:solidFill>
                <a:schemeClr val="bg1"/>
              </a:solidFill>
              <a:latin typeface="Arial (Body)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400" dirty="0" err="1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Ví</a:t>
            </a:r>
            <a:r>
              <a:rPr lang="en-US" sz="2400" dirty="0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Arial (Body)"/>
                <a:cs typeface="Times New Roman" panose="02020603050405020304" pitchFamily="18" charset="0"/>
              </a:rPr>
              <a:t>dụ</a:t>
            </a:r>
            <a:br>
              <a:rPr lang="vi-VN" sz="2400" b="1" dirty="0">
                <a:solidFill>
                  <a:schemeClr val="bg1"/>
                </a:solidFill>
                <a:latin typeface="Arial (Body)"/>
              </a:rPr>
            </a:br>
            <a:endParaRPr lang="en-US" sz="2400" dirty="0">
              <a:solidFill>
                <a:schemeClr val="bg1"/>
              </a:solidFill>
              <a:latin typeface="Arial (Body)"/>
            </a:endParaRP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  <a:latin typeface="Arial (Body)"/>
            </a:endParaRPr>
          </a:p>
          <a:p>
            <a:pPr marL="514350" indent="-514350">
              <a:buFont typeface="+mj-lt"/>
              <a:buAutoNum type="romanUcPeriod"/>
            </a:pPr>
            <a:endParaRPr lang="en-US" sz="2400" dirty="0">
              <a:solidFill>
                <a:schemeClr val="bg1"/>
              </a:solidFill>
              <a:latin typeface="Arial (Body)"/>
            </a:endParaRPr>
          </a:p>
        </p:txBody>
      </p:sp>
    </p:spTree>
    <p:extLst>
      <p:ext uri="{BB962C8B-B14F-4D97-AF65-F5344CB8AC3E}">
        <p14:creationId xmlns:p14="http://schemas.microsoft.com/office/powerpoint/2010/main" val="2545696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7162800" cy="799306"/>
          </a:xfrm>
        </p:spPr>
        <p:txBody>
          <a:bodyPr/>
          <a:lstStyle/>
          <a:p>
            <a:r>
              <a:rPr lang="vi-VN" dirty="0"/>
              <a:t>1</a:t>
            </a:r>
            <a:r>
              <a:rPr lang="en-US" dirty="0"/>
              <a:t>.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KHÁI NIỆM TEST CASES(TCs) </a:t>
            </a:r>
            <a:endParaRPr lang="en-US" dirty="0"/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1066800"/>
            <a:ext cx="8686800" cy="4953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vi-VN" sz="1800" dirty="0"/>
              <a:t>Test</a:t>
            </a:r>
            <a:r>
              <a:rPr lang="en-US" sz="1800" dirty="0"/>
              <a:t> c</a:t>
            </a:r>
            <a:r>
              <a:rPr lang="vi-VN" sz="1800" dirty="0"/>
              <a:t>ases là 1 tập hợp các trường hợp </a:t>
            </a:r>
            <a:r>
              <a:rPr lang="en-US" sz="1800" dirty="0" err="1"/>
              <a:t>kiểm</a:t>
            </a:r>
            <a:r>
              <a:rPr lang="en-US" sz="1800" dirty="0"/>
              <a:t> </a:t>
            </a:r>
            <a:r>
              <a:rPr lang="en-US" sz="1800" dirty="0" err="1"/>
              <a:t>thử</a:t>
            </a:r>
            <a:r>
              <a:rPr lang="en-US" sz="1800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vi-VN" sz="1800" dirty="0"/>
              <a:t>Test</a:t>
            </a:r>
            <a:r>
              <a:rPr lang="en-US" sz="1800" dirty="0"/>
              <a:t> c</a:t>
            </a:r>
            <a:r>
              <a:rPr lang="vi-VN" sz="1800" dirty="0"/>
              <a:t>ases </a:t>
            </a:r>
            <a:r>
              <a:rPr lang="en-US" sz="1800" dirty="0" err="1"/>
              <a:t>mô</a:t>
            </a:r>
            <a:r>
              <a:rPr lang="en-US" sz="1800" dirty="0"/>
              <a:t> </a:t>
            </a:r>
            <a:r>
              <a:rPr lang="en-US" sz="1800" dirty="0" err="1"/>
              <a:t>tả</a:t>
            </a:r>
            <a:r>
              <a:rPr lang="en-US" sz="1800" dirty="0"/>
              <a:t>: </a:t>
            </a:r>
            <a:r>
              <a:rPr lang="en-US" sz="1800" dirty="0" err="1"/>
              <a:t>dữ</a:t>
            </a:r>
            <a:r>
              <a:rPr lang="en-US" sz="1800" dirty="0"/>
              <a:t> liệu đầu </a:t>
            </a:r>
            <a:r>
              <a:rPr lang="en-US" sz="1800" dirty="0" err="1"/>
              <a:t>vào</a:t>
            </a:r>
            <a:r>
              <a:rPr lang="en-US" sz="1800" dirty="0"/>
              <a:t> (input), </a:t>
            </a:r>
            <a:r>
              <a:rPr lang="en-US" sz="1800" dirty="0" err="1"/>
              <a:t>hành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r>
              <a:rPr lang="en-US" sz="1800" dirty="0"/>
              <a:t> (action) hoặc </a:t>
            </a:r>
            <a:r>
              <a:rPr lang="en-US" sz="1800" dirty="0" err="1"/>
              <a:t>sự</a:t>
            </a:r>
            <a:r>
              <a:rPr lang="en-US" sz="1800" dirty="0"/>
              <a:t> </a:t>
            </a:r>
            <a:r>
              <a:rPr lang="en-US" sz="1800" dirty="0" err="1"/>
              <a:t>kiện</a:t>
            </a:r>
            <a:r>
              <a:rPr lang="en-US" sz="1800" dirty="0"/>
              <a:t> (event) và </a:t>
            </a:r>
            <a:r>
              <a:rPr lang="en-US" sz="1800" dirty="0" err="1"/>
              <a:t>một</a:t>
            </a:r>
            <a:r>
              <a:rPr lang="en-US" sz="1800" dirty="0"/>
              <a:t> </a:t>
            </a:r>
            <a:r>
              <a:rPr lang="en-US" sz="1800" dirty="0" err="1"/>
              <a:t>kết</a:t>
            </a:r>
            <a:r>
              <a:rPr lang="en-US" sz="1800" dirty="0"/>
              <a:t> </a:t>
            </a:r>
            <a:r>
              <a:rPr lang="en-US" sz="1800" dirty="0" err="1"/>
              <a:t>quả</a:t>
            </a:r>
            <a:r>
              <a:rPr lang="en-US" sz="1800" dirty="0"/>
              <a:t> </a:t>
            </a:r>
            <a:r>
              <a:rPr lang="en-US" sz="1800" dirty="0" err="1"/>
              <a:t>mong</a:t>
            </a:r>
            <a:r>
              <a:rPr lang="en-US" sz="1800" dirty="0"/>
              <a:t> </a:t>
            </a:r>
            <a:r>
              <a:rPr lang="en-US" sz="1800" dirty="0" err="1"/>
              <a:t>đợi</a:t>
            </a:r>
            <a:r>
              <a:rPr lang="en-US" sz="1800" dirty="0"/>
              <a:t> (expected response).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vi-VN" sz="1800" dirty="0"/>
              <a:t>Tester dựa vào </a:t>
            </a:r>
            <a:r>
              <a:rPr lang="en-US" sz="1800" dirty="0"/>
              <a:t>test cases</a:t>
            </a:r>
            <a:r>
              <a:rPr lang="vi-VN" sz="1800" dirty="0"/>
              <a:t> để xác định </a:t>
            </a:r>
            <a:r>
              <a:rPr lang="en-US" sz="1800" dirty="0" err="1"/>
              <a:t>một</a:t>
            </a:r>
            <a:r>
              <a:rPr lang="vi-VN" sz="1800" dirty="0"/>
              <a:t> tính năng</a:t>
            </a:r>
            <a:r>
              <a:rPr lang="en-US" sz="1800" dirty="0"/>
              <a:t>, </a:t>
            </a:r>
            <a:r>
              <a:rPr lang="en-US" sz="1800" dirty="0" err="1"/>
              <a:t>một</a:t>
            </a:r>
            <a:r>
              <a:rPr lang="vi-VN" sz="1800" dirty="0"/>
              <a:t> ứng dụng,</a:t>
            </a:r>
            <a:r>
              <a:rPr lang="en-US" sz="1800" dirty="0"/>
              <a:t> </a:t>
            </a:r>
            <a:r>
              <a:rPr lang="en-US" sz="1800" dirty="0" err="1"/>
              <a:t>một</a:t>
            </a:r>
            <a:r>
              <a:rPr lang="vi-VN" sz="1800" dirty="0"/>
              <a:t> hệ thống có hoạt động </a:t>
            </a:r>
            <a:r>
              <a:rPr lang="en-US" sz="1800" dirty="0" err="1"/>
              <a:t>đúng</a:t>
            </a:r>
            <a:r>
              <a:rPr lang="en-US" sz="1800" dirty="0"/>
              <a:t> hay </a:t>
            </a:r>
            <a:r>
              <a:rPr lang="en-US" sz="1800" dirty="0" err="1"/>
              <a:t>không</a:t>
            </a:r>
            <a:r>
              <a:rPr lang="en-US" sz="1800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800" dirty="0"/>
              <a:t>Test cases</a:t>
            </a:r>
            <a:r>
              <a:rPr lang="vi-VN" sz="1800" dirty="0"/>
              <a:t> phải bao phủ được toàn </a:t>
            </a:r>
            <a:r>
              <a:rPr lang="en-US" sz="1800" dirty="0" err="1"/>
              <a:t>bộ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requirement, </a:t>
            </a:r>
            <a:r>
              <a:rPr lang="en-US" sz="1800" dirty="0" err="1"/>
              <a:t>bao</a:t>
            </a:r>
            <a:r>
              <a:rPr lang="en-US" sz="1800" dirty="0"/>
              <a:t> </a:t>
            </a:r>
            <a:r>
              <a:rPr lang="en-US" sz="1800" dirty="0" err="1"/>
              <a:t>gồm</a:t>
            </a:r>
            <a:r>
              <a:rPr lang="en-US" sz="1800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Các</a:t>
            </a:r>
            <a:r>
              <a:rPr lang="vi-VN" dirty="0"/>
              <a:t> xử lý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vi-VN" dirty="0"/>
              <a:t>mô tả trong tài liệu phân tích thiết kế</a:t>
            </a:r>
            <a:r>
              <a:rPr lang="en-US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</a:t>
            </a:r>
            <a:r>
              <a:rPr lang="vi-VN" dirty="0"/>
              <a:t>ác yêu cầu về bảo mật an toàn thông tin, yêu cầu hiệu năng của hệ thống</a:t>
            </a:r>
            <a:r>
              <a:rPr lang="en-US" dirty="0"/>
              <a:t> (nếu yêu </a:t>
            </a:r>
            <a:r>
              <a:rPr lang="en-US" dirty="0" err="1"/>
              <a:t>cầu</a:t>
            </a:r>
            <a:r>
              <a:rPr lang="en-US" dirty="0"/>
              <a:t>)</a:t>
            </a:r>
            <a:r>
              <a:rPr lang="vi-VN" dirty="0"/>
              <a:t>.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4648200"/>
            <a:ext cx="58293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575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6934200" cy="685800"/>
          </a:xfrm>
        </p:spPr>
        <p:txBody>
          <a:bodyPr/>
          <a:lstStyle/>
          <a:p>
            <a:r>
              <a:rPr lang="en-US" dirty="0"/>
              <a:t>2.CẤU TRÚC TEST CASES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381000" y="838200"/>
            <a:ext cx="8763000" cy="6019800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vi-VN" sz="1900" dirty="0"/>
              <a:t> </a:t>
            </a:r>
            <a:r>
              <a:rPr lang="en-US" sz="1900" dirty="0" err="1"/>
              <a:t>Cấu</a:t>
            </a:r>
            <a:r>
              <a:rPr lang="en-US" sz="1900" dirty="0"/>
              <a:t> </a:t>
            </a:r>
            <a:r>
              <a:rPr lang="en-US" sz="1900" dirty="0" err="1"/>
              <a:t>trúc</a:t>
            </a:r>
            <a:r>
              <a:rPr lang="en-US" sz="1900" dirty="0"/>
              <a:t> TC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900" dirty="0"/>
              <a:t>STT (</a:t>
            </a:r>
            <a:r>
              <a:rPr lang="vi-VN" sz="1900" dirty="0"/>
              <a:t>Test</a:t>
            </a:r>
            <a:r>
              <a:rPr lang="en-US" sz="1900" dirty="0"/>
              <a:t> c</a:t>
            </a:r>
            <a:r>
              <a:rPr lang="vi-VN" sz="1900" dirty="0"/>
              <a:t>ase</a:t>
            </a:r>
            <a:r>
              <a:rPr lang="en-US" sz="1900" dirty="0"/>
              <a:t>s</a:t>
            </a:r>
            <a:r>
              <a:rPr lang="vi-VN" sz="1900" dirty="0"/>
              <a:t> ID</a:t>
            </a:r>
            <a:r>
              <a:rPr lang="en-US" sz="1900" dirty="0"/>
              <a:t>)</a:t>
            </a:r>
            <a:r>
              <a:rPr lang="vi-VN" sz="1900" dirty="0"/>
              <a:t> : </a:t>
            </a:r>
            <a:r>
              <a:rPr lang="en-US" sz="1900" dirty="0" err="1"/>
              <a:t>Đánh</a:t>
            </a:r>
            <a:r>
              <a:rPr lang="en-US" sz="1900" dirty="0"/>
              <a:t> </a:t>
            </a:r>
            <a:r>
              <a:rPr lang="en-US" sz="1900" dirty="0" err="1"/>
              <a:t>số</a:t>
            </a:r>
            <a:r>
              <a:rPr lang="en-US" sz="1900" dirty="0"/>
              <a:t> ID </a:t>
            </a:r>
            <a:r>
              <a:rPr lang="en-US" sz="1900" dirty="0" err="1"/>
              <a:t>tăng</a:t>
            </a:r>
            <a:r>
              <a:rPr lang="en-US" sz="1900" dirty="0"/>
              <a:t> </a:t>
            </a:r>
            <a:r>
              <a:rPr lang="en-US" sz="1900" dirty="0" err="1"/>
              <a:t>dần</a:t>
            </a:r>
            <a:r>
              <a:rPr lang="en-US" sz="1900" dirty="0"/>
              <a:t>. </a:t>
            </a:r>
            <a:r>
              <a:rPr lang="en-US" sz="1900" dirty="0" err="1"/>
              <a:t>Mỗi</a:t>
            </a:r>
            <a:r>
              <a:rPr lang="en-US" sz="1900" dirty="0"/>
              <a:t> ID </a:t>
            </a:r>
            <a:r>
              <a:rPr lang="en-US" sz="1900" dirty="0" err="1"/>
              <a:t>tương</a:t>
            </a:r>
            <a:r>
              <a:rPr lang="en-US" sz="1900" dirty="0"/>
              <a:t> </a:t>
            </a:r>
            <a:r>
              <a:rPr lang="en-US" sz="1900" dirty="0" err="1"/>
              <a:t>ứng</a:t>
            </a:r>
            <a:r>
              <a:rPr lang="en-US" sz="1900" dirty="0"/>
              <a:t> 1 </a:t>
            </a:r>
            <a:r>
              <a:rPr lang="vi-VN" sz="1900" dirty="0"/>
              <a:t>trường hợp kiểm thử</a:t>
            </a:r>
            <a:r>
              <a:rPr lang="en-US" sz="19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vi-VN" sz="1900" dirty="0"/>
              <a:t>Điều kiện tiền đề nếu có </a:t>
            </a:r>
            <a:r>
              <a:rPr lang="en-US" sz="1900" dirty="0"/>
              <a:t>(</a:t>
            </a:r>
            <a:r>
              <a:rPr lang="vi-VN" sz="1900" dirty="0"/>
              <a:t>Pre-condition</a:t>
            </a:r>
            <a:r>
              <a:rPr lang="en-US" sz="1900" dirty="0"/>
              <a:t>)</a:t>
            </a:r>
            <a:r>
              <a:rPr lang="vi-VN" sz="1900" dirty="0"/>
              <a:t>: </a:t>
            </a:r>
            <a:r>
              <a:rPr lang="en-US" sz="1900" dirty="0"/>
              <a:t>Là </a:t>
            </a:r>
            <a:r>
              <a:rPr lang="vi-VN" sz="1900" dirty="0"/>
              <a:t>môi trường</a:t>
            </a:r>
            <a:r>
              <a:rPr lang="en-US" sz="1900" dirty="0"/>
              <a:t>, </a:t>
            </a:r>
            <a:r>
              <a:rPr lang="en-US" sz="1900" dirty="0" err="1"/>
              <a:t>trạng</a:t>
            </a:r>
            <a:r>
              <a:rPr lang="en-US" sz="1900" dirty="0"/>
              <a:t> </a:t>
            </a:r>
            <a:r>
              <a:rPr lang="en-US" sz="1900" dirty="0" err="1"/>
              <a:t>thái</a:t>
            </a:r>
            <a:r>
              <a:rPr lang="en-US" sz="1900" dirty="0"/>
              <a:t>, data…</a:t>
            </a:r>
            <a:r>
              <a:rPr lang="vi-VN" sz="1900" dirty="0"/>
              <a:t> mà </a:t>
            </a:r>
            <a:r>
              <a:rPr lang="en-US" sz="1900" dirty="0"/>
              <a:t>tester </a:t>
            </a:r>
            <a:r>
              <a:rPr lang="vi-VN" sz="1900" dirty="0"/>
              <a:t>phải chuẩn bị sẵn thì mới có thể thực hiện </a:t>
            </a:r>
            <a:r>
              <a:rPr lang="en-US" sz="1900" dirty="0" err="1"/>
              <a:t>kiểm</a:t>
            </a:r>
            <a:r>
              <a:rPr lang="en-US" sz="1900" dirty="0"/>
              <a:t> </a:t>
            </a:r>
            <a:r>
              <a:rPr lang="en-US" sz="1900" dirty="0" err="1"/>
              <a:t>thử</a:t>
            </a:r>
            <a:r>
              <a:rPr lang="en-US" sz="1900" dirty="0"/>
              <a:t> </a:t>
            </a:r>
            <a:r>
              <a:rPr lang="en-US" sz="1900" dirty="0" err="1"/>
              <a:t>được</a:t>
            </a:r>
            <a:r>
              <a:rPr lang="en-US" sz="1900" dirty="0"/>
              <a:t>.</a:t>
            </a:r>
            <a:r>
              <a:rPr lang="vi-VN" sz="1900" dirty="0"/>
              <a:t>	</a:t>
            </a:r>
            <a:endParaRPr lang="en-US" sz="19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900" dirty="0" err="1"/>
              <a:t>Dữ</a:t>
            </a:r>
            <a:r>
              <a:rPr lang="en-US" sz="1900" dirty="0"/>
              <a:t> liệu </a:t>
            </a:r>
            <a:r>
              <a:rPr lang="en-US" sz="1900" dirty="0" err="1"/>
              <a:t>kiểm</a:t>
            </a:r>
            <a:r>
              <a:rPr lang="en-US" sz="1900" dirty="0"/>
              <a:t> </a:t>
            </a:r>
            <a:r>
              <a:rPr lang="en-US" sz="1900" dirty="0" err="1"/>
              <a:t>thử</a:t>
            </a:r>
            <a:r>
              <a:rPr lang="en-US" sz="1900" dirty="0"/>
              <a:t> (Data test)</a:t>
            </a:r>
            <a:r>
              <a:rPr lang="vi-VN" sz="1900" dirty="0"/>
              <a:t> :</a:t>
            </a:r>
            <a:r>
              <a:rPr lang="en-US" sz="1900" dirty="0"/>
              <a:t> Những </a:t>
            </a:r>
            <a:r>
              <a:rPr lang="en-US" sz="1900" dirty="0" err="1"/>
              <a:t>dữ</a:t>
            </a:r>
            <a:r>
              <a:rPr lang="en-US" sz="1900" dirty="0"/>
              <a:t> liệu cần chuẩn bị để test.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900" dirty="0"/>
              <a:t>Đầu </a:t>
            </a:r>
            <a:r>
              <a:rPr lang="en-US" sz="1900" dirty="0" err="1"/>
              <a:t>vào</a:t>
            </a:r>
            <a:r>
              <a:rPr lang="en-US" sz="1900" dirty="0"/>
              <a:t> (Input)</a:t>
            </a:r>
            <a:r>
              <a:rPr lang="vi-VN" sz="1900" dirty="0"/>
              <a:t>: Mô tả các bước thực hiện test</a:t>
            </a:r>
            <a:r>
              <a:rPr lang="en-US" sz="1900" dirty="0"/>
              <a:t>.</a:t>
            </a:r>
            <a:endParaRPr lang="vi-VN" sz="19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vi-VN" sz="1900" dirty="0"/>
              <a:t>Đưa ra một danh sách các bước thực hiện trong hệ thống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vi-VN" sz="1900" dirty="0"/>
              <a:t>Các bước thực hiện thường là hành động như: vào màn hình, nhập, click...</a:t>
            </a:r>
          </a:p>
        </p:txBody>
      </p:sp>
    </p:spTree>
    <p:extLst>
      <p:ext uri="{BB962C8B-B14F-4D97-AF65-F5344CB8AC3E}">
        <p14:creationId xmlns:p14="http://schemas.microsoft.com/office/powerpoint/2010/main" val="4103897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6934200" cy="685800"/>
          </a:xfrm>
        </p:spPr>
        <p:txBody>
          <a:bodyPr/>
          <a:lstStyle/>
          <a:p>
            <a:r>
              <a:rPr lang="en-US" dirty="0"/>
              <a:t>2.CẤU TRÚC TEST CASES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381000" y="838200"/>
            <a:ext cx="8763000" cy="6019800"/>
          </a:xfrm>
        </p:spPr>
        <p:txBody>
          <a:bodyPr>
            <a:no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1900" dirty="0" err="1"/>
              <a:t>Kết</a:t>
            </a:r>
            <a:r>
              <a:rPr lang="en-US" sz="1900" dirty="0"/>
              <a:t> </a:t>
            </a:r>
            <a:r>
              <a:rPr lang="en-US" sz="1900" dirty="0" err="1"/>
              <a:t>quả</a:t>
            </a:r>
            <a:r>
              <a:rPr lang="en-US" sz="1900" dirty="0"/>
              <a:t> </a:t>
            </a:r>
            <a:r>
              <a:rPr lang="en-US" sz="1900" dirty="0" err="1"/>
              <a:t>mong</a:t>
            </a:r>
            <a:r>
              <a:rPr lang="en-US" sz="1900" dirty="0"/>
              <a:t> muốn (</a:t>
            </a:r>
            <a:r>
              <a:rPr lang="vi-VN" sz="1900" dirty="0"/>
              <a:t>Expected results</a:t>
            </a:r>
            <a:r>
              <a:rPr lang="en-US" sz="1900" dirty="0"/>
              <a:t>)</a:t>
            </a:r>
            <a:r>
              <a:rPr lang="vi-VN" sz="1900" dirty="0"/>
              <a:t>: Kết quả mong đợi từ các bước thực hiện trên</a:t>
            </a:r>
            <a:r>
              <a:rPr lang="en-US" sz="1900" dirty="0"/>
              <a:t>.</a:t>
            </a:r>
            <a:endParaRPr lang="vi-VN" sz="1900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vi-VN" sz="1900" dirty="0"/>
              <a:t>Mỗi đầu vào vào sẽ có kết quả mong đợi tương ứng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vi-VN" sz="1900" dirty="0"/>
              <a:t>Kết quả mong muốn không chứa các trường hợp kiểm thử </a:t>
            </a:r>
          </a:p>
          <a:p>
            <a:pPr marL="877824" lvl="2" indent="0">
              <a:buNone/>
            </a:pPr>
            <a:r>
              <a:rPr lang="vi-VN" sz="1900" dirty="0"/>
              <a:t>VD: Kết quả mong muốn </a:t>
            </a:r>
            <a:r>
              <a:rPr lang="vi-VN" sz="1900" b="1" dirty="0"/>
              <a:t>không đúng </a:t>
            </a:r>
            <a:r>
              <a:rPr lang="vi-VN" sz="1900" dirty="0"/>
              <a:t>như sau</a:t>
            </a:r>
          </a:p>
          <a:p>
            <a:pPr marL="1714500" lvl="4" indent="-342900"/>
            <a:r>
              <a:rPr lang="vi-VN" sz="1900" dirty="0"/>
              <a:t>Hiển thị tên khách hàng đã nhập trên dialog. Trường hợp không nhập hiển thị dialog</a:t>
            </a:r>
          </a:p>
          <a:p>
            <a:pPr marL="1143000" lvl="3" indent="0">
              <a:buNone/>
            </a:pPr>
            <a:r>
              <a:rPr lang="vi-VN" sz="1900" b="1" dirty="0"/>
              <a:t>Sửa lại tách làm 2 case </a:t>
            </a:r>
            <a:r>
              <a:rPr lang="vi-VN" sz="1900" dirty="0"/>
              <a:t>với 2 kết quả mong muốn khách nhau</a:t>
            </a:r>
          </a:p>
          <a:p>
            <a:pPr marL="1714500" lvl="4" indent="-342900">
              <a:buFont typeface="Wingdings" panose="05000000000000000000" pitchFamily="2" charset="2"/>
              <a:buChar char="§"/>
            </a:pPr>
            <a:r>
              <a:rPr lang="vi-VN" sz="1900" dirty="0"/>
              <a:t>Case 1: Trường hợp nhập tên khách hàng =&gt; Hiển thị tên khách hàng đã nhập trên dialog</a:t>
            </a:r>
          </a:p>
          <a:p>
            <a:pPr marL="1714500" lvl="4" indent="-342900">
              <a:buFont typeface="Wingdings" panose="05000000000000000000" pitchFamily="2" charset="2"/>
              <a:buChar char="§"/>
            </a:pPr>
            <a:r>
              <a:rPr lang="vi-VN" sz="1900" dirty="0"/>
              <a:t>Case 2: Trường hơp không nhập tên khách hàng =&gt; không hiển thị dialog</a:t>
            </a:r>
          </a:p>
          <a:p>
            <a:pPr lvl="2">
              <a:buFont typeface="Symbol" panose="05050102010706020507" pitchFamily="18" charset="2"/>
              <a:buChar char="Þ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08924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6934200" cy="685800"/>
          </a:xfrm>
        </p:spPr>
        <p:txBody>
          <a:bodyPr/>
          <a:lstStyle/>
          <a:p>
            <a:r>
              <a:rPr lang="en-US" dirty="0"/>
              <a:t>2.CẤU TRÚC TEST CASES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381000" y="838200"/>
            <a:ext cx="8763000" cy="6019800"/>
          </a:xfrm>
        </p:spPr>
        <p:txBody>
          <a:bodyPr>
            <a:no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n-US" sz="1900" dirty="0" err="1"/>
              <a:t>Trạng</a:t>
            </a:r>
            <a:r>
              <a:rPr lang="en-US" sz="1900" dirty="0"/>
              <a:t> </a:t>
            </a:r>
            <a:r>
              <a:rPr lang="en-US" sz="1900" dirty="0" err="1"/>
              <a:t>thái</a:t>
            </a:r>
            <a:r>
              <a:rPr lang="en-US" sz="1900" dirty="0"/>
              <a:t> test (Status)</a:t>
            </a:r>
            <a:r>
              <a:rPr lang="vi-VN" sz="1900" dirty="0"/>
              <a:t>: </a:t>
            </a:r>
            <a:r>
              <a:rPr lang="en-US" sz="1900" dirty="0"/>
              <a:t>K</a:t>
            </a:r>
            <a:r>
              <a:rPr lang="vi-VN" sz="1900" dirty="0"/>
              <a:t>ết quả thực tế khi thực hiện test</a:t>
            </a:r>
            <a:r>
              <a:rPr lang="en-US" sz="1900" dirty="0"/>
              <a:t>. </a:t>
            </a:r>
            <a:r>
              <a:rPr lang="en-US" sz="1900" dirty="0" err="1"/>
              <a:t>Thường</a:t>
            </a:r>
            <a:r>
              <a:rPr lang="en-US" sz="1900" dirty="0"/>
              <a:t> </a:t>
            </a:r>
            <a:r>
              <a:rPr lang="en-US" sz="1900" dirty="0" err="1"/>
              <a:t>là</a:t>
            </a:r>
            <a:r>
              <a:rPr lang="en-US" sz="1900" dirty="0"/>
              <a:t> </a:t>
            </a:r>
            <a:r>
              <a:rPr lang="en-US" sz="1900" dirty="0" err="1"/>
              <a:t>giá</a:t>
            </a:r>
            <a:r>
              <a:rPr lang="en-US" sz="1900" dirty="0"/>
              <a:t> </a:t>
            </a:r>
            <a:r>
              <a:rPr lang="en-US" sz="1900" dirty="0" err="1"/>
              <a:t>trị</a:t>
            </a:r>
            <a:r>
              <a:rPr lang="vi-VN" sz="1900" dirty="0"/>
              <a:t> </a:t>
            </a:r>
            <a:r>
              <a:rPr lang="en-US" sz="1900" dirty="0"/>
              <a:t>OK</a:t>
            </a:r>
            <a:r>
              <a:rPr lang="vi-VN" sz="1900" dirty="0"/>
              <a:t>,</a:t>
            </a:r>
            <a:r>
              <a:rPr lang="en-US" sz="1900" dirty="0"/>
              <a:t>NG</a:t>
            </a:r>
            <a:r>
              <a:rPr lang="vi-VN" sz="1900" dirty="0"/>
              <a:t>, và pending</a:t>
            </a:r>
            <a:r>
              <a:rPr lang="en-US" sz="1900" dirty="0"/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900" dirty="0"/>
              <a:t>Notes/Comments: </a:t>
            </a:r>
            <a:r>
              <a:rPr lang="en-US" sz="1900" dirty="0" err="1"/>
              <a:t>Thông</a:t>
            </a:r>
            <a:r>
              <a:rPr lang="en-US" sz="1900" dirty="0"/>
              <a:t> tin </a:t>
            </a:r>
            <a:r>
              <a:rPr lang="en-US" sz="1900" dirty="0" err="1"/>
              <a:t>liên</a:t>
            </a:r>
            <a:r>
              <a:rPr lang="en-US" sz="1900" dirty="0"/>
              <a:t> </a:t>
            </a:r>
            <a:r>
              <a:rPr lang="en-US" sz="1900" dirty="0" err="1"/>
              <a:t>quan</a:t>
            </a:r>
            <a:r>
              <a:rPr lang="en-US" sz="1900" dirty="0"/>
              <a:t> </a:t>
            </a:r>
            <a:r>
              <a:rPr lang="en-US" sz="1900" dirty="0" err="1"/>
              <a:t>khi</a:t>
            </a:r>
            <a:r>
              <a:rPr lang="en-US" sz="1900" dirty="0"/>
              <a:t> </a:t>
            </a:r>
            <a:r>
              <a:rPr lang="en-US" sz="1900" dirty="0" err="1"/>
              <a:t>thực</a:t>
            </a:r>
            <a:r>
              <a:rPr lang="en-US" sz="1900" dirty="0"/>
              <a:t> </a:t>
            </a:r>
            <a:r>
              <a:rPr lang="en-US" sz="1900" dirty="0" err="1"/>
              <a:t>hiện</a:t>
            </a:r>
            <a:r>
              <a:rPr lang="en-US" sz="1900" dirty="0"/>
              <a:t> test.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vi-VN" sz="1900" dirty="0"/>
              <a:t>Ngoài ra, có thể thêm 1 số cột như: người thực hiện test</a:t>
            </a:r>
            <a:r>
              <a:rPr lang="en-US" sz="1900" dirty="0"/>
              <a:t> (</a:t>
            </a:r>
            <a:r>
              <a:rPr lang="vi-VN" sz="1900" dirty="0"/>
              <a:t>Tester</a:t>
            </a:r>
            <a:r>
              <a:rPr lang="en-US" sz="1900" dirty="0"/>
              <a:t>),</a:t>
            </a:r>
            <a:r>
              <a:rPr lang="vi-VN" sz="1900" dirty="0"/>
              <a:t> ngày thực hiện test</a:t>
            </a:r>
            <a:r>
              <a:rPr lang="en-US" sz="1900" dirty="0"/>
              <a:t> (</a:t>
            </a:r>
            <a:r>
              <a:rPr lang="vi-VN" sz="1900" dirty="0"/>
              <a:t>Execute Date </a:t>
            </a:r>
            <a:r>
              <a:rPr lang="en-US" sz="1900" dirty="0"/>
              <a:t>)</a:t>
            </a:r>
            <a:r>
              <a:rPr lang="vi-VN" sz="1900" dirty="0"/>
              <a:t>,</a:t>
            </a:r>
            <a:r>
              <a:rPr lang="en-US" sz="1900" dirty="0"/>
              <a:t> </a:t>
            </a:r>
            <a:r>
              <a:rPr lang="en-US" sz="1900" dirty="0" err="1"/>
              <a:t>Phân</a:t>
            </a:r>
            <a:r>
              <a:rPr lang="en-US" sz="1900" dirty="0"/>
              <a:t> </a:t>
            </a:r>
            <a:r>
              <a:rPr lang="en-US" sz="1900" dirty="0" err="1"/>
              <a:t>loại</a:t>
            </a:r>
            <a:r>
              <a:rPr lang="en-US" sz="1900" dirty="0"/>
              <a:t> </a:t>
            </a:r>
            <a:r>
              <a:rPr lang="vi-VN" sz="1900" dirty="0"/>
              <a:t>…</a:t>
            </a:r>
          </a:p>
          <a:p>
            <a:pPr marL="505206" indent="-342900">
              <a:buFont typeface="Wingdings" panose="05000000000000000000" pitchFamily="2" charset="2"/>
              <a:buChar char="v"/>
            </a:pPr>
            <a:r>
              <a:rPr lang="vi-VN" dirty="0"/>
              <a:t>VD:</a:t>
            </a:r>
            <a:r>
              <a:rPr lang="en-US" dirty="0"/>
              <a:t> </a:t>
            </a:r>
            <a:r>
              <a:rPr lang="vi-VN" dirty="0"/>
              <a:t>T</a:t>
            </a:r>
            <a:r>
              <a:rPr lang="en-US" dirty="0" err="1"/>
              <a:t>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test case search </a:t>
            </a:r>
            <a:r>
              <a:rPr lang="en-US" dirty="0" err="1"/>
              <a:t>trong</a:t>
            </a:r>
            <a:r>
              <a:rPr lang="en-US" dirty="0"/>
              <a:t> form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lang="en-US" dirty="0"/>
          </a:p>
          <a:p>
            <a:pPr marL="717804" lvl="1">
              <a:buFont typeface="Wingdings" panose="05000000000000000000" pitchFamily="2" charset="2"/>
              <a:buChar char="Ø"/>
            </a:pPr>
            <a:r>
              <a:rPr lang="vi-VN" sz="1900" dirty="0"/>
              <a:t>Điều kiện tiền đề:</a:t>
            </a:r>
          </a:p>
          <a:p>
            <a:pPr marL="1115568" lvl="2" indent="-342900">
              <a:buFont typeface="Wingdings" panose="05000000000000000000" pitchFamily="2" charset="2"/>
              <a:buChar char="§"/>
            </a:pPr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</a:t>
            </a:r>
            <a:r>
              <a:rPr lang="en-US" sz="2000" dirty="0" err="1"/>
              <a:t>tên</a:t>
            </a:r>
            <a:r>
              <a:rPr lang="en-US" sz="2000" dirty="0"/>
              <a:t> "</a:t>
            </a:r>
            <a:r>
              <a:rPr lang="en-US" sz="2000" dirty="0" err="1"/>
              <a:t>Tvn</a:t>
            </a:r>
            <a:r>
              <a:rPr lang="en-US" sz="2000" dirty="0"/>
              <a:t>"</a:t>
            </a:r>
            <a:endParaRPr lang="vi-VN" sz="1900" dirty="0"/>
          </a:p>
          <a:p>
            <a:pPr marL="717804" lvl="1">
              <a:buFont typeface="Wingdings" panose="05000000000000000000" pitchFamily="2" charset="2"/>
              <a:buChar char="Ø"/>
            </a:pPr>
            <a:r>
              <a:rPr lang="vi-VN" sz="1900" dirty="0"/>
              <a:t>Đầu vào</a:t>
            </a:r>
          </a:p>
          <a:p>
            <a:pPr marL="1229868" lvl="2" indent="-457200">
              <a:buAutoNum type="arabicPeriod"/>
            </a:pPr>
            <a:r>
              <a:rPr lang="en-US" sz="2000" dirty="0" err="1"/>
              <a:t>Nhập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textbox </a:t>
            </a:r>
            <a:r>
              <a:rPr lang="en-US" sz="2000" b="1" dirty="0" err="1"/>
              <a:t>Tên</a:t>
            </a:r>
            <a:r>
              <a:rPr lang="en-US" sz="2000" b="1" dirty="0"/>
              <a:t> </a:t>
            </a:r>
            <a:r>
              <a:rPr lang="en-US" sz="2000" b="1" dirty="0" err="1"/>
              <a:t>Nhân</a:t>
            </a:r>
            <a:r>
              <a:rPr lang="en-US" sz="2000" b="1" dirty="0"/>
              <a:t> </a:t>
            </a:r>
            <a:r>
              <a:rPr lang="en-US" sz="2000" b="1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giá</a:t>
            </a:r>
            <a:r>
              <a:rPr lang="en-US" sz="2000" dirty="0"/>
              <a:t> </a:t>
            </a:r>
            <a:r>
              <a:rPr lang="en-US" sz="2000" dirty="0" err="1"/>
              <a:t>trị</a:t>
            </a:r>
            <a:r>
              <a:rPr lang="en-US" sz="2000" dirty="0"/>
              <a:t> "</a:t>
            </a:r>
            <a:r>
              <a:rPr lang="en-US" sz="2000" dirty="0" err="1"/>
              <a:t>Tvn</a:t>
            </a:r>
            <a:r>
              <a:rPr lang="en-US" sz="2000" dirty="0"/>
              <a:t>“</a:t>
            </a:r>
            <a:endParaRPr lang="vi-VN" sz="2000" dirty="0"/>
          </a:p>
          <a:p>
            <a:pPr marL="1229868" lvl="2" indent="-457200">
              <a:buAutoNum type="arabicPeriod"/>
            </a:pPr>
            <a:r>
              <a:rPr lang="en-US" sz="2000" dirty="0"/>
              <a:t>Click </a:t>
            </a:r>
            <a:r>
              <a:rPr lang="en-US" sz="2000" dirty="0" err="1"/>
              <a:t>nút</a:t>
            </a:r>
            <a:r>
              <a:rPr lang="en-US" sz="2000" dirty="0"/>
              <a:t> </a:t>
            </a:r>
            <a:r>
              <a:rPr lang="en-US" sz="2000" b="1" dirty="0" err="1"/>
              <a:t>Tìm</a:t>
            </a:r>
            <a:r>
              <a:rPr lang="en-US" sz="2000" b="1" dirty="0"/>
              <a:t> </a:t>
            </a:r>
            <a:r>
              <a:rPr lang="en-US" sz="2000" b="1" dirty="0" err="1"/>
              <a:t>kiếm</a:t>
            </a:r>
            <a:endParaRPr lang="vi-VN" sz="1900" dirty="0"/>
          </a:p>
          <a:p>
            <a:pPr marL="717804" lvl="1">
              <a:buFont typeface="Wingdings" panose="05000000000000000000" pitchFamily="2" charset="2"/>
              <a:buChar char="Ø"/>
            </a:pPr>
            <a:r>
              <a:rPr lang="vi-VN" sz="1900" dirty="0"/>
              <a:t>Kết quả mong muốn</a:t>
            </a:r>
          </a:p>
          <a:p>
            <a:pPr marL="1172718" lvl="2" indent="-457200">
              <a:buFont typeface="+mj-lt"/>
              <a:buAutoNum type="arabicPeriod"/>
            </a:pPr>
            <a:r>
              <a:rPr lang="en-US" sz="2000" dirty="0" err="1"/>
              <a:t>Hiển</a:t>
            </a:r>
            <a:r>
              <a:rPr lang="en-US" sz="2000" dirty="0"/>
              <a:t> </a:t>
            </a:r>
            <a:r>
              <a:rPr lang="en-US" sz="2000" dirty="0" err="1"/>
              <a:t>thị</a:t>
            </a:r>
            <a:r>
              <a:rPr lang="en-US" sz="2000" dirty="0"/>
              <a:t> </a:t>
            </a:r>
            <a:r>
              <a:rPr lang="en-US" sz="2000" dirty="0" err="1"/>
              <a:t>thông</a:t>
            </a:r>
            <a:r>
              <a:rPr lang="en-US" sz="2000" dirty="0"/>
              <a:t> tin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"</a:t>
            </a:r>
            <a:r>
              <a:rPr lang="en-US" sz="2000" dirty="0" err="1"/>
              <a:t>Tvn</a:t>
            </a:r>
            <a:r>
              <a:rPr lang="en-US" sz="2000" dirty="0"/>
              <a:t>"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566603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7467600" cy="799306"/>
          </a:xfrm>
        </p:spPr>
        <p:txBody>
          <a:bodyPr/>
          <a:lstStyle/>
          <a:p>
            <a:r>
              <a:rPr lang="en-US" dirty="0"/>
              <a:t>3.TEST CASES</a:t>
            </a:r>
            <a:r>
              <a:rPr lang="vi-VN" dirty="0"/>
              <a:t> LUVINA</a:t>
            </a:r>
            <a:endParaRPr lang="en-US" dirty="0"/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76200" y="1219200"/>
            <a:ext cx="9067800" cy="5638800"/>
          </a:xfrm>
        </p:spPr>
        <p:txBody>
          <a:bodyPr>
            <a:normAutofit/>
          </a:bodyPr>
          <a:lstStyle/>
          <a:p>
            <a:pPr marL="717804" lvl="1" indent="-342900">
              <a:buFont typeface="Wingdings" panose="05000000000000000000" pitchFamily="2" charset="2"/>
              <a:buChar char="v"/>
            </a:pPr>
            <a:r>
              <a:rPr lang="en-US" sz="2200" dirty="0" err="1">
                <a:solidFill>
                  <a:schemeClr val="bg1"/>
                </a:solidFill>
              </a:rPr>
              <a:t>Cấu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trúc</a:t>
            </a:r>
            <a:r>
              <a:rPr lang="en-US" sz="2200" dirty="0">
                <a:solidFill>
                  <a:schemeClr val="bg1"/>
                </a:solidFill>
              </a:rPr>
              <a:t> của test cases Luvina so với </a:t>
            </a:r>
            <a:r>
              <a:rPr lang="en-US" sz="2200" dirty="0" err="1">
                <a:solidFill>
                  <a:schemeClr val="bg1"/>
                </a:solidFill>
              </a:rPr>
              <a:t>cấu</a:t>
            </a:r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dirty="0" err="1">
                <a:solidFill>
                  <a:schemeClr val="bg1"/>
                </a:solidFill>
              </a:rPr>
              <a:t>trúc</a:t>
            </a:r>
            <a:r>
              <a:rPr lang="en-US" sz="2200" dirty="0">
                <a:solidFill>
                  <a:schemeClr val="bg1"/>
                </a:solidFill>
              </a:rPr>
              <a:t> testcase </a:t>
            </a:r>
            <a:r>
              <a:rPr lang="en-US" sz="2200" dirty="0" err="1">
                <a:solidFill>
                  <a:schemeClr val="bg1"/>
                </a:solidFill>
              </a:rPr>
              <a:t>thường</a:t>
            </a:r>
            <a:r>
              <a:rPr lang="en-US" sz="2200" dirty="0">
                <a:solidFill>
                  <a:schemeClr val="bg1"/>
                </a:solidFill>
              </a:rPr>
              <a:t> có</a:t>
            </a:r>
          </a:p>
          <a:p>
            <a:pPr marL="1001268" lvl="2" indent="-342900">
              <a:buFont typeface="Wingdings" panose="05000000000000000000" pitchFamily="2" charset="2"/>
              <a:buChar char="§"/>
            </a:pPr>
            <a:r>
              <a:rPr lang="en-US" sz="2200" dirty="0" err="1"/>
              <a:t>Không</a:t>
            </a:r>
            <a:r>
              <a:rPr lang="en-US" sz="2200" dirty="0"/>
              <a:t> có </a:t>
            </a:r>
            <a:r>
              <a:rPr lang="en-US" sz="2200" dirty="0" err="1"/>
              <a:t>cột</a:t>
            </a:r>
            <a:r>
              <a:rPr lang="en-US" sz="2200" dirty="0"/>
              <a:t> </a:t>
            </a:r>
            <a:r>
              <a:rPr lang="ja-JP" altLang="en-US" sz="2200" dirty="0"/>
              <a:t>「</a:t>
            </a:r>
            <a:r>
              <a:rPr lang="en-US" sz="2200" dirty="0" err="1"/>
              <a:t>Điều</a:t>
            </a:r>
            <a:r>
              <a:rPr lang="en-US" sz="2200" dirty="0"/>
              <a:t> </a:t>
            </a:r>
            <a:r>
              <a:rPr lang="en-US" sz="2200" dirty="0" err="1"/>
              <a:t>kiện</a:t>
            </a:r>
            <a:r>
              <a:rPr lang="en-US" sz="2200" dirty="0"/>
              <a:t> tiền </a:t>
            </a:r>
            <a:r>
              <a:rPr lang="en-US" sz="2200" dirty="0" err="1"/>
              <a:t>đề</a:t>
            </a:r>
            <a:r>
              <a:rPr lang="ja-JP" altLang="en-US" sz="2200" dirty="0"/>
              <a:t>」</a:t>
            </a:r>
            <a:r>
              <a:rPr lang="en-US" sz="2200" dirty="0"/>
              <a:t> </a:t>
            </a:r>
            <a:r>
              <a:rPr lang="ja-JP" altLang="en-US" sz="2200" dirty="0"/>
              <a:t>➡</a:t>
            </a:r>
            <a:r>
              <a:rPr lang="en-US" sz="2200" dirty="0"/>
              <a:t> Trường </a:t>
            </a:r>
            <a:r>
              <a:rPr lang="en-US" sz="2200" dirty="0" err="1"/>
              <a:t>hợp</a:t>
            </a:r>
            <a:r>
              <a:rPr lang="en-US" sz="2200" dirty="0"/>
              <a:t> nếu case test có </a:t>
            </a:r>
            <a:r>
              <a:rPr lang="en-US" sz="2200" dirty="0" err="1"/>
              <a:t>điều</a:t>
            </a:r>
            <a:r>
              <a:rPr lang="en-US" sz="2200" dirty="0"/>
              <a:t> </a:t>
            </a:r>
            <a:r>
              <a:rPr lang="en-US" sz="2200" dirty="0" err="1"/>
              <a:t>kiện</a:t>
            </a:r>
            <a:r>
              <a:rPr lang="en-US" sz="2200" dirty="0"/>
              <a:t> tiền </a:t>
            </a:r>
            <a:r>
              <a:rPr lang="en-US" sz="2200" dirty="0" err="1"/>
              <a:t>đề</a:t>
            </a:r>
            <a:r>
              <a:rPr lang="en-US" sz="2200" dirty="0"/>
              <a:t> thì </a:t>
            </a:r>
            <a:r>
              <a:rPr lang="en-US" sz="2200" dirty="0" err="1"/>
              <a:t>đưa</a:t>
            </a:r>
            <a:r>
              <a:rPr lang="en-US" sz="2200" dirty="0"/>
              <a:t> </a:t>
            </a:r>
            <a:r>
              <a:rPr lang="en-US" sz="2200" dirty="0" err="1"/>
              <a:t>vào</a:t>
            </a:r>
            <a:r>
              <a:rPr lang="en-US" sz="2200" dirty="0"/>
              <a:t> </a:t>
            </a:r>
            <a:r>
              <a:rPr lang="en-US" sz="2200" dirty="0" err="1"/>
              <a:t>vào</a:t>
            </a:r>
            <a:r>
              <a:rPr lang="en-US" sz="2200" dirty="0"/>
              <a:t> </a:t>
            </a:r>
            <a:r>
              <a:rPr lang="en-US" sz="2200" dirty="0" err="1"/>
              <a:t>cột</a:t>
            </a:r>
            <a:r>
              <a:rPr lang="en-US" sz="2200" dirty="0"/>
              <a:t> </a:t>
            </a:r>
            <a:r>
              <a:rPr lang="ja-JP" altLang="en-US" sz="2200" dirty="0"/>
              <a:t>「</a:t>
            </a:r>
            <a:r>
              <a:rPr lang="en-US" sz="2200" dirty="0"/>
              <a:t>Đầu </a:t>
            </a:r>
            <a:r>
              <a:rPr lang="en-US" sz="2200" dirty="0" err="1"/>
              <a:t>vào</a:t>
            </a:r>
            <a:r>
              <a:rPr lang="ja-JP" altLang="en-US" sz="2200" dirty="0"/>
              <a:t>」</a:t>
            </a:r>
            <a:endParaRPr lang="en-US" sz="2200" dirty="0"/>
          </a:p>
          <a:p>
            <a:pPr marL="1001268" lvl="2" indent="-342900">
              <a:buFont typeface="Wingdings" panose="05000000000000000000" pitchFamily="2" charset="2"/>
              <a:buChar char="§"/>
            </a:pPr>
            <a:r>
              <a:rPr lang="en-US" sz="2200" dirty="0" err="1"/>
              <a:t>Thêm</a:t>
            </a:r>
            <a:r>
              <a:rPr lang="en-US" sz="2200" dirty="0"/>
              <a:t> </a:t>
            </a:r>
            <a:r>
              <a:rPr lang="en-US" sz="2200" dirty="0" err="1"/>
              <a:t>các</a:t>
            </a:r>
            <a:r>
              <a:rPr lang="en-US" sz="2200" dirty="0"/>
              <a:t> </a:t>
            </a:r>
            <a:r>
              <a:rPr lang="en-US" sz="2200" dirty="0" err="1"/>
              <a:t>cột</a:t>
            </a:r>
            <a:r>
              <a:rPr lang="en-US" sz="2200" dirty="0"/>
              <a:t> </a:t>
            </a:r>
          </a:p>
          <a:p>
            <a:pPr marL="1266444" lvl="3" indent="-342900">
              <a:buFont typeface="Wingdings" panose="05000000000000000000" pitchFamily="2" charset="2"/>
              <a:buChar char="ü"/>
            </a:pPr>
            <a:r>
              <a:rPr lang="en-US" sz="2200" dirty="0"/>
              <a:t>Category (L</a:t>
            </a:r>
            <a:r>
              <a:rPr lang="vi-VN" sz="2200" dirty="0"/>
              <a:t>ớ</a:t>
            </a:r>
            <a:r>
              <a:rPr lang="en-US" sz="2200" dirty="0"/>
              <a:t>n, Trung </a:t>
            </a:r>
            <a:r>
              <a:rPr lang="en-US" sz="2200" dirty="0" err="1"/>
              <a:t>bình</a:t>
            </a:r>
            <a:r>
              <a:rPr lang="vi-VN" sz="2200" dirty="0"/>
              <a:t>,</a:t>
            </a:r>
            <a:r>
              <a:rPr lang="en-US" sz="2200" dirty="0"/>
              <a:t> </a:t>
            </a:r>
            <a:r>
              <a:rPr lang="vi-VN" sz="2200" dirty="0" err="1"/>
              <a:t>N</a:t>
            </a:r>
            <a:r>
              <a:rPr lang="en-US" sz="2200" dirty="0" err="1"/>
              <a:t>hỏ</a:t>
            </a:r>
            <a:r>
              <a:rPr lang="en-US" sz="2200" dirty="0"/>
              <a:t>)</a:t>
            </a:r>
          </a:p>
          <a:p>
            <a:pPr marL="1266444" lvl="3" indent="-342900">
              <a:buFont typeface="Wingdings" panose="05000000000000000000" pitchFamily="2" charset="2"/>
              <a:buChar char="ü"/>
            </a:pPr>
            <a:r>
              <a:rPr lang="en-US" sz="2200" dirty="0" err="1"/>
              <a:t>Mã</a:t>
            </a:r>
            <a:r>
              <a:rPr lang="en-US" sz="2200" dirty="0"/>
              <a:t> MH</a:t>
            </a:r>
          </a:p>
          <a:p>
            <a:pPr marL="1266444" lvl="3" indent="-342900">
              <a:buFont typeface="Wingdings" panose="05000000000000000000" pitchFamily="2" charset="2"/>
              <a:buChar char="ü"/>
            </a:pPr>
            <a:r>
              <a:rPr lang="en-US" sz="2200" dirty="0" err="1"/>
              <a:t>Tên</a:t>
            </a:r>
            <a:r>
              <a:rPr lang="en-US" sz="2200" dirty="0"/>
              <a:t> MH</a:t>
            </a:r>
          </a:p>
          <a:p>
            <a:pPr marL="1266444" lvl="3" indent="-342900">
              <a:buFont typeface="Wingdings" panose="05000000000000000000" pitchFamily="2" charset="2"/>
              <a:buChar char="ü"/>
            </a:pPr>
            <a:r>
              <a:rPr lang="en-US" sz="2200" dirty="0" err="1"/>
              <a:t>Kết</a:t>
            </a:r>
            <a:r>
              <a:rPr lang="en-US" sz="2200" dirty="0"/>
              <a:t> </a:t>
            </a:r>
            <a:r>
              <a:rPr lang="en-US" sz="2200" dirty="0" err="1"/>
              <a:t>quả</a:t>
            </a:r>
            <a:r>
              <a:rPr lang="en-US" sz="2200" dirty="0"/>
              <a:t> </a:t>
            </a:r>
            <a:r>
              <a:rPr lang="en-US" sz="2200" dirty="0" err="1"/>
              <a:t>thực</a:t>
            </a:r>
            <a:r>
              <a:rPr lang="en-US" sz="2200" dirty="0"/>
              <a:t> </a:t>
            </a:r>
            <a:r>
              <a:rPr lang="en-US" sz="2200" dirty="0" err="1"/>
              <a:t>tế</a:t>
            </a:r>
            <a:endParaRPr lang="en-US" sz="2200" dirty="0"/>
          </a:p>
          <a:p>
            <a:pPr marL="1266444" lvl="3" indent="-342900">
              <a:buFont typeface="Wingdings" panose="05000000000000000000" pitchFamily="2" charset="2"/>
              <a:buChar char="ü"/>
            </a:pPr>
            <a:r>
              <a:rPr lang="en-US" sz="2200" dirty="0" err="1"/>
              <a:t>Bằng</a:t>
            </a:r>
            <a:r>
              <a:rPr lang="en-US" sz="2200" dirty="0"/>
              <a:t> </a:t>
            </a:r>
            <a:r>
              <a:rPr lang="en-US" sz="2200" dirty="0" err="1"/>
              <a:t>chứng</a:t>
            </a:r>
            <a:r>
              <a:rPr lang="en-US" sz="2200" dirty="0"/>
              <a:t> test</a:t>
            </a:r>
          </a:p>
          <a:p>
            <a:pPr marL="717804" lvl="1" indent="-342900">
              <a:buFont typeface="Wingdings" panose="05000000000000000000" pitchFamily="2" charset="2"/>
              <a:buChar char="v"/>
            </a:pPr>
            <a:endParaRPr lang="vi-VN" sz="2200" dirty="0"/>
          </a:p>
        </p:txBody>
      </p:sp>
    </p:spTree>
    <p:extLst>
      <p:ext uri="{BB962C8B-B14F-4D97-AF65-F5344CB8AC3E}">
        <p14:creationId xmlns:p14="http://schemas.microsoft.com/office/powerpoint/2010/main" val="3296595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843" y="158343"/>
            <a:ext cx="7467600" cy="799306"/>
          </a:xfrm>
        </p:spPr>
        <p:txBody>
          <a:bodyPr/>
          <a:lstStyle/>
          <a:p>
            <a:r>
              <a:rPr lang="en-US" dirty="0"/>
              <a:t>4. </a:t>
            </a:r>
            <a:r>
              <a:rPr lang="vi-VN" dirty="0"/>
              <a:t>Các bước </a:t>
            </a:r>
            <a:r>
              <a:rPr lang="en-US" dirty="0" err="1"/>
              <a:t>viết</a:t>
            </a:r>
            <a:r>
              <a:rPr lang="en-US" dirty="0"/>
              <a:t> Test cases</a:t>
            </a:r>
            <a:endParaRPr lang="vi-VN" dirty="0"/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6019800"/>
          </a:xfrm>
        </p:spPr>
        <p:txBody>
          <a:bodyPr>
            <a:normAutofit/>
          </a:bodyPr>
          <a:lstStyle/>
          <a:p>
            <a:pPr marL="619506" indent="-457200">
              <a:buFont typeface="+mj-lt"/>
              <a:buAutoNum type="arabicPeriod"/>
            </a:pPr>
            <a:r>
              <a:rPr lang="en-US" b="1" dirty="0"/>
              <a:t>Input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err="1"/>
              <a:t>Dàn</a:t>
            </a:r>
            <a:r>
              <a:rPr lang="en-US" dirty="0"/>
              <a:t> ý test cases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QA </a:t>
            </a:r>
            <a:r>
              <a:rPr lang="en-US" dirty="0" err="1">
                <a:solidFill>
                  <a:schemeClr val="bg1"/>
                </a:solidFill>
              </a:rPr>
              <a:t>phát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sinh</a:t>
            </a:r>
            <a:r>
              <a:rPr lang="en-US" dirty="0">
                <a:solidFill>
                  <a:schemeClr val="bg1"/>
                </a:solidFill>
              </a:rPr>
              <a:t> trong quá </a:t>
            </a:r>
            <a:r>
              <a:rPr lang="en-US" dirty="0" err="1">
                <a:solidFill>
                  <a:schemeClr val="bg1"/>
                </a:solidFill>
              </a:rPr>
              <a:t>trình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viết</a:t>
            </a:r>
            <a:r>
              <a:rPr lang="en-US" dirty="0">
                <a:solidFill>
                  <a:schemeClr val="bg1"/>
                </a:solidFill>
              </a:rPr>
              <a:t> Test case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Checklist TC</a:t>
            </a:r>
          </a:p>
          <a:p>
            <a:pPr marL="619506" indent="-457200">
              <a:buFont typeface="+mj-lt"/>
              <a:buAutoNum type="arabicPeriod"/>
            </a:pPr>
            <a:r>
              <a:rPr lang="en-US" b="1" dirty="0"/>
              <a:t>Output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Test cases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thiện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Checklist TC đã được </a:t>
            </a:r>
            <a:r>
              <a:rPr lang="en-US" dirty="0" err="1"/>
              <a:t>điền</a:t>
            </a:r>
            <a:r>
              <a:rPr lang="en-US" dirty="0"/>
              <a:t> KQ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vi-VN" altLang="ja-JP" dirty="0"/>
              <a:t>File REQ đã được bôi màu</a:t>
            </a:r>
            <a:endParaRPr lang="en-US" dirty="0"/>
          </a:p>
          <a:p>
            <a:pPr marL="537210" lvl="1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387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7467600" cy="799306"/>
          </a:xfrm>
        </p:spPr>
        <p:txBody>
          <a:bodyPr/>
          <a:lstStyle/>
          <a:p>
            <a:r>
              <a:rPr lang="en-US" dirty="0"/>
              <a:t>4. </a:t>
            </a:r>
            <a:r>
              <a:rPr lang="vi-VN" dirty="0"/>
              <a:t>Các bước </a:t>
            </a:r>
            <a:r>
              <a:rPr lang="en-US" dirty="0" err="1"/>
              <a:t>viết</a:t>
            </a:r>
            <a:r>
              <a:rPr lang="en-US" dirty="0"/>
              <a:t> Test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610600" cy="5181600"/>
          </a:xfrm>
        </p:spPr>
        <p:txBody>
          <a:bodyPr/>
          <a:lstStyle/>
          <a:p>
            <a:pPr marL="162306" indent="0">
              <a:buNone/>
            </a:pPr>
            <a:r>
              <a:rPr lang="en-US" b="1" dirty="0">
                <a:solidFill>
                  <a:srgbClr val="0000FF"/>
                </a:solidFill>
              </a:rPr>
              <a:t>3. Các </a:t>
            </a:r>
            <a:r>
              <a:rPr lang="en-US" b="1" dirty="0" err="1">
                <a:solidFill>
                  <a:srgbClr val="0000FF"/>
                </a:solidFill>
              </a:rPr>
              <a:t>bước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thực</a:t>
            </a:r>
            <a:r>
              <a:rPr lang="en-US" b="1" dirty="0">
                <a:solidFill>
                  <a:srgbClr val="0000FF"/>
                </a:solidFill>
              </a:rPr>
              <a:t> hiện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FF"/>
                </a:solidFill>
              </a:rPr>
              <a:t>Từ </a:t>
            </a:r>
            <a:r>
              <a:rPr lang="en-US" dirty="0" err="1">
                <a:solidFill>
                  <a:srgbClr val="0000FF"/>
                </a:solidFill>
              </a:rPr>
              <a:t>dàn</a:t>
            </a:r>
            <a:r>
              <a:rPr lang="en-US" dirty="0">
                <a:solidFill>
                  <a:srgbClr val="0000FF"/>
                </a:solidFill>
              </a:rPr>
              <a:t> ý test </a:t>
            </a:r>
            <a:r>
              <a:rPr lang="en-US" dirty="0" err="1">
                <a:solidFill>
                  <a:srgbClr val="0000FF"/>
                </a:solidFill>
              </a:rPr>
              <a:t>thực</a:t>
            </a:r>
            <a:r>
              <a:rPr lang="en-US" dirty="0">
                <a:solidFill>
                  <a:srgbClr val="0000FF"/>
                </a:solidFill>
              </a:rPr>
              <a:t> hiện </a:t>
            </a:r>
            <a:r>
              <a:rPr lang="en-US" dirty="0" err="1">
                <a:solidFill>
                  <a:srgbClr val="0000FF"/>
                </a:solidFill>
              </a:rPr>
              <a:t>triển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khai</a:t>
            </a:r>
            <a:r>
              <a:rPr lang="en-US" dirty="0">
                <a:solidFill>
                  <a:srgbClr val="0000FF"/>
                </a:solidFill>
              </a:rPr>
              <a:t> testcase: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000FF"/>
                </a:solidFill>
              </a:rPr>
              <a:t>Mỗi</a:t>
            </a:r>
            <a:r>
              <a:rPr lang="en-US" dirty="0">
                <a:solidFill>
                  <a:srgbClr val="0000FF"/>
                </a:solidFill>
              </a:rPr>
              <a:t> ý trong </a:t>
            </a:r>
            <a:r>
              <a:rPr lang="en-US" dirty="0" err="1">
                <a:solidFill>
                  <a:srgbClr val="0000FF"/>
                </a:solidFill>
              </a:rPr>
              <a:t>dàn</a:t>
            </a:r>
            <a:r>
              <a:rPr lang="en-US" dirty="0">
                <a:solidFill>
                  <a:srgbClr val="0000FF"/>
                </a:solidFill>
              </a:rPr>
              <a:t> ý tối </a:t>
            </a:r>
            <a:r>
              <a:rPr lang="en-US" dirty="0" err="1">
                <a:solidFill>
                  <a:srgbClr val="0000FF"/>
                </a:solidFill>
              </a:rPr>
              <a:t>thiểu</a:t>
            </a:r>
            <a:r>
              <a:rPr lang="en-US" dirty="0">
                <a:solidFill>
                  <a:srgbClr val="0000FF"/>
                </a:solidFill>
              </a:rPr>
              <a:t> là 1 case test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000FF"/>
                </a:solidFill>
              </a:rPr>
              <a:t>Bố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cục</a:t>
            </a:r>
            <a:r>
              <a:rPr lang="en-US" dirty="0">
                <a:solidFill>
                  <a:srgbClr val="0000FF"/>
                </a:solidFill>
              </a:rPr>
              <a:t> của TC cần </a:t>
            </a:r>
            <a:r>
              <a:rPr lang="en-US" dirty="0" err="1">
                <a:solidFill>
                  <a:srgbClr val="0000FF"/>
                </a:solidFill>
              </a:rPr>
              <a:t>tuân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theo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bố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cục</a:t>
            </a:r>
            <a:r>
              <a:rPr lang="en-US" dirty="0">
                <a:solidFill>
                  <a:srgbClr val="0000FF"/>
                </a:solidFill>
              </a:rPr>
              <a:t> của </a:t>
            </a:r>
            <a:r>
              <a:rPr lang="en-US" dirty="0" err="1">
                <a:solidFill>
                  <a:srgbClr val="0000FF"/>
                </a:solidFill>
              </a:rPr>
              <a:t>dàn</a:t>
            </a:r>
            <a:r>
              <a:rPr lang="en-US" dirty="0">
                <a:solidFill>
                  <a:srgbClr val="0000FF"/>
                </a:solidFill>
              </a:rPr>
              <a:t> ý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000FF"/>
                </a:solidFill>
              </a:rPr>
              <a:t>Mô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tả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rõ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ràng</a:t>
            </a:r>
            <a:r>
              <a:rPr lang="en-US" dirty="0">
                <a:solidFill>
                  <a:srgbClr val="0000FF"/>
                </a:solidFill>
              </a:rPr>
              <a:t>: Thao </a:t>
            </a:r>
            <a:r>
              <a:rPr lang="en-US" dirty="0" err="1">
                <a:solidFill>
                  <a:srgbClr val="0000FF"/>
                </a:solidFill>
              </a:rPr>
              <a:t>tác</a:t>
            </a:r>
            <a:r>
              <a:rPr lang="en-US" dirty="0">
                <a:solidFill>
                  <a:srgbClr val="0000FF"/>
                </a:solidFill>
              </a:rPr>
              <a:t> test, </a:t>
            </a:r>
            <a:r>
              <a:rPr lang="en-US" dirty="0" err="1">
                <a:solidFill>
                  <a:srgbClr val="0000FF"/>
                </a:solidFill>
              </a:rPr>
              <a:t>kết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quả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mong</a:t>
            </a:r>
            <a:r>
              <a:rPr lang="en-US" dirty="0">
                <a:solidFill>
                  <a:srgbClr val="0000FF"/>
                </a:solidFill>
              </a:rPr>
              <a:t> muốn, data test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0000FF"/>
                </a:solidFill>
              </a:rPr>
              <a:t>Tạo</a:t>
            </a:r>
            <a:r>
              <a:rPr lang="en-US" dirty="0">
                <a:solidFill>
                  <a:srgbClr val="0000FF"/>
                </a:solidFill>
              </a:rPr>
              <a:t> Script SQL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00FF"/>
                </a:solidFill>
              </a:rPr>
              <a:t>Check lại Test cases </a:t>
            </a:r>
            <a:r>
              <a:rPr lang="en-US" dirty="0" err="1">
                <a:solidFill>
                  <a:srgbClr val="0000FF"/>
                </a:solidFill>
              </a:rPr>
              <a:t>theo</a:t>
            </a:r>
            <a:r>
              <a:rPr lang="en-US" dirty="0">
                <a:solidFill>
                  <a:srgbClr val="0000FF"/>
                </a:solidFill>
              </a:rPr>
              <a:t> [checklist TC]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 err="1">
                <a:solidFill>
                  <a:srgbClr val="0000FF"/>
                </a:solidFill>
              </a:rPr>
              <a:t>Bôi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màu</a:t>
            </a:r>
            <a:r>
              <a:rPr lang="en-US" dirty="0">
                <a:solidFill>
                  <a:srgbClr val="0000FF"/>
                </a:solidFill>
              </a:rPr>
              <a:t> REQ</a:t>
            </a:r>
          </a:p>
          <a:p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739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610600" cy="799306"/>
          </a:xfrm>
        </p:spPr>
        <p:txBody>
          <a:bodyPr/>
          <a:lstStyle/>
          <a:p>
            <a:r>
              <a:rPr lang="vi-VN" dirty="0"/>
              <a:t>5.</a:t>
            </a:r>
            <a:r>
              <a:rPr lang="en-US" dirty="0"/>
              <a:t> Đ</a:t>
            </a:r>
            <a:r>
              <a:rPr lang="vi-VN" dirty="0"/>
              <a:t>iểm quan trọng để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vi-VN" dirty="0"/>
              <a:t>Test</a:t>
            </a:r>
            <a:r>
              <a:rPr lang="en-US" dirty="0"/>
              <a:t> </a:t>
            </a:r>
            <a:r>
              <a:rPr lang="vi-VN" dirty="0"/>
              <a:t>case</a:t>
            </a:r>
            <a:r>
              <a:rPr lang="en-US" dirty="0"/>
              <a:t>s </a:t>
            </a:r>
            <a:r>
              <a:rPr lang="en-US" dirty="0" err="1"/>
              <a:t>tốt</a:t>
            </a:r>
            <a:endParaRPr lang="en-US" dirty="0"/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943600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vi-VN" b="1" dirty="0"/>
              <a:t>File test</a:t>
            </a:r>
            <a:r>
              <a:rPr lang="en-US" b="1" dirty="0"/>
              <a:t> </a:t>
            </a:r>
            <a:r>
              <a:rPr lang="vi-VN" b="1" dirty="0"/>
              <a:t>case</a:t>
            </a:r>
            <a:r>
              <a:rPr lang="en-US" b="1" dirty="0"/>
              <a:t>s</a:t>
            </a:r>
            <a:r>
              <a:rPr lang="vi-VN" b="1" dirty="0"/>
              <a:t> cần đơn giản, minh bạch, dễ hiểu</a:t>
            </a:r>
            <a:endParaRPr lang="en-US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trong</a:t>
            </a:r>
            <a:r>
              <a:rPr lang="en-US" dirty="0"/>
              <a:t> test cases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vi-VN" dirty="0"/>
              <a:t>viết chi tiết rõ </a:t>
            </a:r>
            <a:r>
              <a:rPr lang="en-US" dirty="0" err="1"/>
              <a:t>ràng</a:t>
            </a:r>
            <a:r>
              <a:rPr lang="en-US" dirty="0"/>
              <a:t>,</a:t>
            </a:r>
            <a:r>
              <a:rPr lang="vi-VN" dirty="0"/>
              <a:t> chính xác</a:t>
            </a:r>
            <a:r>
              <a:rPr lang="en-US" dirty="0"/>
              <a:t>, </a:t>
            </a:r>
            <a:r>
              <a:rPr lang="vi-VN" dirty="0"/>
              <a:t>cụ thể</a:t>
            </a:r>
            <a:r>
              <a:rPr lang="en-US" dirty="0"/>
              <a:t>.</a:t>
            </a:r>
            <a:r>
              <a:rPr lang="vi-VN" dirty="0"/>
              <a:t> Điều kiện tiền đề, data test phải được.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vi-VN" dirty="0"/>
              <a:t>Không</a:t>
            </a:r>
            <a:r>
              <a:rPr lang="en-US" dirty="0"/>
              <a:t> nên: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Sai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,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vi-VN" dirty="0"/>
              <a:t>chung chung</a:t>
            </a:r>
            <a:endParaRPr lang="en-US" dirty="0"/>
          </a:p>
          <a:p>
            <a:pPr lvl="3">
              <a:buFont typeface="Wingdings" panose="05000000000000000000" pitchFamily="2" charset="2"/>
              <a:buChar char="ü"/>
            </a:pPr>
            <a:r>
              <a:rPr lang="en-US" dirty="0"/>
              <a:t>VD: </a:t>
            </a:r>
            <a:r>
              <a:rPr lang="vi-VN" dirty="0"/>
              <a:t>Nút tạo mới bị lỗi</a:t>
            </a:r>
            <a:r>
              <a:rPr lang="en-US" dirty="0"/>
              <a:t>=&gt;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.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vi-VN" dirty="0"/>
              <a:t> Dữ liệu được thay đổi thành công</a:t>
            </a:r>
            <a:r>
              <a:rPr lang="en-US" dirty="0"/>
              <a:t>=&gt;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V</a:t>
            </a:r>
            <a:r>
              <a:rPr lang="vi-VN" dirty="0"/>
              <a:t>iết các trường hợp kiểm thử không thể </a:t>
            </a:r>
            <a:r>
              <a:rPr lang="en-US" dirty="0" err="1"/>
              <a:t>thực</a:t>
            </a:r>
            <a:r>
              <a:rPr lang="en-US" dirty="0"/>
              <a:t> hiện được</a:t>
            </a:r>
          </a:p>
        </p:txBody>
      </p:sp>
    </p:spTree>
    <p:extLst>
      <p:ext uri="{BB962C8B-B14F-4D97-AF65-F5344CB8AC3E}">
        <p14:creationId xmlns:p14="http://schemas.microsoft.com/office/powerpoint/2010/main" val="1237975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027906"/>
            <a:ext cx="8229600" cy="5677694"/>
          </a:xfrm>
        </p:spPr>
        <p:txBody>
          <a:bodyPr>
            <a:normAutofit/>
          </a:bodyPr>
          <a:lstStyle/>
          <a:p>
            <a:pPr marL="473202" indent="-457200">
              <a:buAutoNum type="arabicPeriod" startAt="2"/>
            </a:pPr>
            <a:r>
              <a:rPr lang="vi-VN" b="1" dirty="0"/>
              <a:t>Các trường hợp test </a:t>
            </a:r>
            <a:r>
              <a:rPr lang="en-US" b="1" dirty="0"/>
              <a:t>phải đầy </a:t>
            </a:r>
            <a:r>
              <a:rPr lang="en-US" b="1" dirty="0" err="1"/>
              <a:t>đủ</a:t>
            </a:r>
            <a:r>
              <a:rPr lang="vi-VN" b="1" dirty="0"/>
              <a:t> giá trị</a:t>
            </a:r>
            <a:r>
              <a:rPr lang="en-US" b="1" dirty="0"/>
              <a:t>, </a:t>
            </a:r>
            <a:r>
              <a:rPr lang="en-US" b="1" dirty="0" err="1"/>
              <a:t>nội</a:t>
            </a:r>
            <a:r>
              <a:rPr lang="en-US" b="1" dirty="0"/>
              <a:t> dung</a:t>
            </a:r>
            <a:r>
              <a:rPr lang="vi-VN" b="1" dirty="0"/>
              <a:t> ngắn</a:t>
            </a:r>
            <a:r>
              <a:rPr lang="en-US" b="1" dirty="0"/>
              <a:t> </a:t>
            </a:r>
            <a:r>
              <a:rPr lang="en-US" b="1" dirty="0" err="1"/>
              <a:t>gọn</a:t>
            </a:r>
            <a:r>
              <a:rPr lang="en-US" b="1" dirty="0"/>
              <a:t>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vi-VN" dirty="0"/>
              <a:t>Các test</a:t>
            </a:r>
            <a:r>
              <a:rPr lang="en-US" dirty="0"/>
              <a:t> </a:t>
            </a:r>
            <a:r>
              <a:rPr lang="vi-VN" dirty="0"/>
              <a:t>case</a:t>
            </a:r>
            <a:r>
              <a:rPr lang="en-US" dirty="0"/>
              <a:t>s</a:t>
            </a:r>
            <a:r>
              <a:rPr lang="vi-VN" dirty="0"/>
              <a:t> chỉ nên có các bước cần thiết và hợp lệ.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vi-VN" dirty="0"/>
              <a:t>Không nên </a:t>
            </a:r>
            <a:endParaRPr lang="en-US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vi-VN" dirty="0"/>
              <a:t>quá nhiều </a:t>
            </a:r>
            <a:r>
              <a:rPr lang="en-US" dirty="0" err="1"/>
              <a:t>bước</a:t>
            </a:r>
            <a:r>
              <a:rPr lang="vi-VN" dirty="0"/>
              <a:t>, nội dung lan man</a:t>
            </a:r>
            <a:endParaRPr lang="en-US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G</a:t>
            </a:r>
            <a:r>
              <a:rPr lang="vi-VN" dirty="0"/>
              <a:t>ộp quá nhiều kết quả </a:t>
            </a:r>
            <a:r>
              <a:rPr lang="en-US" dirty="0" err="1">
                <a:solidFill>
                  <a:schemeClr val="bg1"/>
                </a:solidFill>
              </a:rPr>
              <a:t>mong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muốn</a:t>
            </a:r>
            <a:r>
              <a:rPr lang="vi-VN" dirty="0">
                <a:solidFill>
                  <a:schemeClr val="bg1"/>
                </a:solidFill>
              </a:rPr>
              <a:t> </a:t>
            </a:r>
            <a:r>
              <a:rPr lang="vi-VN" dirty="0"/>
              <a:t>vào 1 case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Ă</a:t>
            </a:r>
            <a:r>
              <a:rPr lang="vi-VN" dirty="0"/>
              <a:t>n cắp các bước</a:t>
            </a:r>
            <a:r>
              <a:rPr lang="en-US" dirty="0"/>
              <a:t> cần phải </a:t>
            </a:r>
            <a:r>
              <a:rPr lang="en-US" dirty="0" err="1"/>
              <a:t>thực</a:t>
            </a:r>
            <a:r>
              <a:rPr lang="en-US" dirty="0"/>
              <a:t> hiện khi </a:t>
            </a:r>
            <a:r>
              <a:rPr lang="en-US" dirty="0" err="1"/>
              <a:t>viết</a:t>
            </a:r>
            <a:endParaRPr lang="en-US" dirty="0"/>
          </a:p>
          <a:p>
            <a:pPr marL="473202" lvl="1" indent="-457200">
              <a:buSzPct val="80000"/>
              <a:buFont typeface="+mj-lt"/>
              <a:buAutoNum type="arabicPeriod" startAt="3"/>
            </a:pPr>
            <a:r>
              <a:rPr lang="en-US" sz="2100" b="1" dirty="0"/>
              <a:t>Test cases phải </a:t>
            </a:r>
            <a:r>
              <a:rPr lang="en-US" sz="2100" b="1" dirty="0" err="1"/>
              <a:t>độc</a:t>
            </a:r>
            <a:r>
              <a:rPr lang="en-US" sz="2100" b="1" dirty="0"/>
              <a:t> </a:t>
            </a:r>
            <a:r>
              <a:rPr lang="en-US" sz="2100" b="1" dirty="0" err="1"/>
              <a:t>lập</a:t>
            </a:r>
            <a:r>
              <a:rPr lang="en-US" sz="2100" b="1" dirty="0"/>
              <a:t> và </a:t>
            </a:r>
            <a:r>
              <a:rPr lang="en-US" sz="2100" b="1" dirty="0" err="1"/>
              <a:t>dễ</a:t>
            </a:r>
            <a:r>
              <a:rPr lang="en-US" sz="2100" b="1" dirty="0"/>
              <a:t> </a:t>
            </a:r>
            <a:r>
              <a:rPr lang="en-US" sz="2100" b="1" dirty="0" err="1"/>
              <a:t>dàng</a:t>
            </a:r>
            <a:r>
              <a:rPr lang="en-US" sz="2100" b="1" dirty="0"/>
              <a:t> bảo </a:t>
            </a:r>
            <a:r>
              <a:rPr lang="en-US" sz="2100" b="1" dirty="0" err="1"/>
              <a:t>trì</a:t>
            </a:r>
            <a:endParaRPr lang="en-US" sz="2100" b="1" dirty="0"/>
          </a:p>
          <a:p>
            <a:pPr marL="676656" lvl="1">
              <a:buFont typeface="Wingdings" panose="05000000000000000000" pitchFamily="2" charset="2"/>
              <a:buChar char="v"/>
            </a:pPr>
            <a:r>
              <a:rPr lang="en-US" dirty="0"/>
              <a:t>Phải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khi có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requirement</a:t>
            </a:r>
          </a:p>
          <a:p>
            <a:pPr marL="676656" lvl="1">
              <a:buFont typeface="Wingdings" panose="05000000000000000000" pitchFamily="2" charset="2"/>
              <a:buChar char="v"/>
            </a:pPr>
            <a:r>
              <a:rPr lang="en-US" dirty="0"/>
              <a:t>Test cases phải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lập</a:t>
            </a:r>
            <a:endParaRPr lang="en-US" dirty="0"/>
          </a:p>
          <a:p>
            <a:pPr marL="676656" lvl="1">
              <a:buFont typeface="Wingdings" panose="05000000000000000000" pitchFamily="2" charset="2"/>
              <a:buChar char="v"/>
            </a:pPr>
            <a:r>
              <a:rPr lang="en-US" dirty="0" err="1"/>
              <a:t>Không</a:t>
            </a:r>
            <a:r>
              <a:rPr lang="en-US" dirty="0"/>
              <a:t> nên</a:t>
            </a:r>
          </a:p>
          <a:p>
            <a:pPr marL="1225296" lvl="3" indent="-285750">
              <a:buFont typeface="Wingdings" panose="05000000000000000000" pitchFamily="2" charset="2"/>
              <a:buChar char="ü"/>
            </a:pP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các test cases khác</a:t>
            </a:r>
          </a:p>
          <a:p>
            <a:pPr marL="1225296" lvl="3" indent="-285750">
              <a:buFont typeface="Wingdings" panose="05000000000000000000" pitchFamily="2" charset="2"/>
              <a:buChar char="ü"/>
            </a:pPr>
            <a:r>
              <a:rPr lang="en-US" dirty="0" err="1"/>
              <a:t>Trùng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case test</a:t>
            </a:r>
          </a:p>
          <a:p>
            <a:pPr lvl="2">
              <a:buFont typeface="Wingdings" panose="05000000000000000000" pitchFamily="2" charset="2"/>
              <a:buChar char="§"/>
            </a:pPr>
            <a:endParaRPr lang="vi-VN" dirty="0"/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28600"/>
            <a:ext cx="8610600" cy="799306"/>
          </a:xfrm>
        </p:spPr>
        <p:txBody>
          <a:bodyPr/>
          <a:lstStyle/>
          <a:p>
            <a:r>
              <a:rPr lang="vi-VN" dirty="0"/>
              <a:t>5.</a:t>
            </a:r>
            <a:r>
              <a:rPr lang="en-US" dirty="0"/>
              <a:t> Đ</a:t>
            </a:r>
            <a:r>
              <a:rPr lang="vi-VN" dirty="0"/>
              <a:t>iểm quan trọng để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vi-VN" dirty="0"/>
              <a:t>Test</a:t>
            </a:r>
            <a:r>
              <a:rPr lang="en-US" dirty="0"/>
              <a:t> </a:t>
            </a:r>
            <a:r>
              <a:rPr lang="vi-VN" dirty="0"/>
              <a:t>case</a:t>
            </a:r>
            <a:r>
              <a:rPr lang="en-US" dirty="0"/>
              <a:t>s </a:t>
            </a:r>
            <a:r>
              <a:rPr lang="en-US" dirty="0" err="1"/>
              <a:t>tốt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632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8429"/>
            <a:ext cx="8610600" cy="799306"/>
          </a:xfrm>
        </p:spPr>
        <p:txBody>
          <a:bodyPr/>
          <a:lstStyle/>
          <a:p>
            <a:r>
              <a:rPr lang="vi-VN" dirty="0"/>
              <a:t>5.</a:t>
            </a:r>
            <a:r>
              <a:rPr lang="en-US" dirty="0"/>
              <a:t> Đ</a:t>
            </a:r>
            <a:r>
              <a:rPr lang="vi-VN" dirty="0"/>
              <a:t>iểm quan trọng để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vi-VN" dirty="0"/>
              <a:t>Test</a:t>
            </a:r>
            <a:r>
              <a:rPr lang="en-US" dirty="0"/>
              <a:t> </a:t>
            </a:r>
            <a:r>
              <a:rPr lang="vi-VN" dirty="0"/>
              <a:t>case</a:t>
            </a:r>
            <a:r>
              <a:rPr lang="en-US" dirty="0"/>
              <a:t>s </a:t>
            </a:r>
            <a:r>
              <a:rPr lang="en-US" dirty="0" err="1"/>
              <a:t>tốt</a:t>
            </a:r>
            <a:endParaRPr lang="en-US" dirty="0"/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5486400"/>
          </a:xfrm>
        </p:spPr>
        <p:txBody>
          <a:bodyPr>
            <a:normAutofit/>
          </a:bodyPr>
          <a:lstStyle/>
          <a:p>
            <a:pPr marL="473202" lvl="1" indent="-457200">
              <a:buSzPct val="80000"/>
              <a:buFont typeface="+mj-lt"/>
              <a:buAutoNum type="arabicPeriod" startAt="4"/>
            </a:pPr>
            <a:r>
              <a:rPr lang="en-US" sz="2100" b="1" dirty="0" err="1"/>
              <a:t>Thiết</a:t>
            </a:r>
            <a:r>
              <a:rPr lang="en-US" sz="2100" b="1" dirty="0"/>
              <a:t> </a:t>
            </a:r>
            <a:r>
              <a:rPr lang="en-US" sz="2100" b="1" dirty="0" err="1"/>
              <a:t>kế</a:t>
            </a:r>
            <a:r>
              <a:rPr lang="en-US" sz="2100" b="1" dirty="0"/>
              <a:t> test cases</a:t>
            </a:r>
          </a:p>
          <a:p>
            <a:pPr marL="733806" lvl="1" indent="-342900">
              <a:buFont typeface="Wingdings" panose="05000000000000000000" pitchFamily="2" charset="2"/>
              <a:buChar char="v"/>
            </a:pP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  <a:p>
            <a:pPr marL="1140714" lvl="2" indent="-285750">
              <a:buFont typeface="Wingdings" panose="05000000000000000000" pitchFamily="2" charset="2"/>
              <a:buChar char="§"/>
            </a:pP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vi-VN" dirty="0"/>
              <a:t> các trường hợp kiểm thử</a:t>
            </a:r>
            <a:r>
              <a:rPr lang="en-US" dirty="0"/>
              <a:t>: </a:t>
            </a:r>
            <a:r>
              <a:rPr lang="en-US" dirty="0" err="1">
                <a:solidFill>
                  <a:schemeClr val="bg1"/>
                </a:solidFill>
              </a:rPr>
              <a:t>thông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thường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biên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bất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thường</a:t>
            </a:r>
            <a:r>
              <a:rPr lang="en-US" dirty="0">
                <a:solidFill>
                  <a:schemeClr val="bg1"/>
                </a:solidFill>
              </a:rPr>
              <a:t> và </a:t>
            </a:r>
            <a:r>
              <a:rPr lang="en-US" dirty="0" err="1">
                <a:solidFill>
                  <a:schemeClr val="bg1"/>
                </a:solidFill>
              </a:rPr>
              <a:t>ngoại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lệ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vi-VN" dirty="0"/>
              <a:t>các trường hợp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phi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như</a:t>
            </a:r>
            <a:r>
              <a:rPr lang="vi-VN" dirty="0"/>
              <a:t> </a:t>
            </a:r>
            <a:r>
              <a:rPr lang="en-US" dirty="0"/>
              <a:t>Performance testing,</a:t>
            </a:r>
            <a:r>
              <a:rPr lang="vi-VN" dirty="0"/>
              <a:t> k</a:t>
            </a:r>
            <a:r>
              <a:rPr lang="en-US" dirty="0" err="1"/>
              <a:t>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chịu </a:t>
            </a:r>
            <a:r>
              <a:rPr lang="en-US" dirty="0" err="1"/>
              <a:t>tải</a:t>
            </a:r>
            <a:r>
              <a:rPr lang="en-US" dirty="0"/>
              <a:t>,</a:t>
            </a:r>
            <a:r>
              <a:rPr lang="vi-VN" dirty="0"/>
              <a:t> t</a:t>
            </a:r>
            <a:r>
              <a:rPr lang="en-US" dirty="0" err="1"/>
              <a:t>ính</a:t>
            </a:r>
            <a:r>
              <a:rPr lang="en-US" dirty="0"/>
              <a:t> bảo </a:t>
            </a:r>
            <a:r>
              <a:rPr lang="en-US" dirty="0" err="1"/>
              <a:t>mật</a:t>
            </a:r>
            <a:r>
              <a:rPr lang="en-US" dirty="0"/>
              <a:t>, </a:t>
            </a:r>
            <a:r>
              <a:rPr lang="vi-VN" dirty="0"/>
              <a:t>t</a:t>
            </a:r>
            <a:r>
              <a:rPr lang="en-US" dirty="0" err="1"/>
              <a:t>ính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vi-VN" dirty="0"/>
              <a:t>.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 err="1"/>
              <a:t>Không</a:t>
            </a:r>
            <a:r>
              <a:rPr lang="en-US" dirty="0"/>
              <a:t> nên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/>
              <a:t>Chỉ </a:t>
            </a:r>
            <a:r>
              <a:rPr lang="en-US" dirty="0" err="1"/>
              <a:t>viết</a:t>
            </a:r>
            <a:r>
              <a:rPr lang="en-US" dirty="0"/>
              <a:t> các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đúng (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)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case test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phán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341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38429"/>
            <a:ext cx="8610600" cy="799306"/>
          </a:xfrm>
        </p:spPr>
        <p:txBody>
          <a:bodyPr/>
          <a:lstStyle/>
          <a:p>
            <a:r>
              <a:rPr lang="en-US" dirty="0">
                <a:solidFill>
                  <a:srgbClr val="FF9933"/>
                </a:solidFill>
              </a:rPr>
              <a:t>6</a:t>
            </a:r>
            <a:r>
              <a:rPr lang="vi-VN" dirty="0">
                <a:solidFill>
                  <a:srgbClr val="FF9933"/>
                </a:solidFill>
              </a:rPr>
              <a:t>.</a:t>
            </a:r>
            <a:r>
              <a:rPr lang="en-US" dirty="0">
                <a:solidFill>
                  <a:srgbClr val="FF9933"/>
                </a:solidFill>
              </a:rPr>
              <a:t> </a:t>
            </a:r>
            <a:r>
              <a:rPr lang="en-US" dirty="0" err="1">
                <a:solidFill>
                  <a:srgbClr val="FF9933"/>
                </a:solidFill>
              </a:rPr>
              <a:t>Ví</a:t>
            </a:r>
            <a:r>
              <a:rPr lang="en-US" dirty="0">
                <a:solidFill>
                  <a:srgbClr val="FF9933"/>
                </a:solidFill>
              </a:rPr>
              <a:t> </a:t>
            </a:r>
            <a:r>
              <a:rPr lang="en-US" dirty="0" err="1">
                <a:solidFill>
                  <a:srgbClr val="FF9933"/>
                </a:solidFill>
              </a:rPr>
              <a:t>dụ</a:t>
            </a:r>
            <a:endParaRPr lang="en-US" dirty="0">
              <a:solidFill>
                <a:srgbClr val="FF9933"/>
              </a:solidFill>
            </a:endParaRP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5486400"/>
          </a:xfrm>
        </p:spPr>
        <p:txBody>
          <a:bodyPr>
            <a:normAutofit/>
          </a:bodyPr>
          <a:lstStyle/>
          <a:p>
            <a:pPr marL="16002" lvl="1" indent="0">
              <a:buSzPct val="80000"/>
              <a:buNone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863" y="1237735"/>
            <a:ext cx="8305800" cy="377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428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86400"/>
          </a:xfrm>
        </p:spPr>
        <p:txBody>
          <a:bodyPr>
            <a:normAutofit/>
          </a:bodyPr>
          <a:lstStyle/>
          <a:p>
            <a:pPr marL="64008" indent="0" algn="ctr">
              <a:buNone/>
            </a:pPr>
            <a:endParaRPr lang="en-US" sz="2800" b="1" i="1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  <a:p>
            <a:pPr marL="64008" indent="0" algn="ctr">
              <a:buNone/>
            </a:pPr>
            <a:r>
              <a:rPr lang="en-US" sz="3600" b="1" i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XIN CẢM ƠN VÌ ĐÃ LẮNG NGHE !</a:t>
            </a:r>
          </a:p>
          <a:p>
            <a:pPr marL="64008" indent="0" algn="ctr">
              <a:buNone/>
            </a:pPr>
            <a:endParaRPr lang="en-US" sz="2800" b="1" i="1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  <a:p>
            <a:pPr marL="64008" indent="0" algn="ctr">
              <a:buNone/>
            </a:pPr>
            <a:r>
              <a:rPr lang="en-US" sz="13800" b="1" dirty="0"/>
              <a:t>Q&amp;A?</a:t>
            </a:r>
          </a:p>
        </p:txBody>
      </p:sp>
    </p:spTree>
    <p:extLst>
      <p:ext uri="{BB962C8B-B14F-4D97-AF65-F5344CB8AC3E}">
        <p14:creationId xmlns:p14="http://schemas.microsoft.com/office/powerpoint/2010/main" val="19281291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Custom 48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C94C25"/>
      </a:accent1>
      <a:accent2>
        <a:srgbClr val="EA8640"/>
      </a:accent2>
      <a:accent3>
        <a:srgbClr val="99D9E7"/>
      </a:accent3>
      <a:accent4>
        <a:srgbClr val="FAB17B"/>
      </a:accent4>
      <a:accent5>
        <a:srgbClr val="21B8B3"/>
      </a:accent5>
      <a:accent6>
        <a:srgbClr val="F3786E"/>
      </a:accent6>
      <a:hlink>
        <a:srgbClr val="646567"/>
      </a:hlink>
      <a:folHlink>
        <a:srgbClr val="646567"/>
      </a:folHlink>
    </a:clrScheme>
    <a:fontScheme name="Custom 27">
      <a:majorFont>
        <a:latin typeface="Segoe UI"/>
        <a:ea typeface=""/>
        <a:cs typeface=""/>
      </a:majorFont>
      <a:minorFont>
        <a:latin typeface="Arial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110000" t="250000" r="110000" b="40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110000" t="250000" r="110000" b="40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0000"/>
                <a:satMod val="130000"/>
              </a:schemeClr>
              <a:schemeClr val="phClr">
                <a:tint val="70000"/>
                <a:satMod val="130000"/>
              </a:schemeClr>
            </a:duotone>
          </a:blip>
          <a:tile tx="0" ty="0" sx="90000" sy="90000" flip="none" algn="t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0167107 - Reporting progress or status presentation - NEW.potx" id="{24ADC811-FCB2-4A9B-852A-BB14EA0B4C87}" vid="{F865C24B-81F8-4D59-BA13-A775229E76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tf10167107</Template>
  <TotalTime>15200</TotalTime>
  <Words>1112</Words>
  <Application>Microsoft Office PowerPoint</Application>
  <PresentationFormat>On-screen Show (4:3)</PresentationFormat>
  <Paragraphs>107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 (Body)</vt:lpstr>
      <vt:lpstr>Arial</vt:lpstr>
      <vt:lpstr>Baskerville Old Face</vt:lpstr>
      <vt:lpstr>Calibri</vt:lpstr>
      <vt:lpstr>Segoe UI</vt:lpstr>
      <vt:lpstr>Symbol</vt:lpstr>
      <vt:lpstr>Tahoma</vt:lpstr>
      <vt:lpstr>Wingdings</vt:lpstr>
      <vt:lpstr>Wingdings 2</vt:lpstr>
      <vt:lpstr>Verve</vt:lpstr>
      <vt:lpstr>CÁCH VIẾT TESTCASE</vt:lpstr>
      <vt:lpstr>NỘI DUNG</vt:lpstr>
      <vt:lpstr>1. KHÁI NIỆM TEST CASES(TCs) </vt:lpstr>
      <vt:lpstr>2.CẤU TRÚC TEST CASES</vt:lpstr>
      <vt:lpstr>2.CẤU TRÚC TEST CASES</vt:lpstr>
      <vt:lpstr>2.CẤU TRÚC TEST CASES</vt:lpstr>
      <vt:lpstr>3.TEST CASES LUVINA</vt:lpstr>
      <vt:lpstr>4. Các bước viết Test cases</vt:lpstr>
      <vt:lpstr>4. Các bước viết Test cases</vt:lpstr>
      <vt:lpstr>5. Điểm quan trọng để tạo Test cases tốt</vt:lpstr>
      <vt:lpstr>5. Điểm quan trọng để tạo Test cases tốt</vt:lpstr>
      <vt:lpstr>5. Điểm quan trọng để tạo Test cases tốt</vt:lpstr>
      <vt:lpstr>6. Ví dụ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Reporting Progress or Status</dc:title>
  <dc:creator>Duong Thi Hong Diep</dc:creator>
  <cp:lastModifiedBy>Pham Thi Thanh Nga</cp:lastModifiedBy>
  <cp:revision>523</cp:revision>
  <dcterms:created xsi:type="dcterms:W3CDTF">2018-01-16T08:57:41Z</dcterms:created>
  <dcterms:modified xsi:type="dcterms:W3CDTF">2023-04-04T04:38:36Z</dcterms:modified>
</cp:coreProperties>
</file>